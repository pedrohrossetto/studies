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y="6858000" cx="9144000"/>
  <p:notesSz cx="6858000" cy="9144000"/>
  <p:embeddedFontLst>
    <p:embeddedFont>
      <p:font typeface="Arial Black"/>
      <p:regular r:id="rId47"/>
    </p:embeddedFont>
    <p:embeddedFont>
      <p:font typeface="Century Gothic"/>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B7D425E-74AF-4961-A90C-7C9944B1FF69}">
  <a:tblStyle styleId="{6B7D425E-74AF-4961-A90C-7C9944B1FF69}"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CenturyGothic-regular.fntdata"/><Relationship Id="rId47" Type="http://schemas.openxmlformats.org/officeDocument/2006/relationships/font" Target="fonts/ArialBlack-regular.fntdata"/><Relationship Id="rId49" Type="http://schemas.openxmlformats.org/officeDocument/2006/relationships/font" Target="fonts/CenturyGothic-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CenturyGothic-boldItalic.fntdata"/><Relationship Id="rId50" Type="http://schemas.openxmlformats.org/officeDocument/2006/relationships/font" Target="fonts/CenturyGothic-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pt-B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90" name="Google Shape;90;p1: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91" name="Google Shape;91;p1: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99" name="Google Shape;99;p2: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00" name="Google Shape;100;p2: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07" name="Google Shape;107;p3: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08" name="Google Shape;108;p3: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15" name="Google Shape;115;p4: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16" name="Google Shape;116;p4: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23" name="Google Shape;123;p5: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24" name="Google Shape;124;p5: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31" name="Google Shape;131;p6: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32" name="Google Shape;132;p6: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39" name="Google Shape;139;p7: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40" name="Google Shape;140;p7: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47" name="Google Shape;147;p8: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48" name="Google Shape;148;p8: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55" name="Google Shape;155;p9: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56" name="Google Shape;156;p9: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79" name="Google Shape;179;p10: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80" name="Google Shape;180;p10: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19" name="Google Shape;219;p11: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20" name="Google Shape;220;p11: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27" name="Google Shape;227;p12: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28" name="Google Shape;228;p12: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36" name="Google Shape;236;p13: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37" name="Google Shape;237;p13: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44" name="Google Shape;244;p14: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45" name="Google Shape;245;p14: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66" name="Google Shape;266;p15: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67" name="Google Shape;267;p15: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74" name="Google Shape;274;p16: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75" name="Google Shape;275;p16: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82" name="Google Shape;282;p17: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83" name="Google Shape;283;p17: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90" name="Google Shape;290;p18: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91" name="Google Shape;291;p18: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98" name="Google Shape;298;p19: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99" name="Google Shape;299;p19: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306" name="Google Shape;306;p20: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07" name="Google Shape;307;p20: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314" name="Google Shape;314;p21: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15" name="Google Shape;315;p21: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322" name="Google Shape;322;p22: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23" name="Google Shape;323;p22: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330" name="Google Shape;330;p23: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31" name="Google Shape;331;p23: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340" name="Google Shape;340;p24: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41" name="Google Shape;341;p24: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348" name="Google Shape;348;p25: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49" name="Google Shape;349;p25: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356" name="Google Shape;356;p26: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57" name="Google Shape;357;p26: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365" name="Google Shape;365;p27: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66" name="Google Shape;366;p27: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387" name="Google Shape;387;p28: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88" name="Google Shape;388;p28: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395" name="Google Shape;395;p29: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96" name="Google Shape;396;p29: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404" name="Google Shape;404;p30: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05" name="Google Shape;405;p30: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412" name="Google Shape;412;p31: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13" name="Google Shape;413;p31: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420" name="Google Shape;420;p32: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21" name="Google Shape;421;p32: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428" name="Google Shape;428;p33: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29" name="Google Shape;429;p33: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437" name="Google Shape;437;p34: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38" name="Google Shape;438;p34: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446" name="Google Shape;446;p35: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47" name="Google Shape;447;p35: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454" name="Google Shape;454;p36: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55" name="Google Shape;455;p36: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462" name="Google Shape;462;p37: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63" name="Google Shape;463;p37: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470" name="Google Shape;470;p38: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71" name="Google Shape;471;p38: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478" name="Google Shape;478;p39: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79" name="Google Shape;479;p39: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Times New Roman"/>
              <a:buNone/>
            </a:pPr>
            <a:fld id="{00000000-1234-1234-1234-123412341234}" type="slidenum">
              <a:rPr lang="pt-BR">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488" name="Google Shape;488;p40:notes"/>
          <p:cNvSpPr/>
          <p:nvPr>
            <p:ph idx="2" type="sldImg"/>
          </p:nvPr>
        </p:nvSpPr>
        <p:spPr>
          <a:xfrm>
            <a:off x="1144588" y="695325"/>
            <a:ext cx="4568825" cy="3427413"/>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89" name="Google Shape;489;p40:notes"/>
          <p:cNvSpPr txBox="1"/>
          <p:nvPr>
            <p:ph idx="1" type="body"/>
          </p:nvPr>
        </p:nvSpPr>
        <p:spPr>
          <a:xfrm>
            <a:off x="685800" y="4343400"/>
            <a:ext cx="54864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p:cSld name="Em branco">
    <p:spTree>
      <p:nvGrpSpPr>
        <p:cNvPr id="15" name="Shape 15"/>
        <p:cNvGrpSpPr/>
        <p:nvPr/>
      </p:nvGrpSpPr>
      <p:grpSpPr>
        <a:xfrm>
          <a:off x="0" y="0"/>
          <a:ext cx="0" cy="0"/>
          <a:chOff x="0" y="0"/>
          <a:chExt cx="0" cy="0"/>
        </a:xfrm>
      </p:grpSpPr>
      <p:pic>
        <p:nvPicPr>
          <p:cNvPr id="16" name="Google Shape;16;p2"/>
          <p:cNvPicPr preferRelativeResize="0"/>
          <p:nvPr/>
        </p:nvPicPr>
        <p:blipFill rotWithShape="1">
          <a:blip r:embed="rId2">
            <a:alphaModFix/>
          </a:blip>
          <a:srcRect b="0" l="0" r="0" t="0"/>
          <a:stretch/>
        </p:blipFill>
        <p:spPr>
          <a:xfrm>
            <a:off x="4763" y="0"/>
            <a:ext cx="812800" cy="3873500"/>
          </a:xfrm>
          <a:prstGeom prst="rect">
            <a:avLst/>
          </a:prstGeom>
          <a:noFill/>
          <a:ln>
            <a:noFill/>
          </a:ln>
        </p:spPr>
      </p:pic>
      <p:pic>
        <p:nvPicPr>
          <p:cNvPr id="17" name="Google Shape;17;p2"/>
          <p:cNvPicPr preferRelativeResize="0"/>
          <p:nvPr/>
        </p:nvPicPr>
        <p:blipFill rotWithShape="1">
          <a:blip r:embed="rId2">
            <a:alphaModFix/>
          </a:blip>
          <a:srcRect b="0" l="0" r="0" t="0"/>
          <a:stretch/>
        </p:blipFill>
        <p:spPr>
          <a:xfrm>
            <a:off x="4763" y="2921000"/>
            <a:ext cx="812800" cy="3873500"/>
          </a:xfrm>
          <a:prstGeom prst="rect">
            <a:avLst/>
          </a:prstGeom>
          <a:noFill/>
          <a:ln>
            <a:noFill/>
          </a:ln>
        </p:spPr>
      </p:pic>
      <p:pic>
        <p:nvPicPr>
          <p:cNvPr descr="logoIfet.png" id="18" name="Google Shape;18;p2"/>
          <p:cNvPicPr preferRelativeResize="0"/>
          <p:nvPr/>
        </p:nvPicPr>
        <p:blipFill rotWithShape="1">
          <a:blip r:embed="rId3">
            <a:alphaModFix/>
          </a:blip>
          <a:srcRect b="0" l="0" r="0" t="0"/>
          <a:stretch/>
        </p:blipFill>
        <p:spPr>
          <a:xfrm>
            <a:off x="814388" y="61913"/>
            <a:ext cx="2265362" cy="985837"/>
          </a:xfrm>
          <a:prstGeom prst="rect">
            <a:avLst/>
          </a:prstGeom>
          <a:noFill/>
          <a:ln>
            <a:noFill/>
          </a:ln>
        </p:spPr>
      </p:pic>
      <p:sp>
        <p:nvSpPr>
          <p:cNvPr id="19" name="Google Shape;19;p2"/>
          <p:cNvSpPr/>
          <p:nvPr/>
        </p:nvSpPr>
        <p:spPr>
          <a:xfrm>
            <a:off x="-20283" y="6532562"/>
            <a:ext cx="9139237" cy="325437"/>
          </a:xfrm>
          <a:prstGeom prst="roundRect">
            <a:avLst>
              <a:gd fmla="val 440" name="adj"/>
            </a:avLst>
          </a:prstGeom>
          <a:solidFill>
            <a:srgbClr val="1F9122"/>
          </a:solidFill>
          <a:ln>
            <a:noFill/>
          </a:ln>
        </p:spPr>
        <p:txBody>
          <a:bodyPr anchorCtr="0" anchor="ctr" bIns="41300" lIns="82600" spcFirstLastPara="1" rIns="82600" wrap="square" tIns="41300">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chemeClr val="dk2"/>
                </a:solidFill>
                <a:latin typeface="Calibri"/>
                <a:ea typeface="Calibri"/>
                <a:cs typeface="Calibri"/>
                <a:sym typeface="Calibri"/>
              </a:rPr>
              <a:t>Prof. Adilso Nunes de Souza e Carmem Vera Scorsatto</a:t>
            </a:r>
            <a:endParaRPr b="0" i="0" sz="1400" u="none" cap="none" strike="noStrike">
              <a:solidFill>
                <a:srgbClr val="000000"/>
              </a:solidFill>
              <a:latin typeface="Arial"/>
              <a:ea typeface="Arial"/>
              <a:cs typeface="Arial"/>
              <a:sym typeface="Arial"/>
            </a:endParaRPr>
          </a:p>
        </p:txBody>
      </p:sp>
      <p:sp>
        <p:nvSpPr>
          <p:cNvPr id="20" name="Google Shape;20;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
          <p:cNvSpPr txBox="1"/>
          <p:nvPr>
            <p:ph idx="12" type="sldNum"/>
          </p:nvPr>
        </p:nvSpPr>
        <p:spPr>
          <a:xfrm>
            <a:off x="6732240" y="6196383"/>
            <a:ext cx="2195264" cy="3254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r>
              <a:t/>
            </a:r>
            <a:endParaRPr/>
          </a:p>
        </p:txBody>
      </p:sp>
      <p:sp>
        <p:nvSpPr>
          <p:cNvPr id="22" name="Google Shape;22;p2"/>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1">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23" name="Shape 23"/>
        <p:cNvGrpSpPr/>
        <p:nvPr/>
      </p:nvGrpSpPr>
      <p:grpSpPr>
        <a:xfrm>
          <a:off x="0" y="0"/>
          <a:ext cx="0" cy="0"/>
          <a:chOff x="0" y="0"/>
          <a:chExt cx="0" cy="0"/>
        </a:xfrm>
      </p:grpSpPr>
      <p:sp>
        <p:nvSpPr>
          <p:cNvPr id="24" name="Google Shape;24;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6" name="Google Shape;26;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29" name="Shape 29"/>
        <p:cNvGrpSpPr/>
        <p:nvPr/>
      </p:nvGrpSpPr>
      <p:grpSpPr>
        <a:xfrm>
          <a:off x="0" y="0"/>
          <a:ext cx="0" cy="0"/>
          <a:chOff x="0" y="0"/>
          <a:chExt cx="0" cy="0"/>
        </a:xfrm>
      </p:grpSpPr>
      <p:sp>
        <p:nvSpPr>
          <p:cNvPr id="30" name="Google Shape;30;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2" name="Google Shape;32;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35" name="Shape 35"/>
        <p:cNvGrpSpPr/>
        <p:nvPr/>
      </p:nvGrpSpPr>
      <p:grpSpPr>
        <a:xfrm>
          <a:off x="0" y="0"/>
          <a:ext cx="0" cy="0"/>
          <a:chOff x="0" y="0"/>
          <a:chExt cx="0" cy="0"/>
        </a:xfrm>
      </p:grpSpPr>
      <p:sp>
        <p:nvSpPr>
          <p:cNvPr id="36" name="Google Shape;36;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8" name="Google Shape;38;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41" name="Shape 41"/>
        <p:cNvGrpSpPr/>
        <p:nvPr/>
      </p:nvGrpSpPr>
      <p:grpSpPr>
        <a:xfrm>
          <a:off x="0" y="0"/>
          <a:ext cx="0" cy="0"/>
          <a:chOff x="0" y="0"/>
          <a:chExt cx="0" cy="0"/>
        </a:xfrm>
      </p:grpSpPr>
      <p:sp>
        <p:nvSpPr>
          <p:cNvPr id="42" name="Google Shape;42;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4" name="Google Shape;44;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5" name="Google Shape;45;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48" name="Shape 48"/>
        <p:cNvGrpSpPr/>
        <p:nvPr/>
      </p:nvGrpSpPr>
      <p:grpSpPr>
        <a:xfrm>
          <a:off x="0" y="0"/>
          <a:ext cx="0" cy="0"/>
          <a:chOff x="0" y="0"/>
          <a:chExt cx="0" cy="0"/>
        </a:xfrm>
      </p:grpSpPr>
      <p:sp>
        <p:nvSpPr>
          <p:cNvPr id="49" name="Google Shape;49;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1" name="Google Shape;51;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2" name="Google Shape;52;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3" name="Google Shape;53;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4" name="Google Shape;54;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57" name="Shape 57"/>
        <p:cNvGrpSpPr/>
        <p:nvPr/>
      </p:nvGrpSpPr>
      <p:grpSpPr>
        <a:xfrm>
          <a:off x="0" y="0"/>
          <a:ext cx="0" cy="0"/>
          <a:chOff x="0" y="0"/>
          <a:chExt cx="0" cy="0"/>
        </a:xfrm>
      </p:grpSpPr>
      <p:sp>
        <p:nvSpPr>
          <p:cNvPr id="58" name="Google Shape;58;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62" name="Shape 62"/>
        <p:cNvGrpSpPr/>
        <p:nvPr/>
      </p:nvGrpSpPr>
      <p:grpSpPr>
        <a:xfrm>
          <a:off x="0" y="0"/>
          <a:ext cx="0" cy="0"/>
          <a:chOff x="0" y="0"/>
          <a:chExt cx="0" cy="0"/>
        </a:xfrm>
      </p:grpSpPr>
      <p:sp>
        <p:nvSpPr>
          <p:cNvPr id="63" name="Google Shape;63;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5" name="Google Shape;65;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6" name="Google Shape;66;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69" name="Shape 69"/>
        <p:cNvGrpSpPr/>
        <p:nvPr/>
      </p:nvGrpSpPr>
      <p:grpSpPr>
        <a:xfrm>
          <a:off x="0" y="0"/>
          <a:ext cx="0" cy="0"/>
          <a:chOff x="0" y="0"/>
          <a:chExt cx="0" cy="0"/>
        </a:xfrm>
      </p:grpSpPr>
      <p:sp>
        <p:nvSpPr>
          <p:cNvPr id="70" name="Google Shape;70;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p:nvPr>
            <p:ph idx="2" type="pic"/>
          </p:nvPr>
        </p:nvSpPr>
        <p:spPr>
          <a:xfrm>
            <a:off x="1792288" y="612775"/>
            <a:ext cx="5486400" cy="4114800"/>
          </a:xfrm>
          <a:prstGeom prst="rect">
            <a:avLst/>
          </a:prstGeom>
          <a:noFill/>
          <a:ln>
            <a:noFill/>
          </a:ln>
        </p:spPr>
      </p:sp>
      <p:sp>
        <p:nvSpPr>
          <p:cNvPr id="72" name="Google Shape;72;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3" name="Google Shape;73;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76" name="Shape 76"/>
        <p:cNvGrpSpPr/>
        <p:nvPr/>
      </p:nvGrpSpPr>
      <p:grpSpPr>
        <a:xfrm>
          <a:off x="0" y="0"/>
          <a:ext cx="0" cy="0"/>
          <a:chOff x="0" y="0"/>
          <a:chExt cx="0" cy="0"/>
        </a:xfrm>
      </p:grpSpPr>
      <p:sp>
        <p:nvSpPr>
          <p:cNvPr id="77" name="Google Shape;77;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9" name="Google Shape;79;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is" type="vertTitleAndTx">
  <p:cSld name="VERTICAL_TITLE_AND_VERTICAL_TEXT">
    <p:spTree>
      <p:nvGrpSpPr>
        <p:cNvPr id="82" name="Shape 82"/>
        <p:cNvGrpSpPr/>
        <p:nvPr/>
      </p:nvGrpSpPr>
      <p:grpSpPr>
        <a:xfrm>
          <a:off x="0" y="0"/>
          <a:ext cx="0" cy="0"/>
          <a:chOff x="0" y="0"/>
          <a:chExt cx="0" cy="0"/>
        </a:xfrm>
      </p:grpSpPr>
      <p:sp>
        <p:nvSpPr>
          <p:cNvPr id="83" name="Google Shape;83;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5" name="Google Shape;85;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21.png"/><Relationship Id="rId6" Type="http://schemas.openxmlformats.org/officeDocument/2006/relationships/image" Target="../media/image8.png"/></Relationships>
</file>

<file path=ppt/slides/_rels/slide10.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6.png"/><Relationship Id="rId13" Type="http://schemas.openxmlformats.org/officeDocument/2006/relationships/image" Target="../media/image28.png"/><Relationship Id="rId12" Type="http://schemas.openxmlformats.org/officeDocument/2006/relationships/image" Target="../media/image29.png"/><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3.png"/><Relationship Id="rId15" Type="http://schemas.openxmlformats.org/officeDocument/2006/relationships/image" Target="../media/image20.png"/><Relationship Id="rId14" Type="http://schemas.openxmlformats.org/officeDocument/2006/relationships/image" Target="../media/image23.png"/><Relationship Id="rId5" Type="http://schemas.openxmlformats.org/officeDocument/2006/relationships/image" Target="../media/image14.png"/><Relationship Id="rId6" Type="http://schemas.openxmlformats.org/officeDocument/2006/relationships/image" Target="../media/image18.png"/><Relationship Id="rId7" Type="http://schemas.openxmlformats.org/officeDocument/2006/relationships/image" Target="../media/image15.png"/><Relationship Id="rId8"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5.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3"/>
          <p:cNvSpPr txBox="1"/>
          <p:nvPr/>
        </p:nvSpPr>
        <p:spPr>
          <a:xfrm>
            <a:off x="1354948" y="1241425"/>
            <a:ext cx="7128792" cy="4491831"/>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0" lvl="0" marL="0" marR="0" rtl="0" algn="ctr">
              <a:lnSpc>
                <a:spcPct val="100000"/>
              </a:lnSpc>
              <a:spcBef>
                <a:spcPts val="0"/>
              </a:spcBef>
              <a:spcAft>
                <a:spcPts val="0"/>
              </a:spcAft>
              <a:buClr>
                <a:schemeClr val="dk1"/>
              </a:buClr>
              <a:buSzPts val="4400"/>
              <a:buFont typeface="Arial"/>
              <a:buNone/>
            </a:pPr>
            <a:r>
              <a:t/>
            </a:r>
            <a:endParaRPr b="1" i="0" sz="44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4400"/>
              <a:buFont typeface="Arial"/>
              <a:buNone/>
            </a:pPr>
            <a:r>
              <a:t/>
            </a:r>
            <a:endParaRPr b="1" i="0" sz="44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6000"/>
              <a:buFont typeface="Arial"/>
              <a:buNone/>
            </a:pPr>
            <a:r>
              <a:rPr b="1" i="0" lang="pt-BR" sz="6000" u="none" cap="none" strike="noStrike">
                <a:solidFill>
                  <a:schemeClr val="dk1"/>
                </a:solidFill>
                <a:latin typeface="Calibri"/>
                <a:ea typeface="Calibri"/>
                <a:cs typeface="Calibri"/>
                <a:sym typeface="Calibri"/>
              </a:rPr>
              <a:t>ALGORITMOS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600"/>
              <a:buFont typeface="Arial"/>
              <a:buNone/>
            </a:pPr>
            <a:r>
              <a:rPr b="1" i="0" lang="pt-BR" sz="3600" u="none" cap="none" strike="noStrike">
                <a:solidFill>
                  <a:schemeClr val="dk1"/>
                </a:solidFill>
                <a:latin typeface="Calibri"/>
                <a:ea typeface="Calibri"/>
                <a:cs typeface="Calibri"/>
                <a:sym typeface="Calibri"/>
              </a:rPr>
              <a:t>Professores: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1" i="0" lang="pt-BR" sz="3600" u="none" cap="none" strike="noStrike">
                <a:solidFill>
                  <a:schemeClr val="dk1"/>
                </a:solidFill>
                <a:latin typeface="Calibri"/>
                <a:ea typeface="Calibri"/>
                <a:cs typeface="Calibri"/>
                <a:sym typeface="Calibri"/>
              </a:rPr>
              <a:t>	Adilso Nunes de Souza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1" i="0" lang="pt-BR" sz="3600" u="none" cap="none" strike="noStrike">
                <a:solidFill>
                  <a:schemeClr val="dk1"/>
                </a:solidFill>
                <a:latin typeface="Calibri"/>
                <a:ea typeface="Calibri"/>
                <a:cs typeface="Calibri"/>
                <a:sym typeface="Calibri"/>
              </a:rPr>
              <a:t>	Carmem Vera Scorsatto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600"/>
              <a:buFont typeface="Arial"/>
              <a:buNone/>
            </a:pPr>
            <a:r>
              <a:t/>
            </a:r>
            <a:endParaRPr b="1" i="0" sz="66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4400"/>
              <a:buFont typeface="Arial"/>
              <a:buNone/>
            </a:pPr>
            <a:r>
              <a:t/>
            </a:r>
            <a:endParaRPr b="1" i="0" sz="4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4400"/>
              <a:buFont typeface="Arial"/>
              <a:buNone/>
            </a:pPr>
            <a:r>
              <a:t/>
            </a:r>
            <a:endParaRPr b="1" i="0" sz="4400" u="none" cap="none" strike="noStrike">
              <a:solidFill>
                <a:srgbClr val="000000"/>
              </a:solidFill>
              <a:latin typeface="Calibri"/>
              <a:ea typeface="Calibri"/>
              <a:cs typeface="Calibri"/>
              <a:sym typeface="Calibri"/>
            </a:endParaRPr>
          </a:p>
        </p:txBody>
      </p:sp>
      <p:sp>
        <p:nvSpPr>
          <p:cNvPr id="94" name="Google Shape;94;p13"/>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14:01</a:t>
            </a:r>
            <a:endParaRPr/>
          </a:p>
        </p:txBody>
      </p:sp>
      <p:pic>
        <p:nvPicPr>
          <p:cNvPr id="95" name="Google Shape;95;p13"/>
          <p:cNvPicPr preferRelativeResize="0"/>
          <p:nvPr/>
        </p:nvPicPr>
        <p:blipFill rotWithShape="1">
          <a:blip r:embed="rId3">
            <a:alphaModFix/>
          </a:blip>
          <a:srcRect b="0" l="0" r="0" t="0"/>
          <a:stretch/>
        </p:blipFill>
        <p:spPr>
          <a:xfrm>
            <a:off x="5751875" y="1674532"/>
            <a:ext cx="1428750" cy="857250"/>
          </a:xfrm>
          <a:prstGeom prst="rect">
            <a:avLst/>
          </a:prstGeom>
          <a:noFill/>
          <a:ln>
            <a:noFill/>
          </a:ln>
        </p:spPr>
      </p:pic>
      <p:pic>
        <p:nvPicPr>
          <p:cNvPr id="96" name="Google Shape;96;p13"/>
          <p:cNvPicPr preferRelativeResize="0"/>
          <p:nvPr/>
        </p:nvPicPr>
        <p:blipFill rotWithShape="1">
          <a:blip r:embed="rId4">
            <a:alphaModFix/>
          </a:blip>
          <a:srcRect b="0" l="0" r="0" t="0"/>
          <a:stretch/>
        </p:blipFill>
        <p:spPr>
          <a:xfrm>
            <a:off x="1991184" y="1760240"/>
            <a:ext cx="2457576" cy="68583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4"/>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571500" lvl="0" marL="571500" marR="0" rtl="0" algn="l">
              <a:lnSpc>
                <a:spcPct val="100000"/>
              </a:lnSpc>
              <a:spcBef>
                <a:spcPts val="0"/>
              </a:spcBef>
              <a:spcAft>
                <a:spcPts val="0"/>
              </a:spcAft>
              <a:buClr>
                <a:schemeClr val="dk1"/>
              </a:buClr>
              <a:buSzPts val="2800"/>
              <a:buFont typeface="Noto Sans Symbols"/>
              <a:buChar char="▪"/>
            </a:pPr>
            <a:r>
              <a:rPr b="0" i="0" lang="pt-BR" sz="2800" u="none" cap="none" strike="noStrike">
                <a:solidFill>
                  <a:schemeClr val="dk1"/>
                </a:solidFill>
                <a:latin typeface="Calibri"/>
                <a:ea typeface="Calibri"/>
                <a:cs typeface="Calibri"/>
                <a:sym typeface="Calibri"/>
              </a:rPr>
              <a:t>Conceitos de Variáveis</a:t>
            </a:r>
            <a:endParaRPr b="0" i="0" sz="2800" u="none" cap="none" strike="noStrike">
              <a:solidFill>
                <a:schemeClr val="dk1"/>
              </a:solidFill>
              <a:latin typeface="Calibri"/>
              <a:ea typeface="Calibri"/>
              <a:cs typeface="Calibri"/>
              <a:sym typeface="Calibri"/>
            </a:endParaRPr>
          </a:p>
          <a:p>
            <a:pPr indent="-406400" lvl="1" marL="914400" marR="0" rtl="0" algn="l">
              <a:lnSpc>
                <a:spcPct val="100000"/>
              </a:lnSpc>
              <a:spcBef>
                <a:spcPts val="0"/>
              </a:spcBef>
              <a:spcAft>
                <a:spcPts val="0"/>
              </a:spcAft>
              <a:buClr>
                <a:schemeClr val="dk1"/>
              </a:buClr>
              <a:buSzPts val="2800"/>
              <a:buFont typeface="Calibri"/>
              <a:buChar char="○"/>
            </a:pPr>
            <a:r>
              <a:rPr b="0" i="0" lang="pt-BR" sz="2800" u="none" cap="none" strike="noStrike">
                <a:solidFill>
                  <a:schemeClr val="dk1"/>
                </a:solidFill>
                <a:latin typeface="Calibri"/>
                <a:ea typeface="Calibri"/>
                <a:cs typeface="Calibri"/>
                <a:sym typeface="Calibri"/>
              </a:rPr>
              <a:t>Contator</a:t>
            </a:r>
            <a:endParaRPr b="0" i="0" sz="2800" u="none" cap="none" strike="noStrike">
              <a:solidFill>
                <a:schemeClr val="dk1"/>
              </a:solidFill>
              <a:latin typeface="Calibri"/>
              <a:ea typeface="Calibri"/>
              <a:cs typeface="Calibri"/>
              <a:sym typeface="Calibri"/>
            </a:endParaRPr>
          </a:p>
          <a:p>
            <a:pPr indent="-406400" lvl="1" marL="914400" marR="0" rtl="0" algn="l">
              <a:lnSpc>
                <a:spcPct val="100000"/>
              </a:lnSpc>
              <a:spcBef>
                <a:spcPts val="0"/>
              </a:spcBef>
              <a:spcAft>
                <a:spcPts val="0"/>
              </a:spcAft>
              <a:buClr>
                <a:schemeClr val="dk1"/>
              </a:buClr>
              <a:buSzPts val="2800"/>
              <a:buFont typeface="Calibri"/>
              <a:buChar char="○"/>
            </a:pPr>
            <a:r>
              <a:rPr b="0" i="0" lang="pt-BR" sz="2800" u="none" cap="none" strike="noStrike">
                <a:solidFill>
                  <a:schemeClr val="dk1"/>
                </a:solidFill>
                <a:latin typeface="Calibri"/>
                <a:ea typeface="Calibri"/>
                <a:cs typeface="Calibri"/>
                <a:sym typeface="Calibri"/>
              </a:rPr>
              <a:t>Acumulador</a:t>
            </a:r>
            <a:endParaRPr b="0" i="0" sz="2800" u="none" cap="none" strike="noStrike">
              <a:solidFill>
                <a:schemeClr val="dk1"/>
              </a:solidFill>
              <a:latin typeface="Calibri"/>
              <a:ea typeface="Calibri"/>
              <a:cs typeface="Calibri"/>
              <a:sym typeface="Calibri"/>
            </a:endParaRPr>
          </a:p>
          <a:p>
            <a:pPr indent="-406400" lvl="1" marL="914400" marR="0" rtl="0" algn="l">
              <a:lnSpc>
                <a:spcPct val="100000"/>
              </a:lnSpc>
              <a:spcBef>
                <a:spcPts val="0"/>
              </a:spcBef>
              <a:spcAft>
                <a:spcPts val="0"/>
              </a:spcAft>
              <a:buClr>
                <a:schemeClr val="dk1"/>
              </a:buClr>
              <a:buSzPts val="2800"/>
              <a:buFont typeface="Calibri"/>
              <a:buChar char="○"/>
            </a:pPr>
            <a:r>
              <a:rPr b="0" i="0" lang="pt-BR" sz="2800" u="none" cap="none" strike="noStrike">
                <a:solidFill>
                  <a:schemeClr val="dk1"/>
                </a:solidFill>
                <a:latin typeface="Calibri"/>
                <a:ea typeface="Calibri"/>
                <a:cs typeface="Calibri"/>
                <a:sym typeface="Calibri"/>
              </a:rPr>
              <a:t>Flag</a:t>
            </a:r>
            <a:endParaRPr b="0" i="0" sz="2800" u="none" cap="none" strike="noStrike">
              <a:solidFill>
                <a:schemeClr val="dk1"/>
              </a:solidFill>
              <a:latin typeface="Calibri"/>
              <a:ea typeface="Calibri"/>
              <a:cs typeface="Calibri"/>
              <a:sym typeface="Calibri"/>
            </a:endParaRPr>
          </a:p>
          <a:p>
            <a:pPr indent="-571500" lvl="0" marL="571500" marR="0" rtl="0" algn="l">
              <a:lnSpc>
                <a:spcPct val="100000"/>
              </a:lnSpc>
              <a:spcBef>
                <a:spcPts val="0"/>
              </a:spcBef>
              <a:spcAft>
                <a:spcPts val="0"/>
              </a:spcAft>
              <a:buClr>
                <a:schemeClr val="dk1"/>
              </a:buClr>
              <a:buSzPts val="2800"/>
              <a:buFont typeface="Noto Sans Symbols"/>
              <a:buChar char="▪"/>
            </a:pPr>
            <a:r>
              <a:rPr b="0" i="0" lang="pt-BR" sz="2800" u="none" cap="none" strike="noStrike">
                <a:solidFill>
                  <a:schemeClr val="dk1"/>
                </a:solidFill>
                <a:latin typeface="Calibri"/>
                <a:ea typeface="Calibri"/>
                <a:cs typeface="Calibri"/>
                <a:sym typeface="Calibri"/>
              </a:rPr>
              <a:t>Estrutura de Repetição</a:t>
            </a:r>
            <a:endParaRPr b="0" i="0" sz="1400" u="none" cap="none" strike="noStrike">
              <a:solidFill>
                <a:schemeClr val="dk1"/>
              </a:solidFill>
              <a:latin typeface="Arial"/>
              <a:ea typeface="Arial"/>
              <a:cs typeface="Arial"/>
              <a:sym typeface="Arial"/>
            </a:endParaRPr>
          </a:p>
          <a:p>
            <a:pPr indent="-571500" lvl="0" marL="571500" marR="0" rtl="0" algn="l">
              <a:lnSpc>
                <a:spcPct val="100000"/>
              </a:lnSpc>
              <a:spcBef>
                <a:spcPts val="0"/>
              </a:spcBef>
              <a:spcAft>
                <a:spcPts val="0"/>
              </a:spcAft>
              <a:buClr>
                <a:schemeClr val="dk1"/>
              </a:buClr>
              <a:buSzPts val="2800"/>
              <a:buFont typeface="Noto Sans Symbols"/>
              <a:buChar char="▪"/>
            </a:pPr>
            <a:r>
              <a:rPr b="0" i="0" lang="pt-BR" sz="2800" u="none" cap="none" strike="noStrike">
                <a:solidFill>
                  <a:schemeClr val="dk1"/>
                </a:solidFill>
                <a:latin typeface="Calibri"/>
                <a:ea typeface="Calibri"/>
                <a:cs typeface="Calibri"/>
                <a:sym typeface="Calibri"/>
              </a:rPr>
              <a:t>Comando Enquanto / While</a:t>
            </a:r>
            <a:endParaRPr b="0" i="0" sz="1400" u="none" cap="none" strike="noStrike">
              <a:solidFill>
                <a:schemeClr val="dk1"/>
              </a:solidFill>
              <a:latin typeface="Arial"/>
              <a:ea typeface="Arial"/>
              <a:cs typeface="Arial"/>
              <a:sym typeface="Arial"/>
            </a:endParaRPr>
          </a:p>
          <a:p>
            <a:pPr indent="-571500" lvl="0" marL="571500" marR="0" rtl="0" algn="l">
              <a:lnSpc>
                <a:spcPct val="100000"/>
              </a:lnSpc>
              <a:spcBef>
                <a:spcPts val="0"/>
              </a:spcBef>
              <a:spcAft>
                <a:spcPts val="0"/>
              </a:spcAft>
              <a:buClr>
                <a:schemeClr val="dk1"/>
              </a:buClr>
              <a:buSzPts val="2800"/>
              <a:buFont typeface="Noto Sans Symbols"/>
              <a:buChar char="▪"/>
            </a:pPr>
            <a:r>
              <a:rPr b="0" i="0" lang="pt-BR" sz="2800" u="none" cap="none" strike="noStrike">
                <a:solidFill>
                  <a:schemeClr val="dk1"/>
                </a:solidFill>
                <a:latin typeface="Calibri"/>
                <a:ea typeface="Calibri"/>
                <a:cs typeface="Calibri"/>
                <a:sym typeface="Calibri"/>
              </a:rPr>
              <a:t>Comando Repita / Do While</a:t>
            </a:r>
            <a:endParaRPr b="0" i="0" sz="1400" u="none" cap="none" strike="noStrike">
              <a:solidFill>
                <a:schemeClr val="dk1"/>
              </a:solidFill>
              <a:latin typeface="Arial"/>
              <a:ea typeface="Arial"/>
              <a:cs typeface="Arial"/>
              <a:sym typeface="Arial"/>
            </a:endParaRPr>
          </a:p>
          <a:p>
            <a:pPr indent="-571500" lvl="0" marL="571500" marR="0" rtl="0" algn="l">
              <a:lnSpc>
                <a:spcPct val="100000"/>
              </a:lnSpc>
              <a:spcBef>
                <a:spcPts val="0"/>
              </a:spcBef>
              <a:spcAft>
                <a:spcPts val="0"/>
              </a:spcAft>
              <a:buClr>
                <a:schemeClr val="dk1"/>
              </a:buClr>
              <a:buSzPts val="2800"/>
              <a:buFont typeface="Noto Sans Symbols"/>
              <a:buChar char="▪"/>
            </a:pPr>
            <a:r>
              <a:rPr b="0" i="0" lang="pt-BR" sz="2800" u="none" cap="none" strike="noStrike">
                <a:solidFill>
                  <a:schemeClr val="dk1"/>
                </a:solidFill>
                <a:latin typeface="Calibri"/>
                <a:ea typeface="Calibri"/>
                <a:cs typeface="Calibri"/>
                <a:sym typeface="Calibri"/>
              </a:rPr>
              <a:t>Comando Break</a:t>
            </a:r>
            <a:endParaRPr b="0" i="0" sz="1400" u="none" cap="none" strike="noStrike">
              <a:solidFill>
                <a:schemeClr val="dk1"/>
              </a:solidFill>
              <a:latin typeface="Arial"/>
              <a:ea typeface="Arial"/>
              <a:cs typeface="Arial"/>
              <a:sym typeface="Arial"/>
            </a:endParaRPr>
          </a:p>
          <a:p>
            <a:pPr indent="-571500" lvl="0" marL="571500" marR="0" rtl="0" algn="l">
              <a:lnSpc>
                <a:spcPct val="100000"/>
              </a:lnSpc>
              <a:spcBef>
                <a:spcPts val="0"/>
              </a:spcBef>
              <a:spcAft>
                <a:spcPts val="0"/>
              </a:spcAft>
              <a:buClr>
                <a:schemeClr val="dk1"/>
              </a:buClr>
              <a:buSzPts val="2800"/>
              <a:buFont typeface="Noto Sans Symbols"/>
              <a:buChar char="▪"/>
            </a:pPr>
            <a:r>
              <a:rPr b="0" i="0" lang="pt-BR" sz="2800" u="none" cap="none" strike="noStrike">
                <a:solidFill>
                  <a:schemeClr val="dk1"/>
                </a:solidFill>
                <a:latin typeface="Calibri"/>
                <a:ea typeface="Calibri"/>
                <a:cs typeface="Calibri"/>
                <a:sym typeface="Calibri"/>
              </a:rPr>
              <a:t>Comando Continue</a:t>
            </a:r>
            <a:endParaRPr b="0" i="0" sz="1400" u="none" cap="none" strike="noStrike">
              <a:solidFill>
                <a:schemeClr val="dk1"/>
              </a:solidFill>
              <a:latin typeface="Arial"/>
              <a:ea typeface="Arial"/>
              <a:cs typeface="Arial"/>
              <a:sym typeface="Arial"/>
            </a:endParaRPr>
          </a:p>
          <a:p>
            <a:pPr indent="-571500" lvl="0" marL="571500" marR="0" rtl="0" algn="l">
              <a:lnSpc>
                <a:spcPct val="100000"/>
              </a:lnSpc>
              <a:spcBef>
                <a:spcPts val="0"/>
              </a:spcBef>
              <a:spcAft>
                <a:spcPts val="0"/>
              </a:spcAft>
              <a:buClr>
                <a:schemeClr val="dk1"/>
              </a:buClr>
              <a:buSzPts val="2800"/>
              <a:buFont typeface="Noto Sans Symbols"/>
              <a:buChar char="▪"/>
            </a:pPr>
            <a:r>
              <a:rPr b="0" i="0" lang="pt-BR" sz="2800" u="none" cap="none" strike="noStrike">
                <a:solidFill>
                  <a:schemeClr val="dk1"/>
                </a:solidFill>
                <a:latin typeface="Calibri"/>
                <a:ea typeface="Calibri"/>
                <a:cs typeface="Calibri"/>
                <a:sym typeface="Calibri"/>
              </a:rPr>
              <a:t>Exemplo de teste de mesa</a:t>
            </a:r>
            <a:endParaRPr b="0" i="0" sz="3600" u="none" cap="none" strike="noStrike">
              <a:solidFill>
                <a:srgbClr val="000000"/>
              </a:solidFill>
              <a:latin typeface="Calibri"/>
              <a:ea typeface="Calibri"/>
              <a:cs typeface="Calibri"/>
              <a:sym typeface="Calibri"/>
            </a:endParaRPr>
          </a:p>
        </p:txBody>
      </p:sp>
      <p:sp>
        <p:nvSpPr>
          <p:cNvPr id="103" name="Google Shape;103;p14"/>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pt-BR" sz="4400" u="none" cap="none" strike="noStrike">
                <a:solidFill>
                  <a:schemeClr val="dk1"/>
                </a:solidFill>
                <a:latin typeface="Calibri"/>
                <a:ea typeface="Calibri"/>
                <a:cs typeface="Calibri"/>
                <a:sym typeface="Calibri"/>
              </a:rPr>
              <a:t>ROTEIRO DA AULA</a:t>
            </a:r>
            <a:endParaRPr b="0" i="0" sz="1400" u="none" cap="none" strike="noStrike">
              <a:solidFill>
                <a:srgbClr val="000000"/>
              </a:solidFill>
              <a:latin typeface="Arial"/>
              <a:ea typeface="Arial"/>
              <a:cs typeface="Arial"/>
              <a:sym typeface="Arial"/>
            </a:endParaRPr>
          </a:p>
        </p:txBody>
      </p:sp>
      <p:sp>
        <p:nvSpPr>
          <p:cNvPr id="104" name="Google Shape;104;p14"/>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5"/>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100000"/>
              </a:lnSpc>
              <a:spcBef>
                <a:spcPts val="0"/>
              </a:spcBef>
              <a:spcAft>
                <a:spcPts val="0"/>
              </a:spcAft>
              <a:buClr>
                <a:schemeClr val="dk1"/>
              </a:buClr>
              <a:buSzPts val="3200"/>
              <a:buFont typeface="Calibri"/>
              <a:buChar char="•"/>
            </a:pPr>
            <a:r>
              <a:rPr b="0" i="0" lang="pt-BR" sz="3200" u="none" cap="none" strike="noStrike">
                <a:solidFill>
                  <a:schemeClr val="dk1"/>
                </a:solidFill>
                <a:latin typeface="Calibri"/>
                <a:ea typeface="Calibri"/>
                <a:cs typeface="Calibri"/>
                <a:sym typeface="Calibri"/>
              </a:rPr>
              <a:t>Novos conceitos na utilização de variáveis:</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40"/>
              </a:spcBef>
              <a:spcAft>
                <a:spcPts val="0"/>
              </a:spcAft>
              <a:buClr>
                <a:schemeClr val="dk1"/>
              </a:buClr>
              <a:buSzPts val="2700"/>
              <a:buFont typeface="Calibri"/>
              <a:buChar char="–"/>
            </a:pPr>
            <a:r>
              <a:rPr b="0" i="0" lang="pt-BR" sz="2700" u="none" cap="none" strike="noStrike">
                <a:solidFill>
                  <a:schemeClr val="dk1"/>
                </a:solidFill>
                <a:latin typeface="Calibri"/>
                <a:ea typeface="Calibri"/>
                <a:cs typeface="Calibri"/>
                <a:sym typeface="Calibri"/>
              </a:rPr>
              <a:t>As variáveis vistas até agora serviram sempre para o armazenamento de valores do programa.</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40"/>
              </a:spcBef>
              <a:spcAft>
                <a:spcPts val="0"/>
              </a:spcAft>
              <a:buClr>
                <a:schemeClr val="dk1"/>
              </a:buClr>
              <a:buSzPts val="2700"/>
              <a:buFont typeface="Calibri"/>
              <a:buChar char="–"/>
            </a:pPr>
            <a:r>
              <a:rPr b="0" i="0" lang="pt-BR" sz="2700" u="none" cap="none" strike="noStrike">
                <a:solidFill>
                  <a:schemeClr val="dk1"/>
                </a:solidFill>
                <a:latin typeface="Calibri"/>
                <a:ea typeface="Calibri"/>
                <a:cs typeface="Calibri"/>
                <a:sym typeface="Calibri"/>
              </a:rPr>
              <a:t>Uma variável era definida, colocado um valor nela via teclado (quando era lida) ou via expressão numérica (comando de atribuição). Seu valor era utilizado ou em testes ou em cálculos e, finalmente, quando necessário, era exposto. Todavia, veremos outras formas de utilizações para as variáveis.</a:t>
            </a:r>
            <a:endParaRPr b="0" i="0" sz="1400" u="none" cap="none" strike="noStrike">
              <a:solidFill>
                <a:srgbClr val="000000"/>
              </a:solidFill>
              <a:latin typeface="Arial"/>
              <a:ea typeface="Arial"/>
              <a:cs typeface="Arial"/>
              <a:sym typeface="Arial"/>
            </a:endParaRPr>
          </a:p>
          <a:p>
            <a:pPr indent="-254000" lvl="0" marL="457200" marR="0" rtl="0" algn="l">
              <a:lnSpc>
                <a:spcPct val="10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254000" lvl="0" marL="457200" marR="0" rtl="0" algn="l">
              <a:lnSpc>
                <a:spcPct val="9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111" name="Google Shape;111;p15"/>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pt-BR" sz="4300" u="none" cap="none" strike="noStrike">
                <a:solidFill>
                  <a:schemeClr val="dk1"/>
                </a:solidFill>
                <a:latin typeface="Calibri"/>
                <a:ea typeface="Calibri"/>
                <a:cs typeface="Calibri"/>
                <a:sym typeface="Calibri"/>
              </a:rPr>
              <a:t>CONCEITOS VARIÁVEIS</a:t>
            </a:r>
            <a:endParaRPr b="0" i="0" sz="4300" u="none" cap="none" strike="noStrike">
              <a:solidFill>
                <a:srgbClr val="000000"/>
              </a:solidFill>
              <a:latin typeface="Arial"/>
              <a:ea typeface="Arial"/>
              <a:cs typeface="Arial"/>
              <a:sym typeface="Arial"/>
            </a:endParaRPr>
          </a:p>
        </p:txBody>
      </p:sp>
      <p:sp>
        <p:nvSpPr>
          <p:cNvPr id="112" name="Google Shape;112;p15"/>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6"/>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381000" lvl="1" marL="838200" marR="0" rtl="0" algn="l">
              <a:lnSpc>
                <a:spcPct val="100000"/>
              </a:lnSpc>
              <a:spcBef>
                <a:spcPts val="0"/>
              </a:spcBef>
              <a:spcAft>
                <a:spcPts val="0"/>
              </a:spcAft>
              <a:buClr>
                <a:schemeClr val="dk1"/>
              </a:buClr>
              <a:buSzPts val="2800"/>
              <a:buFont typeface="Calibri"/>
              <a:buChar char="–"/>
            </a:pPr>
            <a:r>
              <a:rPr b="0" i="0" lang="pt-BR" sz="2800" u="none" cap="none" strike="noStrike">
                <a:solidFill>
                  <a:schemeClr val="dk1"/>
                </a:solidFill>
                <a:latin typeface="Calibri"/>
                <a:ea typeface="Calibri"/>
                <a:cs typeface="Calibri"/>
                <a:sym typeface="Calibri"/>
              </a:rPr>
              <a:t>Os tipos de variáveis não mudam, ou seja, os tipos “inteiro”, “real”, “caracter”, entre outros são os mesmos; o que muda é o enfoque dado a estas variáveis. </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60"/>
              </a:spcBef>
              <a:spcAft>
                <a:spcPts val="0"/>
              </a:spcAft>
              <a:buClr>
                <a:schemeClr val="dk1"/>
              </a:buClr>
              <a:buSzPts val="2800"/>
              <a:buFont typeface="Calibri"/>
              <a:buChar char="–"/>
            </a:pPr>
            <a:r>
              <a:rPr b="0" i="0" lang="pt-BR" sz="2800" u="none" cap="none" strike="noStrike">
                <a:solidFill>
                  <a:schemeClr val="dk1"/>
                </a:solidFill>
                <a:latin typeface="Calibri"/>
                <a:ea typeface="Calibri"/>
                <a:cs typeface="Calibri"/>
                <a:sym typeface="Calibri"/>
              </a:rPr>
              <a:t>Elas serão especialmente úteis em programas com repetição.</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60"/>
              </a:spcBef>
              <a:spcAft>
                <a:spcPts val="0"/>
              </a:spcAft>
              <a:buClr>
                <a:schemeClr val="dk1"/>
              </a:buClr>
              <a:buSzPts val="2800"/>
              <a:buFont typeface="Calibri"/>
              <a:buChar char="–"/>
            </a:pPr>
            <a:r>
              <a:rPr b="0" i="0" lang="pt-BR" sz="2800" u="none" cap="none" strike="noStrike">
                <a:solidFill>
                  <a:schemeClr val="dk1"/>
                </a:solidFill>
                <a:latin typeface="Calibri"/>
                <a:ea typeface="Calibri"/>
                <a:cs typeface="Calibri"/>
                <a:sym typeface="Calibri"/>
              </a:rPr>
              <a:t>Em muitos casos serão os controladores dos comandos de repetição.</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60"/>
              </a:spcBef>
              <a:spcAft>
                <a:spcPts val="0"/>
              </a:spcAft>
              <a:buClr>
                <a:schemeClr val="dk1"/>
              </a:buClr>
              <a:buSzPts val="2800"/>
              <a:buFont typeface="Calibri"/>
              <a:buChar char="–"/>
            </a:pPr>
            <a:r>
              <a:rPr b="0" i="0" lang="pt-BR" sz="2800" u="none" cap="none" strike="noStrike">
                <a:solidFill>
                  <a:schemeClr val="dk1"/>
                </a:solidFill>
                <a:latin typeface="Calibri"/>
                <a:ea typeface="Calibri"/>
                <a:cs typeface="Calibri"/>
                <a:sym typeface="Calibri"/>
              </a:rPr>
              <a:t>São chamadas de contador, acumulador e flag.</a:t>
            </a:r>
            <a:endParaRPr b="0" i="0" sz="1400" u="none" cap="none" strike="noStrike">
              <a:solidFill>
                <a:srgbClr val="000000"/>
              </a:solidFill>
              <a:latin typeface="Arial"/>
              <a:ea typeface="Arial"/>
              <a:cs typeface="Arial"/>
              <a:sym typeface="Arial"/>
            </a:endParaRPr>
          </a:p>
          <a:p>
            <a:pPr indent="-254000" lvl="0" marL="457200" marR="0" rtl="0" algn="l">
              <a:lnSpc>
                <a:spcPct val="10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254000" lvl="0" marL="457200" marR="0" rtl="0" algn="l">
              <a:lnSpc>
                <a:spcPct val="9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119" name="Google Shape;119;p16"/>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pt-BR" sz="4300" u="none" cap="none" strike="noStrike">
                <a:solidFill>
                  <a:schemeClr val="dk1"/>
                </a:solidFill>
                <a:latin typeface="Calibri"/>
                <a:ea typeface="Calibri"/>
                <a:cs typeface="Calibri"/>
                <a:sym typeface="Calibri"/>
              </a:rPr>
              <a:t>CONCEITOS VARIÁVEIS</a:t>
            </a:r>
            <a:endParaRPr b="0" i="0" sz="4300" u="none" cap="none" strike="noStrike">
              <a:solidFill>
                <a:srgbClr val="000000"/>
              </a:solidFill>
              <a:latin typeface="Arial"/>
              <a:ea typeface="Arial"/>
              <a:cs typeface="Arial"/>
              <a:sym typeface="Arial"/>
            </a:endParaRPr>
          </a:p>
        </p:txBody>
      </p:sp>
      <p:sp>
        <p:nvSpPr>
          <p:cNvPr id="120" name="Google Shape;120;p16"/>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7"/>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100000"/>
              </a:lnSpc>
              <a:spcBef>
                <a:spcPts val="0"/>
              </a:spcBef>
              <a:spcAft>
                <a:spcPts val="0"/>
              </a:spcAft>
              <a:buClr>
                <a:schemeClr val="dk1"/>
              </a:buClr>
              <a:buSzPts val="3200"/>
              <a:buFont typeface="Calibri"/>
              <a:buChar char="•"/>
            </a:pPr>
            <a:r>
              <a:rPr b="0" i="0" lang="pt-BR" sz="3200" u="none" cap="none" strike="noStrike">
                <a:solidFill>
                  <a:schemeClr val="dk1"/>
                </a:solidFill>
                <a:latin typeface="Calibri"/>
                <a:ea typeface="Calibri"/>
                <a:cs typeface="Calibri"/>
                <a:sym typeface="Calibri"/>
              </a:rPr>
              <a:t>Contador:</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20"/>
              </a:spcBef>
              <a:spcAft>
                <a:spcPts val="0"/>
              </a:spcAft>
              <a:buClr>
                <a:schemeClr val="dk1"/>
              </a:buClr>
              <a:buSzPts val="2600"/>
              <a:buFont typeface="Calibri"/>
              <a:buChar char="–"/>
            </a:pPr>
            <a:r>
              <a:rPr b="0" i="0" lang="pt-BR" sz="2600" u="none" cap="none" strike="noStrike">
                <a:solidFill>
                  <a:schemeClr val="dk1"/>
                </a:solidFill>
                <a:latin typeface="Calibri"/>
                <a:ea typeface="Calibri"/>
                <a:cs typeface="Calibri"/>
                <a:sym typeface="Calibri"/>
              </a:rPr>
              <a:t>Variável do tipo numérica inteira, que serve para contar quantas vezes algum trecho de programa foi executado (quantas vezes alguma ação foi realizada). </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20"/>
              </a:spcBef>
              <a:spcAft>
                <a:spcPts val="0"/>
              </a:spcAft>
              <a:buClr>
                <a:schemeClr val="dk1"/>
              </a:buClr>
              <a:buSzPts val="2600"/>
              <a:buFont typeface="Calibri"/>
              <a:buChar char="–"/>
            </a:pPr>
            <a:r>
              <a:rPr b="0" i="0" lang="pt-BR" sz="2600" u="none" cap="none" strike="noStrike">
                <a:solidFill>
                  <a:schemeClr val="dk1"/>
                </a:solidFill>
                <a:latin typeface="Calibri"/>
                <a:ea typeface="Calibri"/>
                <a:cs typeface="Calibri"/>
                <a:sym typeface="Calibri"/>
              </a:rPr>
              <a:t>Por exemplo: para sabermos quantas vezes foi executado um bloco de comandos, colocamos um comando a fim de incrementar ou decrementar a variável contadora a cada vez que o bloco é executado.</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20"/>
              </a:spcBef>
              <a:spcAft>
                <a:spcPts val="0"/>
              </a:spcAft>
              <a:buClr>
                <a:schemeClr val="dk1"/>
              </a:buClr>
              <a:buSzPts val="2600"/>
              <a:buFont typeface="Calibri"/>
              <a:buChar char="–"/>
            </a:pPr>
            <a:r>
              <a:rPr b="0" i="0" lang="pt-BR" sz="2600" u="none" cap="none" strike="noStrike">
                <a:solidFill>
                  <a:schemeClr val="dk1"/>
                </a:solidFill>
                <a:latin typeface="Calibri"/>
                <a:ea typeface="Calibri"/>
                <a:cs typeface="Calibri"/>
                <a:sym typeface="Calibri"/>
              </a:rPr>
              <a:t>Deve ser previamente inicializada.</a:t>
            </a:r>
            <a:endParaRPr b="0" i="0" sz="1400" u="none" cap="none" strike="noStrike">
              <a:solidFill>
                <a:srgbClr val="000000"/>
              </a:solidFill>
              <a:latin typeface="Arial"/>
              <a:ea typeface="Arial"/>
              <a:cs typeface="Arial"/>
              <a:sym typeface="Arial"/>
            </a:endParaRPr>
          </a:p>
          <a:p>
            <a:pPr indent="-254000" lvl="0" marL="457200" marR="0" rtl="0" algn="l">
              <a:lnSpc>
                <a:spcPct val="10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254000" lvl="0" marL="457200" marR="0" rtl="0" algn="l">
              <a:lnSpc>
                <a:spcPct val="9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127" name="Google Shape;127;p17"/>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pt-BR" sz="4400" u="none" cap="none" strike="noStrike">
                <a:solidFill>
                  <a:schemeClr val="dk1"/>
                </a:solidFill>
                <a:latin typeface="Calibri"/>
                <a:ea typeface="Calibri"/>
                <a:cs typeface="Calibri"/>
                <a:sym typeface="Calibri"/>
              </a:rPr>
              <a:t>CONTADOR</a:t>
            </a:r>
            <a:endParaRPr b="0" i="0" sz="1400" u="none" cap="none" strike="noStrike">
              <a:solidFill>
                <a:srgbClr val="000000"/>
              </a:solidFill>
              <a:latin typeface="Arial"/>
              <a:ea typeface="Arial"/>
              <a:cs typeface="Arial"/>
              <a:sym typeface="Arial"/>
            </a:endParaRPr>
          </a:p>
        </p:txBody>
      </p:sp>
      <p:sp>
        <p:nvSpPr>
          <p:cNvPr id="128" name="Google Shape;128;p17"/>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14:03</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8"/>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100000"/>
              </a:lnSpc>
              <a:spcBef>
                <a:spcPts val="0"/>
              </a:spcBef>
              <a:spcAft>
                <a:spcPts val="0"/>
              </a:spcAft>
              <a:buClr>
                <a:schemeClr val="dk1"/>
              </a:buClr>
              <a:buSzPts val="3200"/>
              <a:buFont typeface="Calibri"/>
              <a:buChar char="•"/>
            </a:pPr>
            <a:r>
              <a:rPr b="0" i="0" lang="pt-BR" sz="3200" u="none" cap="none" strike="noStrike">
                <a:solidFill>
                  <a:schemeClr val="dk1"/>
                </a:solidFill>
                <a:latin typeface="Calibri"/>
                <a:ea typeface="Calibri"/>
                <a:cs typeface="Calibri"/>
                <a:sym typeface="Calibri"/>
              </a:rPr>
              <a:t>Acumulador:</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60"/>
              </a:spcBef>
              <a:spcAft>
                <a:spcPts val="0"/>
              </a:spcAft>
              <a:buClr>
                <a:schemeClr val="dk1"/>
              </a:buClr>
              <a:buSzPts val="2800"/>
              <a:buFont typeface="Calibri"/>
              <a:buChar char="–"/>
            </a:pPr>
            <a:r>
              <a:rPr b="0" i="0" lang="pt-BR" sz="2800" u="none" cap="none" strike="noStrike">
                <a:solidFill>
                  <a:schemeClr val="dk1"/>
                </a:solidFill>
                <a:latin typeface="Calibri"/>
                <a:ea typeface="Calibri"/>
                <a:cs typeface="Calibri"/>
                <a:sym typeface="Calibri"/>
              </a:rPr>
              <a:t>Variável que serve para acumular valores, geralmente numéricos. Serve na prática para obtermos uma determinada soma. Por exemplo: para sabermos a soma de 30 números a serem lidos, junto com o trecho de leitura atualizamos a variável acumuladora, que já deve estar inicializada. </a:t>
            </a:r>
            <a:endParaRPr b="0" i="0" sz="1400" u="none" cap="none" strike="noStrike">
              <a:solidFill>
                <a:srgbClr val="000000"/>
              </a:solidFill>
              <a:latin typeface="Arial"/>
              <a:ea typeface="Arial"/>
              <a:cs typeface="Arial"/>
              <a:sym typeface="Arial"/>
            </a:endParaRPr>
          </a:p>
          <a:p>
            <a:pPr indent="-254000" lvl="0" marL="457200" marR="0" rtl="0" algn="l">
              <a:lnSpc>
                <a:spcPct val="10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254000" lvl="0" marL="457200" marR="0" rtl="0" algn="l">
              <a:lnSpc>
                <a:spcPct val="9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135" name="Google Shape;135;p18"/>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pt-BR" sz="4400" u="none" cap="none" strike="noStrike">
                <a:solidFill>
                  <a:schemeClr val="dk1"/>
                </a:solidFill>
                <a:latin typeface="Calibri"/>
                <a:ea typeface="Calibri"/>
                <a:cs typeface="Calibri"/>
                <a:sym typeface="Calibri"/>
              </a:rPr>
              <a:t>ACUMULADOR</a:t>
            </a:r>
            <a:endParaRPr b="0" i="0" sz="1400" u="none" cap="none" strike="noStrike">
              <a:solidFill>
                <a:srgbClr val="000000"/>
              </a:solidFill>
              <a:latin typeface="Arial"/>
              <a:ea typeface="Arial"/>
              <a:cs typeface="Arial"/>
              <a:sym typeface="Arial"/>
            </a:endParaRPr>
          </a:p>
        </p:txBody>
      </p:sp>
      <p:sp>
        <p:nvSpPr>
          <p:cNvPr id="136" name="Google Shape;136;p18"/>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14:03</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9"/>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100000"/>
              </a:lnSpc>
              <a:spcBef>
                <a:spcPts val="0"/>
              </a:spcBef>
              <a:spcAft>
                <a:spcPts val="0"/>
              </a:spcAft>
              <a:buClr>
                <a:schemeClr val="dk1"/>
              </a:buClr>
              <a:buSzPts val="3200"/>
              <a:buFont typeface="Calibri"/>
              <a:buChar char="•"/>
            </a:pPr>
            <a:r>
              <a:rPr b="0" i="0" lang="pt-BR" sz="3200" u="none" cap="none" strike="noStrike">
                <a:solidFill>
                  <a:schemeClr val="dk1"/>
                </a:solidFill>
                <a:latin typeface="Calibri"/>
                <a:ea typeface="Calibri"/>
                <a:cs typeface="Calibri"/>
                <a:sym typeface="Calibri"/>
              </a:rPr>
              <a:t>Flag:</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60"/>
              </a:spcBef>
              <a:spcAft>
                <a:spcPts val="0"/>
              </a:spcAft>
              <a:buClr>
                <a:schemeClr val="dk1"/>
              </a:buClr>
              <a:buSzPts val="2800"/>
              <a:buFont typeface="Calibri"/>
              <a:buChar char="–"/>
            </a:pPr>
            <a:r>
              <a:rPr b="0" i="0" lang="pt-BR" sz="2800" u="none" cap="none" strike="noStrike">
                <a:solidFill>
                  <a:schemeClr val="dk1"/>
                </a:solidFill>
                <a:latin typeface="Calibri"/>
                <a:ea typeface="Calibri"/>
                <a:cs typeface="Calibri"/>
                <a:sym typeface="Calibri"/>
              </a:rPr>
              <a:t>Tradução do Inglês: bandeira, sinal é um tipo de variável para controle do estado de um programa. Usada em testes, serve na prática para sabermos se um laço pode ou não acabar, se uma fórmula foi ou não resolvida (o programador deve saber os motivos, o porquê da fórmula não ser resolvida). </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60"/>
              </a:spcBef>
              <a:spcAft>
                <a:spcPts val="0"/>
              </a:spcAft>
              <a:buClr>
                <a:schemeClr val="dk1"/>
              </a:buClr>
              <a:buSzPts val="2800"/>
              <a:buFont typeface="Calibri"/>
              <a:buChar char="–"/>
            </a:pPr>
            <a:r>
              <a:rPr b="0" i="0" lang="pt-BR" sz="2800" u="none" cap="none" strike="noStrike">
                <a:solidFill>
                  <a:schemeClr val="dk1"/>
                </a:solidFill>
                <a:latin typeface="Calibri"/>
                <a:ea typeface="Calibri"/>
                <a:cs typeface="Calibri"/>
                <a:sym typeface="Calibri"/>
              </a:rPr>
              <a:t>Nos possibilita a comunicação entre diversas partes de um programa.</a:t>
            </a:r>
            <a:endParaRPr b="0" i="0" sz="1400" u="none" cap="none" strike="noStrike">
              <a:solidFill>
                <a:srgbClr val="000000"/>
              </a:solidFill>
              <a:latin typeface="Arial"/>
              <a:ea typeface="Arial"/>
              <a:cs typeface="Arial"/>
              <a:sym typeface="Arial"/>
            </a:endParaRPr>
          </a:p>
          <a:p>
            <a:pPr indent="-254000" lvl="0" marL="457200" marR="0" rtl="0" algn="l">
              <a:lnSpc>
                <a:spcPct val="10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254000" lvl="0" marL="457200" marR="0" rtl="0" algn="l">
              <a:lnSpc>
                <a:spcPct val="9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143" name="Google Shape;143;p19"/>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pt-BR" sz="4400" u="none" cap="none" strike="noStrike">
                <a:solidFill>
                  <a:schemeClr val="dk1"/>
                </a:solidFill>
                <a:latin typeface="Calibri"/>
                <a:ea typeface="Calibri"/>
                <a:cs typeface="Calibri"/>
                <a:sym typeface="Calibri"/>
              </a:rPr>
              <a:t>FLAG</a:t>
            </a:r>
            <a:endParaRPr b="0" i="0" sz="1400" u="none" cap="none" strike="noStrike">
              <a:solidFill>
                <a:srgbClr val="000000"/>
              </a:solidFill>
              <a:latin typeface="Arial"/>
              <a:ea typeface="Arial"/>
              <a:cs typeface="Arial"/>
              <a:sym typeface="Arial"/>
            </a:endParaRPr>
          </a:p>
        </p:txBody>
      </p:sp>
      <p:sp>
        <p:nvSpPr>
          <p:cNvPr id="144" name="Google Shape;144;p19"/>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14:03</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0"/>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100000"/>
              </a:lnSpc>
              <a:spcBef>
                <a:spcPts val="0"/>
              </a:spcBef>
              <a:spcAft>
                <a:spcPts val="0"/>
              </a:spcAft>
              <a:buClr>
                <a:schemeClr val="dk1"/>
              </a:buClr>
              <a:buSzPts val="3200"/>
              <a:buFont typeface="Noto Sans Symbols"/>
              <a:buChar char="▪"/>
            </a:pPr>
            <a:r>
              <a:rPr b="0" i="0" lang="pt-BR" sz="3200" u="none" cap="none" strike="noStrike">
                <a:solidFill>
                  <a:schemeClr val="dk1"/>
                </a:solidFill>
                <a:latin typeface="Calibri"/>
                <a:ea typeface="Calibri"/>
                <a:cs typeface="Calibri"/>
                <a:sym typeface="Calibri"/>
              </a:rPr>
              <a:t>Como o próprio nome diz, são comandos que repetem sua execução (e de outros comandos relacionados) até um determinado ponto quando encerram. São vulgarmente conhecidos como “laços”, ou seja, quando chegamos ao final de um trecho de programa “envolto” por um laço, retornamos ao início do mesmo, e o executamos novamente.</a:t>
            </a:r>
            <a:endParaRPr b="0" i="0" sz="1400" u="none" cap="none" strike="noStrike">
              <a:solidFill>
                <a:srgbClr val="000000"/>
              </a:solidFill>
              <a:latin typeface="Arial"/>
              <a:ea typeface="Arial"/>
              <a:cs typeface="Arial"/>
              <a:sym typeface="Arial"/>
            </a:endParaRPr>
          </a:p>
          <a:p>
            <a:pPr indent="-254000" lvl="0" marL="4572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151" name="Google Shape;151;p20"/>
          <p:cNvSpPr txBox="1"/>
          <p:nvPr/>
        </p:nvSpPr>
        <p:spPr>
          <a:xfrm>
            <a:off x="3394788" y="20499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fontScale="92500" lnSpcReduction="20000"/>
          </a:bodyPr>
          <a:lstStyle/>
          <a:p>
            <a:pPr indent="0" lvl="0" marL="0" marR="0" rtl="0" algn="ctr">
              <a:lnSpc>
                <a:spcPct val="100000"/>
              </a:lnSpc>
              <a:spcBef>
                <a:spcPts val="0"/>
              </a:spcBef>
              <a:spcAft>
                <a:spcPts val="0"/>
              </a:spcAft>
              <a:buClr>
                <a:schemeClr val="dk1"/>
              </a:buClr>
              <a:buSzPct val="100000"/>
              <a:buFont typeface="Calibri"/>
              <a:buNone/>
            </a:pPr>
            <a:r>
              <a:rPr b="0" i="0" lang="pt-BR" sz="4400" u="none" cap="none" strike="noStrike">
                <a:solidFill>
                  <a:schemeClr val="dk1"/>
                </a:solidFill>
                <a:latin typeface="Calibri"/>
                <a:ea typeface="Calibri"/>
                <a:cs typeface="Calibri"/>
                <a:sym typeface="Calibri"/>
              </a:rPr>
              <a:t>ESTRUTURAS DE REPETIÇÃO</a:t>
            </a:r>
            <a:endParaRPr b="0" i="0" sz="1400" u="none" cap="none" strike="noStrike">
              <a:solidFill>
                <a:srgbClr val="000000"/>
              </a:solidFill>
              <a:latin typeface="Arial"/>
              <a:ea typeface="Arial"/>
              <a:cs typeface="Arial"/>
              <a:sym typeface="Arial"/>
            </a:endParaRPr>
          </a:p>
        </p:txBody>
      </p:sp>
      <p:sp>
        <p:nvSpPr>
          <p:cNvPr id="152" name="Google Shape;152;p20"/>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14:03</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1"/>
          <p:cNvSpPr txBox="1"/>
          <p:nvPr/>
        </p:nvSpPr>
        <p:spPr>
          <a:xfrm>
            <a:off x="867884" y="1585800"/>
            <a:ext cx="7841700" cy="472350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100000"/>
              </a:lnSpc>
              <a:spcBef>
                <a:spcPts val="0"/>
              </a:spcBef>
              <a:spcAft>
                <a:spcPts val="0"/>
              </a:spcAft>
              <a:buClr>
                <a:schemeClr val="dk1"/>
              </a:buClr>
              <a:buSzPts val="3200"/>
              <a:buFont typeface="Noto Sans Symbols"/>
              <a:buChar char="▪"/>
            </a:pPr>
            <a:r>
              <a:rPr b="0" i="0" lang="pt-BR" sz="3200" u="none" cap="none" strike="noStrike">
                <a:solidFill>
                  <a:schemeClr val="dk1"/>
                </a:solidFill>
                <a:latin typeface="Calibri"/>
                <a:ea typeface="Calibri"/>
                <a:cs typeface="Calibri"/>
                <a:sym typeface="Calibri"/>
              </a:rPr>
              <a:t>Imprimindo números de 1 até 3</a:t>
            </a:r>
            <a:endParaRPr b="0" i="0" sz="1400" u="none" cap="none" strike="noStrike">
              <a:solidFill>
                <a:srgbClr val="000000"/>
              </a:solidFill>
              <a:latin typeface="Arial"/>
              <a:ea typeface="Arial"/>
              <a:cs typeface="Arial"/>
              <a:sym typeface="Arial"/>
            </a:endParaRPr>
          </a:p>
          <a:p>
            <a:pPr indent="-254000" lvl="0" marL="4572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159" name="Google Shape;159;p21"/>
          <p:cNvSpPr txBox="1"/>
          <p:nvPr/>
        </p:nvSpPr>
        <p:spPr>
          <a:xfrm>
            <a:off x="3394788" y="204998"/>
            <a:ext cx="5338800"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fontScale="92500" lnSpcReduction="20000"/>
          </a:bodyPr>
          <a:lstStyle/>
          <a:p>
            <a:pPr indent="0" lvl="0" marL="0" marR="0" rtl="0" algn="ctr">
              <a:lnSpc>
                <a:spcPct val="100000"/>
              </a:lnSpc>
              <a:spcBef>
                <a:spcPts val="0"/>
              </a:spcBef>
              <a:spcAft>
                <a:spcPts val="0"/>
              </a:spcAft>
              <a:buClr>
                <a:schemeClr val="dk1"/>
              </a:buClr>
              <a:buSzPct val="100000"/>
              <a:buFont typeface="Calibri"/>
              <a:buNone/>
            </a:pPr>
            <a:r>
              <a:rPr b="0" i="0" lang="pt-BR" sz="4400" u="none" cap="none" strike="noStrike">
                <a:solidFill>
                  <a:schemeClr val="dk1"/>
                </a:solidFill>
                <a:latin typeface="Calibri"/>
                <a:ea typeface="Calibri"/>
                <a:cs typeface="Calibri"/>
                <a:sym typeface="Calibri"/>
              </a:rPr>
              <a:t>ESTRUTURAS DE REPETIÇÃO</a:t>
            </a:r>
            <a:endParaRPr b="0" i="0" sz="1400" u="none" cap="none" strike="noStrike">
              <a:solidFill>
                <a:srgbClr val="000000"/>
              </a:solidFill>
              <a:latin typeface="Arial"/>
              <a:ea typeface="Arial"/>
              <a:cs typeface="Arial"/>
              <a:sym typeface="Arial"/>
            </a:endParaRPr>
          </a:p>
        </p:txBody>
      </p:sp>
      <p:sp>
        <p:nvSpPr>
          <p:cNvPr id="160" name="Google Shape;160;p21"/>
          <p:cNvSpPr txBox="1"/>
          <p:nvPr>
            <p:ph idx="10" type="dt"/>
          </p:nvPr>
        </p:nvSpPr>
        <p:spPr>
          <a:xfrm>
            <a:off x="7380312" y="6512717"/>
            <a:ext cx="1727100" cy="365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14:03</a:t>
            </a:r>
            <a:endParaRPr/>
          </a:p>
        </p:txBody>
      </p:sp>
      <p:grpSp>
        <p:nvGrpSpPr>
          <p:cNvPr id="161" name="Google Shape;161;p21"/>
          <p:cNvGrpSpPr/>
          <p:nvPr/>
        </p:nvGrpSpPr>
        <p:grpSpPr>
          <a:xfrm>
            <a:off x="6775173" y="1629179"/>
            <a:ext cx="1521718" cy="1340260"/>
            <a:chOff x="6876288" y="1448053"/>
            <a:chExt cx="1678304" cy="1323975"/>
          </a:xfrm>
        </p:grpSpPr>
        <p:sp>
          <p:nvSpPr>
            <p:cNvPr id="162" name="Google Shape;162;p21"/>
            <p:cNvSpPr/>
            <p:nvPr/>
          </p:nvSpPr>
          <p:spPr>
            <a:xfrm>
              <a:off x="6876288" y="1448053"/>
              <a:ext cx="1678304" cy="1323975"/>
            </a:xfrm>
            <a:custGeom>
              <a:rect b="b" l="l" r="r" t="t"/>
              <a:pathLst>
                <a:path extrusionOk="0" h="1323975" w="1678304">
                  <a:moveTo>
                    <a:pt x="1678051" y="0"/>
                  </a:moveTo>
                  <a:lnTo>
                    <a:pt x="0" y="0"/>
                  </a:lnTo>
                  <a:lnTo>
                    <a:pt x="0" y="1323466"/>
                  </a:lnTo>
                  <a:lnTo>
                    <a:pt x="1678051" y="1323466"/>
                  </a:lnTo>
                  <a:lnTo>
                    <a:pt x="167805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Gothic"/>
                <a:ea typeface="Century Gothic"/>
                <a:cs typeface="Century Gothic"/>
                <a:sym typeface="Century Gothic"/>
              </a:endParaRPr>
            </a:p>
          </p:txBody>
        </p:sp>
        <p:sp>
          <p:nvSpPr>
            <p:cNvPr id="163" name="Google Shape;163;p21"/>
            <p:cNvSpPr/>
            <p:nvPr/>
          </p:nvSpPr>
          <p:spPr>
            <a:xfrm>
              <a:off x="6876288" y="1448053"/>
              <a:ext cx="1678304" cy="1323975"/>
            </a:xfrm>
            <a:custGeom>
              <a:rect b="b" l="l" r="r" t="t"/>
              <a:pathLst>
                <a:path extrusionOk="0" h="1323975" w="1678304">
                  <a:moveTo>
                    <a:pt x="0" y="1323466"/>
                  </a:moveTo>
                  <a:lnTo>
                    <a:pt x="1678051" y="1323466"/>
                  </a:lnTo>
                  <a:lnTo>
                    <a:pt x="1678051" y="0"/>
                  </a:lnTo>
                  <a:lnTo>
                    <a:pt x="0" y="0"/>
                  </a:lnTo>
                  <a:lnTo>
                    <a:pt x="0" y="1323466"/>
                  </a:lnTo>
                  <a:close/>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Gothic"/>
                <a:ea typeface="Century Gothic"/>
                <a:cs typeface="Century Gothic"/>
                <a:sym typeface="Century Gothic"/>
              </a:endParaRPr>
            </a:p>
          </p:txBody>
        </p:sp>
      </p:grpSp>
      <p:sp>
        <p:nvSpPr>
          <p:cNvPr id="164" name="Google Shape;164;p21"/>
          <p:cNvSpPr txBox="1"/>
          <p:nvPr/>
        </p:nvSpPr>
        <p:spPr>
          <a:xfrm>
            <a:off x="6848001" y="1641549"/>
            <a:ext cx="1422000" cy="132180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1700"/>
              <a:buFont typeface="Arial"/>
              <a:buNone/>
            </a:pPr>
            <a:r>
              <a:rPr b="0" i="0" lang="pt-BR" sz="1700" u="none" cap="none" strike="noStrike">
                <a:solidFill>
                  <a:srgbClr val="005595"/>
                </a:solidFill>
                <a:latin typeface="Calibri"/>
                <a:ea typeface="Calibri"/>
                <a:cs typeface="Calibri"/>
                <a:sym typeface="Calibri"/>
              </a:rPr>
              <a:t>x = 1</a:t>
            </a:r>
            <a:endParaRPr b="0" i="0" sz="1700" u="none" cap="none" strike="noStrike">
              <a:solidFill>
                <a:srgbClr val="000000"/>
              </a:solidFill>
              <a:latin typeface="Calibri"/>
              <a:ea typeface="Calibri"/>
              <a:cs typeface="Calibri"/>
              <a:sym typeface="Calibri"/>
            </a:endParaRPr>
          </a:p>
          <a:p>
            <a:pPr indent="0" lvl="0" marL="12700" marR="0" rtl="0" algn="l">
              <a:lnSpc>
                <a:spcPct val="100000"/>
              </a:lnSpc>
              <a:spcBef>
                <a:spcPts val="0"/>
              </a:spcBef>
              <a:spcAft>
                <a:spcPts val="0"/>
              </a:spcAft>
              <a:buClr>
                <a:srgbClr val="000000"/>
              </a:buClr>
              <a:buSzPts val="1700"/>
              <a:buFont typeface="Arial"/>
              <a:buNone/>
            </a:pPr>
            <a:r>
              <a:rPr b="0" i="0" lang="pt-BR" sz="1700" u="none" cap="none" strike="noStrike">
                <a:solidFill>
                  <a:srgbClr val="E36C09"/>
                </a:solidFill>
                <a:latin typeface="Calibri"/>
                <a:ea typeface="Calibri"/>
                <a:cs typeface="Calibri"/>
                <a:sym typeface="Calibri"/>
              </a:rPr>
              <a:t>while </a:t>
            </a:r>
            <a:r>
              <a:rPr b="0" i="0" lang="pt-BR" sz="1700" u="none" cap="none" strike="noStrike">
                <a:solidFill>
                  <a:srgbClr val="005595"/>
                </a:solidFill>
                <a:latin typeface="Calibri"/>
                <a:ea typeface="Calibri"/>
                <a:cs typeface="Calibri"/>
                <a:sym typeface="Calibri"/>
              </a:rPr>
              <a:t>(x &lt;= 3){</a:t>
            </a:r>
            <a:endParaRPr b="0" i="0" sz="1700" u="none" cap="none" strike="noStrike">
              <a:solidFill>
                <a:srgbClr val="000000"/>
              </a:solidFill>
              <a:latin typeface="Calibri"/>
              <a:ea typeface="Calibri"/>
              <a:cs typeface="Calibri"/>
              <a:sym typeface="Calibri"/>
            </a:endParaRPr>
          </a:p>
          <a:p>
            <a:pPr indent="0" lvl="0" marL="469900" marR="0" rtl="0" algn="l">
              <a:lnSpc>
                <a:spcPct val="100000"/>
              </a:lnSpc>
              <a:spcBef>
                <a:spcPts val="0"/>
              </a:spcBef>
              <a:spcAft>
                <a:spcPts val="0"/>
              </a:spcAft>
              <a:buClr>
                <a:srgbClr val="000000"/>
              </a:buClr>
              <a:buSzPts val="1700"/>
              <a:buFont typeface="Arial"/>
              <a:buNone/>
            </a:pPr>
            <a:r>
              <a:rPr b="0" i="0" lang="pt-BR" sz="1700" u="none" cap="none" strike="noStrike">
                <a:solidFill>
                  <a:srgbClr val="005595"/>
                </a:solidFill>
                <a:latin typeface="Calibri"/>
                <a:ea typeface="Calibri"/>
                <a:cs typeface="Calibri"/>
                <a:sym typeface="Calibri"/>
              </a:rPr>
              <a:t>cout &lt;&lt; x;</a:t>
            </a:r>
            <a:endParaRPr b="0" i="0" sz="1700" u="none" cap="none" strike="noStrike">
              <a:solidFill>
                <a:srgbClr val="000000"/>
              </a:solidFill>
              <a:latin typeface="Calibri"/>
              <a:ea typeface="Calibri"/>
              <a:cs typeface="Calibri"/>
              <a:sym typeface="Calibri"/>
            </a:endParaRPr>
          </a:p>
          <a:p>
            <a:pPr indent="0" lvl="0" marL="469900" marR="0" rtl="0" algn="l">
              <a:lnSpc>
                <a:spcPct val="100000"/>
              </a:lnSpc>
              <a:spcBef>
                <a:spcPts val="0"/>
              </a:spcBef>
              <a:spcAft>
                <a:spcPts val="0"/>
              </a:spcAft>
              <a:buClr>
                <a:srgbClr val="000000"/>
              </a:buClr>
              <a:buSzPts val="1700"/>
              <a:buFont typeface="Arial"/>
              <a:buNone/>
            </a:pPr>
            <a:r>
              <a:rPr b="0" i="0" lang="pt-BR" sz="1700" u="none" cap="none" strike="noStrike">
                <a:solidFill>
                  <a:srgbClr val="005595"/>
                </a:solidFill>
                <a:latin typeface="Calibri"/>
                <a:ea typeface="Calibri"/>
                <a:cs typeface="Calibri"/>
                <a:sym typeface="Calibri"/>
              </a:rPr>
              <a:t>x = x + 1;</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pt-BR" sz="1700" u="none" cap="none" strike="noStrike">
                <a:solidFill>
                  <a:srgbClr val="005595"/>
                </a:solidFill>
                <a:latin typeface="Calibri"/>
                <a:ea typeface="Calibri"/>
                <a:cs typeface="Calibri"/>
                <a:sym typeface="Calibri"/>
              </a:rPr>
              <a:t>}</a:t>
            </a:r>
            <a:endParaRPr b="0" i="0" sz="1700" u="none" cap="none" strike="noStrike">
              <a:solidFill>
                <a:srgbClr val="000000"/>
              </a:solidFill>
              <a:latin typeface="Calibri"/>
              <a:ea typeface="Calibri"/>
              <a:cs typeface="Calibri"/>
              <a:sym typeface="Calibri"/>
            </a:endParaRPr>
          </a:p>
        </p:txBody>
      </p:sp>
      <p:sp>
        <p:nvSpPr>
          <p:cNvPr id="165" name="Google Shape;165;p21"/>
          <p:cNvSpPr/>
          <p:nvPr/>
        </p:nvSpPr>
        <p:spPr>
          <a:xfrm>
            <a:off x="1878438" y="2214303"/>
            <a:ext cx="3724961" cy="2655587"/>
          </a:xfrm>
          <a:custGeom>
            <a:rect b="b" l="l" r="r" t="t"/>
            <a:pathLst>
              <a:path extrusionOk="0" h="3096895" w="4104640">
                <a:moveTo>
                  <a:pt x="1152131" y="2448293"/>
                </a:moveTo>
                <a:lnTo>
                  <a:pt x="0" y="2448293"/>
                </a:lnTo>
                <a:lnTo>
                  <a:pt x="0" y="3096361"/>
                </a:lnTo>
                <a:lnTo>
                  <a:pt x="1152131" y="3096361"/>
                </a:lnTo>
                <a:lnTo>
                  <a:pt x="1152131" y="2448293"/>
                </a:lnTo>
                <a:close/>
              </a:path>
              <a:path extrusionOk="0" h="3096895" w="4104640">
                <a:moveTo>
                  <a:pt x="3816464" y="0"/>
                </a:moveTo>
                <a:lnTo>
                  <a:pt x="2664333" y="0"/>
                </a:lnTo>
                <a:lnTo>
                  <a:pt x="2664333" y="648055"/>
                </a:lnTo>
                <a:lnTo>
                  <a:pt x="3816464" y="648055"/>
                </a:lnTo>
                <a:lnTo>
                  <a:pt x="3816464" y="0"/>
                </a:lnTo>
                <a:close/>
              </a:path>
              <a:path extrusionOk="0" h="3096895" w="4104640">
                <a:moveTo>
                  <a:pt x="4104551" y="2808338"/>
                </a:moveTo>
                <a:lnTo>
                  <a:pt x="2977642" y="2808338"/>
                </a:lnTo>
                <a:lnTo>
                  <a:pt x="2977642" y="3024352"/>
                </a:lnTo>
                <a:lnTo>
                  <a:pt x="4104551" y="3024352"/>
                </a:lnTo>
                <a:lnTo>
                  <a:pt x="4104551" y="2808338"/>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Gothic"/>
              <a:ea typeface="Century Gothic"/>
              <a:cs typeface="Century Gothic"/>
              <a:sym typeface="Century Gothic"/>
            </a:endParaRPr>
          </a:p>
        </p:txBody>
      </p:sp>
      <p:pic>
        <p:nvPicPr>
          <p:cNvPr id="166" name="Google Shape;166;p21"/>
          <p:cNvPicPr preferRelativeResize="0"/>
          <p:nvPr/>
        </p:nvPicPr>
        <p:blipFill rotWithShape="1">
          <a:blip r:embed="rId3">
            <a:alphaModFix/>
          </a:blip>
          <a:srcRect b="0" l="0" r="0" t="0"/>
          <a:stretch/>
        </p:blipFill>
        <p:spPr>
          <a:xfrm>
            <a:off x="964376" y="2090841"/>
            <a:ext cx="7769224" cy="3722165"/>
          </a:xfrm>
          <a:prstGeom prst="rect">
            <a:avLst/>
          </a:prstGeom>
          <a:noFill/>
          <a:ln>
            <a:noFill/>
          </a:ln>
        </p:spPr>
      </p:pic>
      <p:pic>
        <p:nvPicPr>
          <p:cNvPr id="167" name="Google Shape;167;p21"/>
          <p:cNvPicPr preferRelativeResize="0"/>
          <p:nvPr/>
        </p:nvPicPr>
        <p:blipFill rotWithShape="1">
          <a:blip r:embed="rId4">
            <a:alphaModFix/>
          </a:blip>
          <a:srcRect b="0" l="0" r="0" t="0"/>
          <a:stretch/>
        </p:blipFill>
        <p:spPr>
          <a:xfrm>
            <a:off x="1514660" y="2875957"/>
            <a:ext cx="1709375" cy="1033336"/>
          </a:xfrm>
          <a:prstGeom prst="rect">
            <a:avLst/>
          </a:prstGeom>
          <a:noFill/>
          <a:ln>
            <a:noFill/>
          </a:ln>
        </p:spPr>
      </p:pic>
      <p:pic>
        <p:nvPicPr>
          <p:cNvPr id="168" name="Google Shape;168;p21"/>
          <p:cNvPicPr preferRelativeResize="0"/>
          <p:nvPr/>
        </p:nvPicPr>
        <p:blipFill rotWithShape="1">
          <a:blip r:embed="rId5">
            <a:alphaModFix/>
          </a:blip>
          <a:srcRect b="0" l="0" r="0" t="0"/>
          <a:stretch/>
        </p:blipFill>
        <p:spPr>
          <a:xfrm>
            <a:off x="1551971" y="2958257"/>
            <a:ext cx="1421944" cy="582639"/>
          </a:xfrm>
          <a:prstGeom prst="rect">
            <a:avLst/>
          </a:prstGeom>
          <a:noFill/>
          <a:ln>
            <a:noFill/>
          </a:ln>
        </p:spPr>
      </p:pic>
      <p:pic>
        <p:nvPicPr>
          <p:cNvPr id="169" name="Google Shape;169;p21"/>
          <p:cNvPicPr preferRelativeResize="0"/>
          <p:nvPr/>
        </p:nvPicPr>
        <p:blipFill rotWithShape="1">
          <a:blip r:embed="rId6">
            <a:alphaModFix/>
          </a:blip>
          <a:srcRect b="0" l="0" r="0" t="0"/>
          <a:stretch/>
        </p:blipFill>
        <p:spPr>
          <a:xfrm>
            <a:off x="1766161" y="3271785"/>
            <a:ext cx="931381" cy="582639"/>
          </a:xfrm>
          <a:prstGeom prst="rect">
            <a:avLst/>
          </a:prstGeom>
          <a:noFill/>
          <a:ln>
            <a:noFill/>
          </a:ln>
        </p:spPr>
      </p:pic>
      <p:sp>
        <p:nvSpPr>
          <p:cNvPr id="170" name="Google Shape;170;p21"/>
          <p:cNvSpPr txBox="1"/>
          <p:nvPr/>
        </p:nvSpPr>
        <p:spPr>
          <a:xfrm>
            <a:off x="1713997" y="3015519"/>
            <a:ext cx="1016400" cy="659400"/>
          </a:xfrm>
          <a:prstGeom prst="rect">
            <a:avLst/>
          </a:prstGeom>
          <a:noFill/>
          <a:ln>
            <a:noFill/>
          </a:ln>
        </p:spPr>
        <p:txBody>
          <a:bodyPr anchorCtr="0" anchor="t" bIns="0" lIns="0" spcFirstLastPara="1" rIns="0" wrap="square" tIns="12700">
            <a:spAutoFit/>
          </a:bodyPr>
          <a:lstStyle/>
          <a:p>
            <a:pPr indent="-236220" lvl="0" marL="248920" marR="5080" rtl="0" algn="l">
              <a:lnSpc>
                <a:spcPct val="100000"/>
              </a:lnSpc>
              <a:spcBef>
                <a:spcPts val="0"/>
              </a:spcBef>
              <a:spcAft>
                <a:spcPts val="0"/>
              </a:spcAft>
              <a:buClr>
                <a:srgbClr val="000000"/>
              </a:buClr>
              <a:buSzPts val="2100"/>
              <a:buFont typeface="Arial"/>
              <a:buNone/>
            </a:pPr>
            <a:r>
              <a:rPr b="1" i="0" lang="pt-BR" sz="2100" u="none" cap="none" strike="noStrike">
                <a:solidFill>
                  <a:srgbClr val="FFFFFF"/>
                </a:solidFill>
                <a:latin typeface="Calibri"/>
                <a:ea typeface="Calibri"/>
                <a:cs typeface="Calibri"/>
                <a:sym typeface="Calibri"/>
              </a:rPr>
              <a:t>Bloco do  Loop</a:t>
            </a:r>
            <a:endParaRPr b="0" i="0" sz="2100" u="none" cap="none" strike="noStrike">
              <a:solidFill>
                <a:srgbClr val="000000"/>
              </a:solidFill>
              <a:latin typeface="Calibri"/>
              <a:ea typeface="Calibri"/>
              <a:cs typeface="Calibri"/>
              <a:sym typeface="Calibri"/>
            </a:endParaRPr>
          </a:p>
        </p:txBody>
      </p:sp>
      <p:sp>
        <p:nvSpPr>
          <p:cNvPr id="171" name="Google Shape;171;p21"/>
          <p:cNvSpPr txBox="1"/>
          <p:nvPr/>
        </p:nvSpPr>
        <p:spPr>
          <a:xfrm>
            <a:off x="1260489" y="5687344"/>
            <a:ext cx="3176700" cy="505500"/>
          </a:xfrm>
          <a:prstGeom prst="rect">
            <a:avLst/>
          </a:prstGeom>
          <a:noFill/>
          <a:ln>
            <a:noFill/>
          </a:ln>
        </p:spPr>
        <p:txBody>
          <a:bodyPr anchorCtr="0" anchor="t" bIns="0" lIns="0" spcFirstLastPara="1" rIns="0" wrap="square" tIns="12700">
            <a:sp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Calibri"/>
                <a:ea typeface="Calibri"/>
                <a:cs typeface="Calibri"/>
                <a:sym typeface="Calibri"/>
              </a:rPr>
              <a:t>Ao chegar pela primeira vez no while,</a:t>
            </a:r>
            <a:endParaRPr b="0" i="0" sz="16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Calibri"/>
                <a:ea typeface="Calibri"/>
                <a:cs typeface="Calibri"/>
                <a:sym typeface="Calibri"/>
              </a:rPr>
              <a:t>o computador verifica a condição</a:t>
            </a:r>
            <a:endParaRPr b="0" i="0" sz="1600" u="none" cap="none" strike="noStrike">
              <a:solidFill>
                <a:srgbClr val="000000"/>
              </a:solidFill>
              <a:latin typeface="Calibri"/>
              <a:ea typeface="Calibri"/>
              <a:cs typeface="Calibri"/>
              <a:sym typeface="Calibri"/>
            </a:endParaRPr>
          </a:p>
        </p:txBody>
      </p:sp>
      <p:sp>
        <p:nvSpPr>
          <p:cNvPr id="172" name="Google Shape;172;p21"/>
          <p:cNvSpPr/>
          <p:nvPr/>
        </p:nvSpPr>
        <p:spPr>
          <a:xfrm>
            <a:off x="4356939" y="5586993"/>
            <a:ext cx="422976" cy="419275"/>
          </a:xfrm>
          <a:custGeom>
            <a:rect b="b" l="l" r="r" t="t"/>
            <a:pathLst>
              <a:path extrusionOk="0" h="488950" w="466089">
                <a:moveTo>
                  <a:pt x="416469" y="70229"/>
                </a:moveTo>
                <a:lnTo>
                  <a:pt x="395477" y="141503"/>
                </a:lnTo>
                <a:lnTo>
                  <a:pt x="379856" y="186537"/>
                </a:lnTo>
                <a:lnTo>
                  <a:pt x="362457" y="228866"/>
                </a:lnTo>
                <a:lnTo>
                  <a:pt x="343026" y="267944"/>
                </a:lnTo>
                <a:lnTo>
                  <a:pt x="320928" y="303110"/>
                </a:lnTo>
                <a:lnTo>
                  <a:pt x="296037" y="333883"/>
                </a:lnTo>
                <a:lnTo>
                  <a:pt x="267715" y="360172"/>
                </a:lnTo>
                <a:lnTo>
                  <a:pt x="236092" y="382473"/>
                </a:lnTo>
                <a:lnTo>
                  <a:pt x="201549" y="401345"/>
                </a:lnTo>
                <a:lnTo>
                  <a:pt x="164464" y="417347"/>
                </a:lnTo>
                <a:lnTo>
                  <a:pt x="125349" y="430999"/>
                </a:lnTo>
                <a:lnTo>
                  <a:pt x="84581" y="442899"/>
                </a:lnTo>
                <a:lnTo>
                  <a:pt x="42671" y="453707"/>
                </a:lnTo>
                <a:lnTo>
                  <a:pt x="0" y="463892"/>
                </a:lnTo>
                <a:lnTo>
                  <a:pt x="5968" y="488594"/>
                </a:lnTo>
                <a:lnTo>
                  <a:pt x="48513" y="478409"/>
                </a:lnTo>
                <a:lnTo>
                  <a:pt x="90931" y="467499"/>
                </a:lnTo>
                <a:lnTo>
                  <a:pt x="132461" y="455383"/>
                </a:lnTo>
                <a:lnTo>
                  <a:pt x="173227" y="441236"/>
                </a:lnTo>
                <a:lnTo>
                  <a:pt x="211962" y="424472"/>
                </a:lnTo>
                <a:lnTo>
                  <a:pt x="248792" y="404482"/>
                </a:lnTo>
                <a:lnTo>
                  <a:pt x="282955" y="380479"/>
                </a:lnTo>
                <a:lnTo>
                  <a:pt x="313943" y="351904"/>
                </a:lnTo>
                <a:lnTo>
                  <a:pt x="341121" y="318477"/>
                </a:lnTo>
                <a:lnTo>
                  <a:pt x="364870" y="280885"/>
                </a:lnTo>
                <a:lnTo>
                  <a:pt x="385444" y="239763"/>
                </a:lnTo>
                <a:lnTo>
                  <a:pt x="403478" y="195795"/>
                </a:lnTo>
                <a:lnTo>
                  <a:pt x="419607" y="149567"/>
                </a:lnTo>
                <a:lnTo>
                  <a:pt x="434213" y="101714"/>
                </a:lnTo>
                <a:lnTo>
                  <a:pt x="441038" y="76845"/>
                </a:lnTo>
                <a:lnTo>
                  <a:pt x="416469" y="70229"/>
                </a:lnTo>
                <a:close/>
              </a:path>
              <a:path extrusionOk="0" h="488950" w="466089">
                <a:moveTo>
                  <a:pt x="460497" y="57924"/>
                </a:moveTo>
                <a:lnTo>
                  <a:pt x="419862" y="57924"/>
                </a:lnTo>
                <a:lnTo>
                  <a:pt x="444373" y="64693"/>
                </a:lnTo>
                <a:lnTo>
                  <a:pt x="441038" y="76845"/>
                </a:lnTo>
                <a:lnTo>
                  <a:pt x="465708" y="83489"/>
                </a:lnTo>
                <a:lnTo>
                  <a:pt x="460497" y="57924"/>
                </a:lnTo>
                <a:close/>
              </a:path>
              <a:path extrusionOk="0" h="488950" w="466089">
                <a:moveTo>
                  <a:pt x="419862" y="57924"/>
                </a:moveTo>
                <a:lnTo>
                  <a:pt x="416469" y="70229"/>
                </a:lnTo>
                <a:lnTo>
                  <a:pt x="441038" y="76845"/>
                </a:lnTo>
                <a:lnTo>
                  <a:pt x="444373" y="64693"/>
                </a:lnTo>
                <a:lnTo>
                  <a:pt x="419862" y="57924"/>
                </a:lnTo>
                <a:close/>
              </a:path>
              <a:path extrusionOk="0" h="488950" w="466089">
                <a:moveTo>
                  <a:pt x="448690" y="0"/>
                </a:moveTo>
                <a:lnTo>
                  <a:pt x="392049" y="63652"/>
                </a:lnTo>
                <a:lnTo>
                  <a:pt x="416469" y="70229"/>
                </a:lnTo>
                <a:lnTo>
                  <a:pt x="419862" y="57924"/>
                </a:lnTo>
                <a:lnTo>
                  <a:pt x="460497" y="57924"/>
                </a:lnTo>
                <a:lnTo>
                  <a:pt x="448690" y="0"/>
                </a:lnTo>
                <a:close/>
              </a:path>
            </a:pathLst>
          </a:custGeom>
          <a:solidFill>
            <a:srgbClr val="FF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Gothic"/>
              <a:ea typeface="Century Gothic"/>
              <a:cs typeface="Century Gothic"/>
              <a:sym typeface="Century Gothic"/>
            </a:endParaRPr>
          </a:p>
        </p:txBody>
      </p:sp>
      <p:sp>
        <p:nvSpPr>
          <p:cNvPr id="173" name="Google Shape;173;p21"/>
          <p:cNvSpPr txBox="1"/>
          <p:nvPr/>
        </p:nvSpPr>
        <p:spPr>
          <a:xfrm>
            <a:off x="6143239" y="5687344"/>
            <a:ext cx="2419800" cy="5361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Calibri"/>
                <a:ea typeface="Calibri"/>
                <a:cs typeface="Calibri"/>
                <a:sym typeface="Calibri"/>
              </a:rPr>
              <a:t>Ao fim do bloco, o programa</a:t>
            </a:r>
            <a:endParaRPr b="0" i="0" sz="1600" u="none" cap="none" strike="noStrike">
              <a:solidFill>
                <a:srgbClr val="000000"/>
              </a:solidFill>
              <a:latin typeface="Calibri"/>
              <a:ea typeface="Calibri"/>
              <a:cs typeface="Calibri"/>
              <a:sym typeface="Calibri"/>
            </a:endParaRPr>
          </a:p>
          <a:p>
            <a:pPr indent="0" lvl="0" marL="9906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Calibri"/>
                <a:ea typeface="Calibri"/>
                <a:cs typeface="Calibri"/>
                <a:sym typeface="Calibri"/>
              </a:rPr>
              <a:t>volta a verificar a </a:t>
            </a:r>
            <a:r>
              <a:rPr b="0" i="0" lang="pt-BR" sz="1800" u="none" cap="none" strike="noStrike">
                <a:solidFill>
                  <a:srgbClr val="000000"/>
                </a:solidFill>
                <a:latin typeface="Calibri"/>
                <a:ea typeface="Calibri"/>
                <a:cs typeface="Calibri"/>
                <a:sym typeface="Calibri"/>
              </a:rPr>
              <a:t>condição</a:t>
            </a:r>
            <a:endParaRPr b="0" i="0" sz="1800" u="none" cap="none" strike="noStrike">
              <a:solidFill>
                <a:srgbClr val="000000"/>
              </a:solidFill>
              <a:latin typeface="Calibri"/>
              <a:ea typeface="Calibri"/>
              <a:cs typeface="Calibri"/>
              <a:sym typeface="Calibri"/>
            </a:endParaRPr>
          </a:p>
        </p:txBody>
      </p:sp>
      <p:sp>
        <p:nvSpPr>
          <p:cNvPr id="174" name="Google Shape;174;p21"/>
          <p:cNvSpPr/>
          <p:nvPr/>
        </p:nvSpPr>
        <p:spPr>
          <a:xfrm>
            <a:off x="5208403" y="3950334"/>
            <a:ext cx="2500403" cy="2056624"/>
          </a:xfrm>
          <a:custGeom>
            <a:rect b="b" l="l" r="r" t="t"/>
            <a:pathLst>
              <a:path extrusionOk="0" h="2398395" w="2755265">
                <a:moveTo>
                  <a:pt x="1023112" y="2372931"/>
                </a:moveTo>
                <a:lnTo>
                  <a:pt x="828929" y="2351900"/>
                </a:lnTo>
                <a:lnTo>
                  <a:pt x="734695" y="2339924"/>
                </a:lnTo>
                <a:lnTo>
                  <a:pt x="688848" y="2333180"/>
                </a:lnTo>
                <a:lnTo>
                  <a:pt x="643763" y="2326068"/>
                </a:lnTo>
                <a:lnTo>
                  <a:pt x="599948" y="2318207"/>
                </a:lnTo>
                <a:lnTo>
                  <a:pt x="557149" y="2309761"/>
                </a:lnTo>
                <a:lnTo>
                  <a:pt x="515874" y="2300503"/>
                </a:lnTo>
                <a:lnTo>
                  <a:pt x="476123" y="2290483"/>
                </a:lnTo>
                <a:lnTo>
                  <a:pt x="437896" y="2279535"/>
                </a:lnTo>
                <a:lnTo>
                  <a:pt x="401574" y="2267585"/>
                </a:lnTo>
                <a:lnTo>
                  <a:pt x="334772" y="2240559"/>
                </a:lnTo>
                <a:lnTo>
                  <a:pt x="276225" y="2209114"/>
                </a:lnTo>
                <a:lnTo>
                  <a:pt x="225044" y="2173516"/>
                </a:lnTo>
                <a:lnTo>
                  <a:pt x="180086" y="2134285"/>
                </a:lnTo>
                <a:lnTo>
                  <a:pt x="140335" y="2091982"/>
                </a:lnTo>
                <a:lnTo>
                  <a:pt x="104394" y="2047087"/>
                </a:lnTo>
                <a:lnTo>
                  <a:pt x="71628" y="2000173"/>
                </a:lnTo>
                <a:lnTo>
                  <a:pt x="50927" y="1967433"/>
                </a:lnTo>
                <a:lnTo>
                  <a:pt x="68503" y="1956574"/>
                </a:lnTo>
                <a:lnTo>
                  <a:pt x="72390" y="1954174"/>
                </a:lnTo>
                <a:lnTo>
                  <a:pt x="0" y="1909318"/>
                </a:lnTo>
                <a:lnTo>
                  <a:pt x="7620" y="1994179"/>
                </a:lnTo>
                <a:lnTo>
                  <a:pt x="29324" y="1980780"/>
                </a:lnTo>
                <a:lnTo>
                  <a:pt x="50673" y="2014474"/>
                </a:lnTo>
                <a:lnTo>
                  <a:pt x="84328" y="2062619"/>
                </a:lnTo>
                <a:lnTo>
                  <a:pt x="121412" y="2108974"/>
                </a:lnTo>
                <a:lnTo>
                  <a:pt x="162941" y="2152980"/>
                </a:lnTo>
                <a:lnTo>
                  <a:pt x="210058" y="2193937"/>
                </a:lnTo>
                <a:lnTo>
                  <a:pt x="263525" y="2231123"/>
                </a:lnTo>
                <a:lnTo>
                  <a:pt x="324612" y="2263864"/>
                </a:lnTo>
                <a:lnTo>
                  <a:pt x="393573" y="2291715"/>
                </a:lnTo>
                <a:lnTo>
                  <a:pt x="430911" y="2303957"/>
                </a:lnTo>
                <a:lnTo>
                  <a:pt x="469900" y="2315108"/>
                </a:lnTo>
                <a:lnTo>
                  <a:pt x="510286" y="2325281"/>
                </a:lnTo>
                <a:lnTo>
                  <a:pt x="552323" y="2334691"/>
                </a:lnTo>
                <a:lnTo>
                  <a:pt x="595503" y="2343200"/>
                </a:lnTo>
                <a:lnTo>
                  <a:pt x="639826" y="2351151"/>
                </a:lnTo>
                <a:lnTo>
                  <a:pt x="685038" y="2358313"/>
                </a:lnTo>
                <a:lnTo>
                  <a:pt x="731393" y="2365108"/>
                </a:lnTo>
                <a:lnTo>
                  <a:pt x="826135" y="2377135"/>
                </a:lnTo>
                <a:lnTo>
                  <a:pt x="1020572" y="2398191"/>
                </a:lnTo>
                <a:lnTo>
                  <a:pt x="1023112" y="2372931"/>
                </a:lnTo>
                <a:close/>
              </a:path>
              <a:path extrusionOk="0" h="2398395" w="2755265">
                <a:moveTo>
                  <a:pt x="2754757" y="10541"/>
                </a:moveTo>
                <a:lnTo>
                  <a:pt x="2731643" y="0"/>
                </a:lnTo>
                <a:lnTo>
                  <a:pt x="2707132" y="53721"/>
                </a:lnTo>
                <a:lnTo>
                  <a:pt x="2694432" y="80137"/>
                </a:lnTo>
                <a:lnTo>
                  <a:pt x="2667381" y="132334"/>
                </a:lnTo>
                <a:lnTo>
                  <a:pt x="2636774" y="182753"/>
                </a:lnTo>
                <a:lnTo>
                  <a:pt x="2601341" y="230759"/>
                </a:lnTo>
                <a:lnTo>
                  <a:pt x="2559431" y="276098"/>
                </a:lnTo>
                <a:lnTo>
                  <a:pt x="2523109" y="307975"/>
                </a:lnTo>
                <a:lnTo>
                  <a:pt x="2481453" y="338074"/>
                </a:lnTo>
                <a:lnTo>
                  <a:pt x="2434082" y="365760"/>
                </a:lnTo>
                <a:lnTo>
                  <a:pt x="2398903" y="383032"/>
                </a:lnTo>
                <a:lnTo>
                  <a:pt x="2360930" y="399161"/>
                </a:lnTo>
                <a:lnTo>
                  <a:pt x="2320163" y="414274"/>
                </a:lnTo>
                <a:lnTo>
                  <a:pt x="2254377" y="435356"/>
                </a:lnTo>
                <a:lnTo>
                  <a:pt x="2207387" y="448310"/>
                </a:lnTo>
                <a:lnTo>
                  <a:pt x="2158492" y="460502"/>
                </a:lnTo>
                <a:lnTo>
                  <a:pt x="2107692" y="471932"/>
                </a:lnTo>
                <a:lnTo>
                  <a:pt x="2055241" y="482727"/>
                </a:lnTo>
                <a:lnTo>
                  <a:pt x="1945894" y="502793"/>
                </a:lnTo>
                <a:lnTo>
                  <a:pt x="1832102" y="520827"/>
                </a:lnTo>
                <a:lnTo>
                  <a:pt x="1672158" y="543979"/>
                </a:lnTo>
                <a:lnTo>
                  <a:pt x="1668653" y="518795"/>
                </a:lnTo>
                <a:lnTo>
                  <a:pt x="1598422" y="567055"/>
                </a:lnTo>
                <a:lnTo>
                  <a:pt x="1679194" y="594233"/>
                </a:lnTo>
                <a:lnTo>
                  <a:pt x="1675917" y="570865"/>
                </a:lnTo>
                <a:lnTo>
                  <a:pt x="1675676" y="569112"/>
                </a:lnTo>
                <a:lnTo>
                  <a:pt x="1836039" y="545973"/>
                </a:lnTo>
                <a:lnTo>
                  <a:pt x="1950339" y="527685"/>
                </a:lnTo>
                <a:lnTo>
                  <a:pt x="2005965" y="517906"/>
                </a:lnTo>
                <a:lnTo>
                  <a:pt x="2060321" y="507619"/>
                </a:lnTo>
                <a:lnTo>
                  <a:pt x="2113407" y="496824"/>
                </a:lnTo>
                <a:lnTo>
                  <a:pt x="2164715" y="485140"/>
                </a:lnTo>
                <a:lnTo>
                  <a:pt x="2214118" y="472821"/>
                </a:lnTo>
                <a:lnTo>
                  <a:pt x="2261616" y="459613"/>
                </a:lnTo>
                <a:lnTo>
                  <a:pt x="2307082" y="445643"/>
                </a:lnTo>
                <a:lnTo>
                  <a:pt x="2350008" y="430657"/>
                </a:lnTo>
                <a:lnTo>
                  <a:pt x="2390521" y="414528"/>
                </a:lnTo>
                <a:lnTo>
                  <a:pt x="2428494" y="397256"/>
                </a:lnTo>
                <a:lnTo>
                  <a:pt x="2463419" y="378714"/>
                </a:lnTo>
                <a:lnTo>
                  <a:pt x="2510790" y="348869"/>
                </a:lnTo>
                <a:lnTo>
                  <a:pt x="2552700" y="316484"/>
                </a:lnTo>
                <a:lnTo>
                  <a:pt x="2600325" y="270510"/>
                </a:lnTo>
                <a:lnTo>
                  <a:pt x="2640584" y="221615"/>
                </a:lnTo>
                <a:lnTo>
                  <a:pt x="2674493" y="170434"/>
                </a:lnTo>
                <a:lnTo>
                  <a:pt x="2703957" y="117856"/>
                </a:lnTo>
                <a:lnTo>
                  <a:pt x="2730119" y="64262"/>
                </a:lnTo>
                <a:lnTo>
                  <a:pt x="2754757" y="10541"/>
                </a:lnTo>
                <a:close/>
              </a:path>
            </a:pathLst>
          </a:custGeom>
          <a:solidFill>
            <a:srgbClr val="FF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Gothic"/>
              <a:ea typeface="Century Gothic"/>
              <a:cs typeface="Century Gothic"/>
              <a:sym typeface="Century Gothic"/>
            </a:endParaRPr>
          </a:p>
        </p:txBody>
      </p:sp>
      <p:sp>
        <p:nvSpPr>
          <p:cNvPr id="175" name="Google Shape;175;p21"/>
          <p:cNvSpPr txBox="1"/>
          <p:nvPr/>
        </p:nvSpPr>
        <p:spPr>
          <a:xfrm>
            <a:off x="6831640" y="3156171"/>
            <a:ext cx="1727400" cy="843900"/>
          </a:xfrm>
          <a:prstGeom prst="rect">
            <a:avLst/>
          </a:prstGeom>
          <a:noFill/>
          <a:ln>
            <a:noFill/>
          </a:ln>
        </p:spPr>
        <p:txBody>
          <a:bodyPr anchorCtr="0" anchor="t" bIns="0" lIns="0" spcFirstLastPara="1" rIns="0" wrap="square" tIns="12700">
            <a:spAutoFit/>
          </a:bodyPr>
          <a:lstStyle/>
          <a:p>
            <a:pPr indent="1905" lvl="0" marL="12065" marR="5080" rtl="0" algn="ctr">
              <a:lnSpc>
                <a:spcPct val="100000"/>
              </a:lnSpc>
              <a:spcBef>
                <a:spcPts val="0"/>
              </a:spcBef>
              <a:spcAft>
                <a:spcPts val="0"/>
              </a:spcAft>
              <a:buClr>
                <a:srgbClr val="000000"/>
              </a:buClr>
              <a:buSzPts val="1800"/>
              <a:buFont typeface="Arial"/>
              <a:buNone/>
            </a:pPr>
            <a:r>
              <a:rPr b="0" i="0" lang="pt-BR" sz="1800" u="none" cap="none" strike="noStrike">
                <a:solidFill>
                  <a:srgbClr val="000000"/>
                </a:solidFill>
                <a:latin typeface="Calibri"/>
                <a:ea typeface="Calibri"/>
                <a:cs typeface="Calibri"/>
                <a:sym typeface="Calibri"/>
              </a:rPr>
              <a:t>Se a condição é  verdadeira, ele sobe  no looping</a:t>
            </a:r>
            <a:endParaRPr b="0" i="0" sz="1800" u="none" cap="none" strike="noStrike">
              <a:solidFill>
                <a:srgbClr val="000000"/>
              </a:solidFill>
              <a:latin typeface="Calibri"/>
              <a:ea typeface="Calibri"/>
              <a:cs typeface="Calibri"/>
              <a:sym typeface="Calibri"/>
            </a:endParaRPr>
          </a:p>
        </p:txBody>
      </p:sp>
      <p:sp>
        <p:nvSpPr>
          <p:cNvPr id="176" name="Google Shape;176;p21"/>
          <p:cNvSpPr/>
          <p:nvPr/>
        </p:nvSpPr>
        <p:spPr>
          <a:xfrm>
            <a:off x="4343300" y="2256630"/>
            <a:ext cx="925200" cy="505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i="0" lang="pt-BR" sz="1050" u="none" cap="none" strike="noStrike">
                <a:solidFill>
                  <a:srgbClr val="000000"/>
                </a:solidFill>
                <a:latin typeface="Arial Black"/>
                <a:ea typeface="Arial Black"/>
                <a:cs typeface="Arial Black"/>
                <a:sym typeface="Arial Black"/>
              </a:rPr>
              <a:t>cout &lt;&lt; x</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50"/>
              <a:buFont typeface="Arial"/>
              <a:buNone/>
            </a:pPr>
            <a:r>
              <a:rPr b="1" i="0" lang="pt-BR" sz="1050" u="none" cap="none" strike="noStrike">
                <a:solidFill>
                  <a:srgbClr val="000000"/>
                </a:solidFill>
                <a:latin typeface="Arial Black"/>
                <a:ea typeface="Arial Black"/>
                <a:cs typeface="Arial Black"/>
                <a:sym typeface="Arial Black"/>
              </a:rPr>
              <a:t>x = x + 1</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2"/>
          <p:cNvSpPr txBox="1"/>
          <p:nvPr/>
        </p:nvSpPr>
        <p:spPr>
          <a:xfrm>
            <a:off x="867884" y="1585800"/>
            <a:ext cx="7841700" cy="472350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254000" lvl="0" marL="457200" marR="0" rtl="0" algn="l">
              <a:lnSpc>
                <a:spcPct val="100000"/>
              </a:lnSpc>
              <a:spcBef>
                <a:spcPts val="0"/>
              </a:spcBef>
              <a:spcAft>
                <a:spcPts val="0"/>
              </a:spcAft>
              <a:buClr>
                <a:schemeClr val="dk1"/>
              </a:buClr>
              <a:buSzPts val="3200"/>
              <a:buFont typeface="Noto Sans Symbols"/>
              <a:buNone/>
            </a:pPr>
            <a:r>
              <a:t/>
            </a:r>
            <a:endParaRPr b="0" i="0" sz="1400" u="none" cap="none" strike="noStrike">
              <a:solidFill>
                <a:srgbClr val="000000"/>
              </a:solidFill>
              <a:latin typeface="Arial"/>
              <a:ea typeface="Arial"/>
              <a:cs typeface="Arial"/>
              <a:sym typeface="Arial"/>
            </a:endParaRPr>
          </a:p>
          <a:p>
            <a:pPr indent="-254000" lvl="0" marL="4572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183" name="Google Shape;183;p22"/>
          <p:cNvSpPr txBox="1"/>
          <p:nvPr/>
        </p:nvSpPr>
        <p:spPr>
          <a:xfrm>
            <a:off x="3394788" y="204998"/>
            <a:ext cx="5338800"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fontScale="92500" lnSpcReduction="20000"/>
          </a:bodyPr>
          <a:lstStyle/>
          <a:p>
            <a:pPr indent="0" lvl="0" marL="0" marR="0" rtl="0" algn="ctr">
              <a:lnSpc>
                <a:spcPct val="100000"/>
              </a:lnSpc>
              <a:spcBef>
                <a:spcPts val="0"/>
              </a:spcBef>
              <a:spcAft>
                <a:spcPts val="0"/>
              </a:spcAft>
              <a:buClr>
                <a:schemeClr val="dk1"/>
              </a:buClr>
              <a:buSzPct val="100000"/>
              <a:buFont typeface="Calibri"/>
              <a:buNone/>
            </a:pPr>
            <a:r>
              <a:rPr b="0" i="0" lang="pt-BR" sz="4400" u="none" cap="none" strike="noStrike">
                <a:solidFill>
                  <a:schemeClr val="dk1"/>
                </a:solidFill>
                <a:latin typeface="Calibri"/>
                <a:ea typeface="Calibri"/>
                <a:cs typeface="Calibri"/>
                <a:sym typeface="Calibri"/>
              </a:rPr>
              <a:t>ESTRUTURAS DE REPETIÇÃO</a:t>
            </a:r>
            <a:endParaRPr b="0" i="0" sz="1400" u="none" cap="none" strike="noStrike">
              <a:solidFill>
                <a:srgbClr val="000000"/>
              </a:solidFill>
              <a:latin typeface="Arial"/>
              <a:ea typeface="Arial"/>
              <a:cs typeface="Arial"/>
              <a:sym typeface="Arial"/>
            </a:endParaRPr>
          </a:p>
        </p:txBody>
      </p:sp>
      <p:sp>
        <p:nvSpPr>
          <p:cNvPr id="184" name="Google Shape;184;p22"/>
          <p:cNvSpPr txBox="1"/>
          <p:nvPr>
            <p:ph idx="10" type="dt"/>
          </p:nvPr>
        </p:nvSpPr>
        <p:spPr>
          <a:xfrm>
            <a:off x="7380312" y="6512717"/>
            <a:ext cx="1727100" cy="365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14:03</a:t>
            </a:r>
            <a:endParaRPr/>
          </a:p>
        </p:txBody>
      </p:sp>
      <p:grpSp>
        <p:nvGrpSpPr>
          <p:cNvPr id="185" name="Google Shape;185;p22"/>
          <p:cNvGrpSpPr/>
          <p:nvPr/>
        </p:nvGrpSpPr>
        <p:grpSpPr>
          <a:xfrm>
            <a:off x="1212780" y="1833284"/>
            <a:ext cx="7359321" cy="4215463"/>
            <a:chOff x="467537" y="1607019"/>
            <a:chExt cx="8568310" cy="4342257"/>
          </a:xfrm>
        </p:grpSpPr>
        <p:pic>
          <p:nvPicPr>
            <p:cNvPr id="186" name="Google Shape;186;p22"/>
            <p:cNvPicPr preferRelativeResize="0"/>
            <p:nvPr/>
          </p:nvPicPr>
          <p:blipFill rotWithShape="1">
            <a:blip r:embed="rId3">
              <a:alphaModFix/>
            </a:blip>
            <a:srcRect b="0" l="0" r="0" t="0"/>
            <a:stretch/>
          </p:blipFill>
          <p:spPr>
            <a:xfrm>
              <a:off x="467537" y="1607019"/>
              <a:ext cx="8568310" cy="4342257"/>
            </a:xfrm>
            <a:prstGeom prst="rect">
              <a:avLst/>
            </a:prstGeom>
            <a:noFill/>
            <a:ln>
              <a:noFill/>
            </a:ln>
          </p:spPr>
        </p:pic>
        <p:pic>
          <p:nvPicPr>
            <p:cNvPr id="187" name="Google Shape;187;p22"/>
            <p:cNvPicPr preferRelativeResize="0"/>
            <p:nvPr/>
          </p:nvPicPr>
          <p:blipFill rotWithShape="1">
            <a:blip r:embed="rId4">
              <a:alphaModFix/>
            </a:blip>
            <a:srcRect b="0" l="0" r="0" t="0"/>
            <a:stretch/>
          </p:blipFill>
          <p:spPr>
            <a:xfrm>
              <a:off x="688847" y="5187695"/>
              <a:ext cx="957071" cy="568452"/>
            </a:xfrm>
            <a:prstGeom prst="rect">
              <a:avLst/>
            </a:prstGeom>
            <a:noFill/>
            <a:ln>
              <a:noFill/>
            </a:ln>
          </p:spPr>
        </p:pic>
      </p:grpSp>
      <p:sp>
        <p:nvSpPr>
          <p:cNvPr id="188" name="Google Shape;188;p22"/>
          <p:cNvSpPr txBox="1"/>
          <p:nvPr/>
        </p:nvSpPr>
        <p:spPr>
          <a:xfrm>
            <a:off x="1586727" y="5372269"/>
            <a:ext cx="450600" cy="567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pt-BR" sz="1800" u="none" cap="none" strike="noStrike">
                <a:solidFill>
                  <a:srgbClr val="FFFFFF"/>
                </a:solidFill>
                <a:latin typeface="Calibri"/>
                <a:ea typeface="Calibri"/>
                <a:cs typeface="Calibri"/>
                <a:sym typeface="Calibri"/>
              </a:rPr>
              <a:t>Início</a:t>
            </a:r>
            <a:endParaRPr b="0" i="0" sz="1800" u="none" cap="none" strike="noStrike">
              <a:solidFill>
                <a:srgbClr val="000000"/>
              </a:solidFill>
              <a:latin typeface="Calibri"/>
              <a:ea typeface="Calibri"/>
              <a:cs typeface="Calibri"/>
              <a:sym typeface="Calibri"/>
            </a:endParaRPr>
          </a:p>
        </p:txBody>
      </p:sp>
      <p:grpSp>
        <p:nvGrpSpPr>
          <p:cNvPr id="189" name="Google Shape;189;p22"/>
          <p:cNvGrpSpPr/>
          <p:nvPr/>
        </p:nvGrpSpPr>
        <p:grpSpPr>
          <a:xfrm>
            <a:off x="2146355" y="5285731"/>
            <a:ext cx="3258010" cy="575524"/>
            <a:chOff x="1554480" y="5163311"/>
            <a:chExt cx="3793235" cy="592835"/>
          </a:xfrm>
        </p:grpSpPr>
        <p:pic>
          <p:nvPicPr>
            <p:cNvPr id="190" name="Google Shape;190;p22"/>
            <p:cNvPicPr preferRelativeResize="0"/>
            <p:nvPr/>
          </p:nvPicPr>
          <p:blipFill rotWithShape="1">
            <a:blip r:embed="rId5">
              <a:alphaModFix/>
            </a:blip>
            <a:srcRect b="0" l="0" r="0" t="0"/>
            <a:stretch/>
          </p:blipFill>
          <p:spPr>
            <a:xfrm>
              <a:off x="1554480" y="5227319"/>
              <a:ext cx="565404" cy="423672"/>
            </a:xfrm>
            <a:prstGeom prst="rect">
              <a:avLst/>
            </a:prstGeom>
            <a:noFill/>
            <a:ln>
              <a:noFill/>
            </a:ln>
          </p:spPr>
        </p:pic>
        <p:sp>
          <p:nvSpPr>
            <p:cNvPr id="191" name="Google Shape;191;p22"/>
            <p:cNvSpPr/>
            <p:nvPr/>
          </p:nvSpPr>
          <p:spPr>
            <a:xfrm>
              <a:off x="1596517" y="5330590"/>
              <a:ext cx="311785" cy="171450"/>
            </a:xfrm>
            <a:custGeom>
              <a:rect b="b" l="l" r="r" t="t"/>
              <a:pathLst>
                <a:path extrusionOk="0" h="171450" w="311785">
                  <a:moveTo>
                    <a:pt x="235603" y="85578"/>
                  </a:moveTo>
                  <a:lnTo>
                    <a:pt x="149606" y="135743"/>
                  </a:lnTo>
                  <a:lnTo>
                    <a:pt x="143926" y="140795"/>
                  </a:lnTo>
                  <a:lnTo>
                    <a:pt x="140747" y="147395"/>
                  </a:lnTo>
                  <a:lnTo>
                    <a:pt x="140283" y="154709"/>
                  </a:lnTo>
                  <a:lnTo>
                    <a:pt x="142747" y="161905"/>
                  </a:lnTo>
                  <a:lnTo>
                    <a:pt x="147726" y="167513"/>
                  </a:lnTo>
                  <a:lnTo>
                    <a:pt x="154289" y="170668"/>
                  </a:lnTo>
                  <a:lnTo>
                    <a:pt x="161589" y="171156"/>
                  </a:lnTo>
                  <a:lnTo>
                    <a:pt x="168783" y="168763"/>
                  </a:lnTo>
                  <a:lnTo>
                    <a:pt x="278644" y="104628"/>
                  </a:lnTo>
                  <a:lnTo>
                    <a:pt x="273431" y="104628"/>
                  </a:lnTo>
                  <a:lnTo>
                    <a:pt x="273431" y="102088"/>
                  </a:lnTo>
                  <a:lnTo>
                    <a:pt x="263906" y="102088"/>
                  </a:lnTo>
                  <a:lnTo>
                    <a:pt x="235603" y="85578"/>
                  </a:lnTo>
                  <a:close/>
                </a:path>
                <a:path extrusionOk="0" h="171450" w="311785">
                  <a:moveTo>
                    <a:pt x="202946" y="66528"/>
                  </a:moveTo>
                  <a:lnTo>
                    <a:pt x="0" y="66528"/>
                  </a:lnTo>
                  <a:lnTo>
                    <a:pt x="0" y="104628"/>
                  </a:lnTo>
                  <a:lnTo>
                    <a:pt x="202946" y="104628"/>
                  </a:lnTo>
                  <a:lnTo>
                    <a:pt x="235603" y="85578"/>
                  </a:lnTo>
                  <a:lnTo>
                    <a:pt x="202946" y="66528"/>
                  </a:lnTo>
                  <a:close/>
                </a:path>
                <a:path extrusionOk="0" h="171450" w="311785">
                  <a:moveTo>
                    <a:pt x="278644" y="66528"/>
                  </a:moveTo>
                  <a:lnTo>
                    <a:pt x="273431" y="66528"/>
                  </a:lnTo>
                  <a:lnTo>
                    <a:pt x="273431" y="104628"/>
                  </a:lnTo>
                  <a:lnTo>
                    <a:pt x="278644" y="104628"/>
                  </a:lnTo>
                  <a:lnTo>
                    <a:pt x="311277" y="85578"/>
                  </a:lnTo>
                  <a:lnTo>
                    <a:pt x="278644" y="66528"/>
                  </a:lnTo>
                  <a:close/>
                </a:path>
                <a:path extrusionOk="0" h="171450" w="311785">
                  <a:moveTo>
                    <a:pt x="263906" y="69068"/>
                  </a:moveTo>
                  <a:lnTo>
                    <a:pt x="235603" y="85578"/>
                  </a:lnTo>
                  <a:lnTo>
                    <a:pt x="263906" y="102088"/>
                  </a:lnTo>
                  <a:lnTo>
                    <a:pt x="263906" y="69068"/>
                  </a:lnTo>
                  <a:close/>
                </a:path>
                <a:path extrusionOk="0" h="171450" w="311785">
                  <a:moveTo>
                    <a:pt x="273431" y="69068"/>
                  </a:moveTo>
                  <a:lnTo>
                    <a:pt x="263906" y="69068"/>
                  </a:lnTo>
                  <a:lnTo>
                    <a:pt x="263906" y="102088"/>
                  </a:lnTo>
                  <a:lnTo>
                    <a:pt x="273431" y="102088"/>
                  </a:lnTo>
                  <a:lnTo>
                    <a:pt x="273431" y="69068"/>
                  </a:lnTo>
                  <a:close/>
                </a:path>
                <a:path extrusionOk="0" h="171450" w="311785">
                  <a:moveTo>
                    <a:pt x="161589" y="0"/>
                  </a:moveTo>
                  <a:lnTo>
                    <a:pt x="154289" y="488"/>
                  </a:lnTo>
                  <a:lnTo>
                    <a:pt x="147726" y="3643"/>
                  </a:lnTo>
                  <a:lnTo>
                    <a:pt x="142747" y="9251"/>
                  </a:lnTo>
                  <a:lnTo>
                    <a:pt x="140283" y="16446"/>
                  </a:lnTo>
                  <a:lnTo>
                    <a:pt x="140747" y="23760"/>
                  </a:lnTo>
                  <a:lnTo>
                    <a:pt x="143926" y="30360"/>
                  </a:lnTo>
                  <a:lnTo>
                    <a:pt x="149606" y="35413"/>
                  </a:lnTo>
                  <a:lnTo>
                    <a:pt x="235603" y="85578"/>
                  </a:lnTo>
                  <a:lnTo>
                    <a:pt x="263906" y="69068"/>
                  </a:lnTo>
                  <a:lnTo>
                    <a:pt x="273431" y="69068"/>
                  </a:lnTo>
                  <a:lnTo>
                    <a:pt x="273431" y="66528"/>
                  </a:lnTo>
                  <a:lnTo>
                    <a:pt x="278644" y="66528"/>
                  </a:lnTo>
                  <a:lnTo>
                    <a:pt x="168783" y="2393"/>
                  </a:lnTo>
                  <a:lnTo>
                    <a:pt x="161589" y="0"/>
                  </a:lnTo>
                  <a:close/>
                </a:path>
              </a:pathLst>
            </a:custGeom>
            <a:solidFill>
              <a:srgbClr val="C0504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Gothic"/>
                <a:ea typeface="Century Gothic"/>
                <a:cs typeface="Century Gothic"/>
                <a:sym typeface="Century Gothic"/>
              </a:endParaRPr>
            </a:p>
          </p:txBody>
        </p:sp>
        <p:pic>
          <p:nvPicPr>
            <p:cNvPr id="192" name="Google Shape;192;p22"/>
            <p:cNvPicPr preferRelativeResize="0"/>
            <p:nvPr/>
          </p:nvPicPr>
          <p:blipFill rotWithShape="1">
            <a:blip r:embed="rId6">
              <a:alphaModFix/>
            </a:blip>
            <a:srcRect b="0" l="0" r="0" t="0"/>
            <a:stretch/>
          </p:blipFill>
          <p:spPr>
            <a:xfrm>
              <a:off x="3944112" y="5163311"/>
              <a:ext cx="1403603" cy="592835"/>
            </a:xfrm>
            <a:prstGeom prst="rect">
              <a:avLst/>
            </a:prstGeom>
            <a:noFill/>
            <a:ln>
              <a:noFill/>
            </a:ln>
          </p:spPr>
        </p:pic>
      </p:grpSp>
      <p:sp>
        <p:nvSpPr>
          <p:cNvPr id="193" name="Google Shape;193;p22"/>
          <p:cNvSpPr txBox="1"/>
          <p:nvPr/>
        </p:nvSpPr>
        <p:spPr>
          <a:xfrm>
            <a:off x="4546550" y="5372269"/>
            <a:ext cx="510000" cy="2436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500"/>
              <a:buFont typeface="Arial"/>
              <a:buNone/>
            </a:pPr>
            <a:r>
              <a:rPr b="0" i="0" lang="pt-BR" sz="1500" u="none" cap="none" strike="noStrike">
                <a:solidFill>
                  <a:srgbClr val="FFFFFF"/>
                </a:solidFill>
                <a:latin typeface="Calibri"/>
                <a:ea typeface="Calibri"/>
                <a:cs typeface="Calibri"/>
                <a:sym typeface="Calibri"/>
              </a:rPr>
              <a:t>X &lt;= 3</a:t>
            </a:r>
            <a:endParaRPr b="0" i="0" sz="1500" u="none" cap="none" strike="noStrike">
              <a:solidFill>
                <a:srgbClr val="000000"/>
              </a:solidFill>
              <a:latin typeface="Calibri"/>
              <a:ea typeface="Calibri"/>
              <a:cs typeface="Calibri"/>
              <a:sym typeface="Calibri"/>
            </a:endParaRPr>
          </a:p>
        </p:txBody>
      </p:sp>
      <p:grpSp>
        <p:nvGrpSpPr>
          <p:cNvPr id="194" name="Google Shape;194;p22"/>
          <p:cNvGrpSpPr/>
          <p:nvPr/>
        </p:nvGrpSpPr>
        <p:grpSpPr>
          <a:xfrm>
            <a:off x="3111060" y="2704006"/>
            <a:ext cx="2504048" cy="3055166"/>
            <a:chOff x="2677667" y="2503932"/>
            <a:chExt cx="2915413" cy="3147060"/>
          </a:xfrm>
        </p:grpSpPr>
        <p:pic>
          <p:nvPicPr>
            <p:cNvPr id="195" name="Google Shape;195;p22"/>
            <p:cNvPicPr preferRelativeResize="0"/>
            <p:nvPr/>
          </p:nvPicPr>
          <p:blipFill rotWithShape="1">
            <a:blip r:embed="rId7">
              <a:alphaModFix/>
            </a:blip>
            <a:srcRect b="0" l="0" r="0" t="0"/>
            <a:stretch/>
          </p:blipFill>
          <p:spPr>
            <a:xfrm>
              <a:off x="2677667" y="5227320"/>
              <a:ext cx="1522476" cy="423672"/>
            </a:xfrm>
            <a:prstGeom prst="rect">
              <a:avLst/>
            </a:prstGeom>
            <a:noFill/>
            <a:ln>
              <a:noFill/>
            </a:ln>
          </p:spPr>
        </p:pic>
        <p:sp>
          <p:nvSpPr>
            <p:cNvPr id="196" name="Google Shape;196;p22"/>
            <p:cNvSpPr/>
            <p:nvPr/>
          </p:nvSpPr>
          <p:spPr>
            <a:xfrm>
              <a:off x="2720593" y="5330590"/>
              <a:ext cx="1266825" cy="171450"/>
            </a:xfrm>
            <a:custGeom>
              <a:rect b="b" l="l" r="r" t="t"/>
              <a:pathLst>
                <a:path extrusionOk="0" h="171450" w="1266825">
                  <a:moveTo>
                    <a:pt x="1191024" y="85578"/>
                  </a:moveTo>
                  <a:lnTo>
                    <a:pt x="1105027" y="135743"/>
                  </a:lnTo>
                  <a:lnTo>
                    <a:pt x="1099401" y="140795"/>
                  </a:lnTo>
                  <a:lnTo>
                    <a:pt x="1096216" y="147395"/>
                  </a:lnTo>
                  <a:lnTo>
                    <a:pt x="1095722" y="154709"/>
                  </a:lnTo>
                  <a:lnTo>
                    <a:pt x="1098169" y="161905"/>
                  </a:lnTo>
                  <a:lnTo>
                    <a:pt x="1103219" y="167513"/>
                  </a:lnTo>
                  <a:lnTo>
                    <a:pt x="1109805" y="170668"/>
                  </a:lnTo>
                  <a:lnTo>
                    <a:pt x="1117082" y="171156"/>
                  </a:lnTo>
                  <a:lnTo>
                    <a:pt x="1124204" y="168763"/>
                  </a:lnTo>
                  <a:lnTo>
                    <a:pt x="1234065" y="104628"/>
                  </a:lnTo>
                  <a:lnTo>
                    <a:pt x="1228979" y="104628"/>
                  </a:lnTo>
                  <a:lnTo>
                    <a:pt x="1228979" y="102088"/>
                  </a:lnTo>
                  <a:lnTo>
                    <a:pt x="1219327" y="102088"/>
                  </a:lnTo>
                  <a:lnTo>
                    <a:pt x="1191024" y="85578"/>
                  </a:lnTo>
                  <a:close/>
                </a:path>
                <a:path extrusionOk="0" h="171450" w="1266825">
                  <a:moveTo>
                    <a:pt x="1158367" y="66528"/>
                  </a:moveTo>
                  <a:lnTo>
                    <a:pt x="0" y="66528"/>
                  </a:lnTo>
                  <a:lnTo>
                    <a:pt x="0" y="104628"/>
                  </a:lnTo>
                  <a:lnTo>
                    <a:pt x="1158367" y="104628"/>
                  </a:lnTo>
                  <a:lnTo>
                    <a:pt x="1191024" y="85578"/>
                  </a:lnTo>
                  <a:lnTo>
                    <a:pt x="1158367" y="66528"/>
                  </a:lnTo>
                  <a:close/>
                </a:path>
                <a:path extrusionOk="0" h="171450" w="1266825">
                  <a:moveTo>
                    <a:pt x="1234065" y="66528"/>
                  </a:moveTo>
                  <a:lnTo>
                    <a:pt x="1228979" y="66528"/>
                  </a:lnTo>
                  <a:lnTo>
                    <a:pt x="1228979" y="104628"/>
                  </a:lnTo>
                  <a:lnTo>
                    <a:pt x="1234065" y="104628"/>
                  </a:lnTo>
                  <a:lnTo>
                    <a:pt x="1266697" y="85578"/>
                  </a:lnTo>
                  <a:lnTo>
                    <a:pt x="1234065" y="66528"/>
                  </a:lnTo>
                  <a:close/>
                </a:path>
                <a:path extrusionOk="0" h="171450" w="1266825">
                  <a:moveTo>
                    <a:pt x="1219327" y="69068"/>
                  </a:moveTo>
                  <a:lnTo>
                    <a:pt x="1191024" y="85578"/>
                  </a:lnTo>
                  <a:lnTo>
                    <a:pt x="1219327" y="102088"/>
                  </a:lnTo>
                  <a:lnTo>
                    <a:pt x="1219327" y="69068"/>
                  </a:lnTo>
                  <a:close/>
                </a:path>
                <a:path extrusionOk="0" h="171450" w="1266825">
                  <a:moveTo>
                    <a:pt x="1228979" y="69068"/>
                  </a:moveTo>
                  <a:lnTo>
                    <a:pt x="1219327" y="69068"/>
                  </a:lnTo>
                  <a:lnTo>
                    <a:pt x="1219327" y="102088"/>
                  </a:lnTo>
                  <a:lnTo>
                    <a:pt x="1228979" y="102088"/>
                  </a:lnTo>
                  <a:lnTo>
                    <a:pt x="1228979" y="69068"/>
                  </a:lnTo>
                  <a:close/>
                </a:path>
                <a:path extrusionOk="0" h="171450" w="1266825">
                  <a:moveTo>
                    <a:pt x="1117082" y="0"/>
                  </a:moveTo>
                  <a:lnTo>
                    <a:pt x="1109805" y="488"/>
                  </a:lnTo>
                  <a:lnTo>
                    <a:pt x="1103219" y="3643"/>
                  </a:lnTo>
                  <a:lnTo>
                    <a:pt x="1098169" y="9251"/>
                  </a:lnTo>
                  <a:lnTo>
                    <a:pt x="1095722" y="16446"/>
                  </a:lnTo>
                  <a:lnTo>
                    <a:pt x="1096216" y="23760"/>
                  </a:lnTo>
                  <a:lnTo>
                    <a:pt x="1099401" y="30360"/>
                  </a:lnTo>
                  <a:lnTo>
                    <a:pt x="1105027" y="35413"/>
                  </a:lnTo>
                  <a:lnTo>
                    <a:pt x="1191024" y="85578"/>
                  </a:lnTo>
                  <a:lnTo>
                    <a:pt x="1219327" y="69068"/>
                  </a:lnTo>
                  <a:lnTo>
                    <a:pt x="1228979" y="69068"/>
                  </a:lnTo>
                  <a:lnTo>
                    <a:pt x="1228979" y="66528"/>
                  </a:lnTo>
                  <a:lnTo>
                    <a:pt x="1234065" y="66528"/>
                  </a:lnTo>
                  <a:lnTo>
                    <a:pt x="1124204" y="2393"/>
                  </a:lnTo>
                  <a:lnTo>
                    <a:pt x="1117082" y="0"/>
                  </a:lnTo>
                  <a:close/>
                </a:path>
              </a:pathLst>
            </a:custGeom>
            <a:solidFill>
              <a:srgbClr val="C0504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Gothic"/>
                <a:ea typeface="Century Gothic"/>
                <a:cs typeface="Century Gothic"/>
                <a:sym typeface="Century Gothic"/>
              </a:endParaRPr>
            </a:p>
          </p:txBody>
        </p:sp>
        <p:pic>
          <p:nvPicPr>
            <p:cNvPr id="197" name="Google Shape;197;p22"/>
            <p:cNvPicPr preferRelativeResize="0"/>
            <p:nvPr/>
          </p:nvPicPr>
          <p:blipFill rotWithShape="1">
            <a:blip r:embed="rId8">
              <a:alphaModFix/>
            </a:blip>
            <a:srcRect b="0" l="0" r="0" t="0"/>
            <a:stretch/>
          </p:blipFill>
          <p:spPr>
            <a:xfrm>
              <a:off x="4072127" y="2503932"/>
              <a:ext cx="1146048" cy="566927"/>
            </a:xfrm>
            <a:prstGeom prst="rect">
              <a:avLst/>
            </a:prstGeom>
            <a:noFill/>
            <a:ln>
              <a:noFill/>
            </a:ln>
          </p:spPr>
        </p:pic>
        <p:pic>
          <p:nvPicPr>
            <p:cNvPr id="198" name="Google Shape;198;p22"/>
            <p:cNvPicPr preferRelativeResize="0"/>
            <p:nvPr/>
          </p:nvPicPr>
          <p:blipFill rotWithShape="1">
            <a:blip r:embed="rId9">
              <a:alphaModFix/>
            </a:blip>
            <a:srcRect b="0" l="0" r="0" t="0"/>
            <a:stretch/>
          </p:blipFill>
          <p:spPr>
            <a:xfrm>
              <a:off x="4962144" y="2584704"/>
              <a:ext cx="630936" cy="2916936"/>
            </a:xfrm>
            <a:prstGeom prst="rect">
              <a:avLst/>
            </a:prstGeom>
            <a:noFill/>
            <a:ln>
              <a:noFill/>
            </a:ln>
          </p:spPr>
        </p:pic>
        <p:sp>
          <p:nvSpPr>
            <p:cNvPr id="199" name="Google Shape;199;p22"/>
            <p:cNvSpPr/>
            <p:nvPr/>
          </p:nvSpPr>
          <p:spPr>
            <a:xfrm>
              <a:off x="5173979" y="2689173"/>
              <a:ext cx="377189" cy="2746375"/>
            </a:xfrm>
            <a:custGeom>
              <a:rect b="b" l="l" r="r" t="t"/>
              <a:pathLst>
                <a:path extrusionOk="0" h="2746375" w="377189">
                  <a:moveTo>
                    <a:pt x="338963" y="2707945"/>
                  </a:moveTo>
                  <a:lnTo>
                    <a:pt x="129412" y="2707945"/>
                  </a:lnTo>
                  <a:lnTo>
                    <a:pt x="129412" y="2746045"/>
                  </a:lnTo>
                  <a:lnTo>
                    <a:pt x="358013" y="2746045"/>
                  </a:lnTo>
                  <a:lnTo>
                    <a:pt x="365436" y="2744551"/>
                  </a:lnTo>
                  <a:lnTo>
                    <a:pt x="371490" y="2740473"/>
                  </a:lnTo>
                  <a:lnTo>
                    <a:pt x="375568" y="2734419"/>
                  </a:lnTo>
                  <a:lnTo>
                    <a:pt x="377063" y="2726995"/>
                  </a:lnTo>
                  <a:lnTo>
                    <a:pt x="338963" y="2726995"/>
                  </a:lnTo>
                  <a:lnTo>
                    <a:pt x="338963" y="2707945"/>
                  </a:lnTo>
                  <a:close/>
                </a:path>
                <a:path extrusionOk="0" h="2746375" w="377189">
                  <a:moveTo>
                    <a:pt x="338963" y="85522"/>
                  </a:moveTo>
                  <a:lnTo>
                    <a:pt x="338963" y="2726995"/>
                  </a:lnTo>
                  <a:lnTo>
                    <a:pt x="358013" y="2707945"/>
                  </a:lnTo>
                  <a:lnTo>
                    <a:pt x="377063" y="2707945"/>
                  </a:lnTo>
                  <a:lnTo>
                    <a:pt x="377063" y="104572"/>
                  </a:lnTo>
                  <a:lnTo>
                    <a:pt x="358013" y="104572"/>
                  </a:lnTo>
                  <a:lnTo>
                    <a:pt x="338963" y="85522"/>
                  </a:lnTo>
                  <a:close/>
                </a:path>
                <a:path extrusionOk="0" h="2746375" w="377189">
                  <a:moveTo>
                    <a:pt x="377063" y="2707945"/>
                  </a:moveTo>
                  <a:lnTo>
                    <a:pt x="358013" y="2707945"/>
                  </a:lnTo>
                  <a:lnTo>
                    <a:pt x="338963" y="2726995"/>
                  </a:lnTo>
                  <a:lnTo>
                    <a:pt x="377063" y="2726995"/>
                  </a:lnTo>
                  <a:lnTo>
                    <a:pt x="377063" y="2707945"/>
                  </a:lnTo>
                  <a:close/>
                </a:path>
                <a:path extrusionOk="0" h="2746375" w="377189">
                  <a:moveTo>
                    <a:pt x="149615" y="0"/>
                  </a:moveTo>
                  <a:lnTo>
                    <a:pt x="142494" y="2464"/>
                  </a:lnTo>
                  <a:lnTo>
                    <a:pt x="0" y="85522"/>
                  </a:lnTo>
                  <a:lnTo>
                    <a:pt x="142494" y="168707"/>
                  </a:lnTo>
                  <a:lnTo>
                    <a:pt x="149615" y="171154"/>
                  </a:lnTo>
                  <a:lnTo>
                    <a:pt x="156892" y="170660"/>
                  </a:lnTo>
                  <a:lnTo>
                    <a:pt x="163478" y="167475"/>
                  </a:lnTo>
                  <a:lnTo>
                    <a:pt x="168529" y="161849"/>
                  </a:lnTo>
                  <a:lnTo>
                    <a:pt x="170975" y="154656"/>
                  </a:lnTo>
                  <a:lnTo>
                    <a:pt x="170481" y="147355"/>
                  </a:lnTo>
                  <a:lnTo>
                    <a:pt x="167296" y="140793"/>
                  </a:lnTo>
                  <a:lnTo>
                    <a:pt x="161671" y="135814"/>
                  </a:lnTo>
                  <a:lnTo>
                    <a:pt x="108113" y="104572"/>
                  </a:lnTo>
                  <a:lnTo>
                    <a:pt x="37719" y="104572"/>
                  </a:lnTo>
                  <a:lnTo>
                    <a:pt x="37719" y="66472"/>
                  </a:lnTo>
                  <a:lnTo>
                    <a:pt x="108330" y="66472"/>
                  </a:lnTo>
                  <a:lnTo>
                    <a:pt x="161671" y="35357"/>
                  </a:lnTo>
                  <a:lnTo>
                    <a:pt x="167296" y="30307"/>
                  </a:lnTo>
                  <a:lnTo>
                    <a:pt x="170481" y="23721"/>
                  </a:lnTo>
                  <a:lnTo>
                    <a:pt x="170975" y="16444"/>
                  </a:lnTo>
                  <a:lnTo>
                    <a:pt x="168529" y="9322"/>
                  </a:lnTo>
                  <a:lnTo>
                    <a:pt x="163478" y="3643"/>
                  </a:lnTo>
                  <a:lnTo>
                    <a:pt x="156892" y="464"/>
                  </a:lnTo>
                  <a:lnTo>
                    <a:pt x="149615" y="0"/>
                  </a:lnTo>
                  <a:close/>
                </a:path>
                <a:path extrusionOk="0" h="2746375" w="377189">
                  <a:moveTo>
                    <a:pt x="108330" y="66472"/>
                  </a:moveTo>
                  <a:lnTo>
                    <a:pt x="37719" y="66472"/>
                  </a:lnTo>
                  <a:lnTo>
                    <a:pt x="37719" y="104572"/>
                  </a:lnTo>
                  <a:lnTo>
                    <a:pt x="108113" y="104572"/>
                  </a:lnTo>
                  <a:lnTo>
                    <a:pt x="103758" y="102032"/>
                  </a:lnTo>
                  <a:lnTo>
                    <a:pt x="47371" y="102032"/>
                  </a:lnTo>
                  <a:lnTo>
                    <a:pt x="47371" y="69139"/>
                  </a:lnTo>
                  <a:lnTo>
                    <a:pt x="103758" y="69139"/>
                  </a:lnTo>
                  <a:lnTo>
                    <a:pt x="108330" y="66472"/>
                  </a:lnTo>
                  <a:close/>
                </a:path>
                <a:path extrusionOk="0" h="2746375" w="377189">
                  <a:moveTo>
                    <a:pt x="358013" y="66472"/>
                  </a:moveTo>
                  <a:lnTo>
                    <a:pt x="108330" y="66472"/>
                  </a:lnTo>
                  <a:lnTo>
                    <a:pt x="75564" y="85586"/>
                  </a:lnTo>
                  <a:lnTo>
                    <a:pt x="108113" y="104572"/>
                  </a:lnTo>
                  <a:lnTo>
                    <a:pt x="338963" y="104572"/>
                  </a:lnTo>
                  <a:lnTo>
                    <a:pt x="338963" y="85522"/>
                  </a:lnTo>
                  <a:lnTo>
                    <a:pt x="377063" y="85522"/>
                  </a:lnTo>
                  <a:lnTo>
                    <a:pt x="375568" y="78099"/>
                  </a:lnTo>
                  <a:lnTo>
                    <a:pt x="371490" y="72044"/>
                  </a:lnTo>
                  <a:lnTo>
                    <a:pt x="365436" y="67966"/>
                  </a:lnTo>
                  <a:lnTo>
                    <a:pt x="358013" y="66472"/>
                  </a:lnTo>
                  <a:close/>
                </a:path>
                <a:path extrusionOk="0" h="2746375" w="377189">
                  <a:moveTo>
                    <a:pt x="377063" y="85522"/>
                  </a:moveTo>
                  <a:lnTo>
                    <a:pt x="338963" y="85522"/>
                  </a:lnTo>
                  <a:lnTo>
                    <a:pt x="358013" y="104572"/>
                  </a:lnTo>
                  <a:lnTo>
                    <a:pt x="377063" y="104572"/>
                  </a:lnTo>
                  <a:lnTo>
                    <a:pt x="377063" y="85522"/>
                  </a:lnTo>
                  <a:close/>
                </a:path>
                <a:path extrusionOk="0" h="2746375" w="377189">
                  <a:moveTo>
                    <a:pt x="47371" y="69139"/>
                  </a:moveTo>
                  <a:lnTo>
                    <a:pt x="47371" y="102032"/>
                  </a:lnTo>
                  <a:lnTo>
                    <a:pt x="75564" y="85586"/>
                  </a:lnTo>
                  <a:lnTo>
                    <a:pt x="47371" y="69139"/>
                  </a:lnTo>
                  <a:close/>
                </a:path>
                <a:path extrusionOk="0" h="2746375" w="377189">
                  <a:moveTo>
                    <a:pt x="75564" y="85586"/>
                  </a:moveTo>
                  <a:lnTo>
                    <a:pt x="47371" y="102032"/>
                  </a:lnTo>
                  <a:lnTo>
                    <a:pt x="103758" y="102032"/>
                  </a:lnTo>
                  <a:lnTo>
                    <a:pt x="75564" y="85586"/>
                  </a:lnTo>
                  <a:close/>
                </a:path>
                <a:path extrusionOk="0" h="2746375" w="377189">
                  <a:moveTo>
                    <a:pt x="103758" y="69139"/>
                  </a:moveTo>
                  <a:lnTo>
                    <a:pt x="47371" y="69139"/>
                  </a:lnTo>
                  <a:lnTo>
                    <a:pt x="75564" y="85586"/>
                  </a:lnTo>
                  <a:lnTo>
                    <a:pt x="103758" y="69139"/>
                  </a:lnTo>
                  <a:close/>
                </a:path>
              </a:pathLst>
            </a:custGeom>
            <a:solidFill>
              <a:srgbClr val="C0504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Gothic"/>
                <a:ea typeface="Century Gothic"/>
                <a:cs typeface="Century Gothic"/>
                <a:sym typeface="Century Gothic"/>
              </a:endParaRPr>
            </a:p>
          </p:txBody>
        </p:sp>
      </p:grpSp>
      <p:sp>
        <p:nvSpPr>
          <p:cNvPr id="200" name="Google Shape;200;p22"/>
          <p:cNvSpPr txBox="1"/>
          <p:nvPr/>
        </p:nvSpPr>
        <p:spPr>
          <a:xfrm>
            <a:off x="5625897" y="4997340"/>
            <a:ext cx="202200" cy="4431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2800"/>
              <a:buFont typeface="Arial"/>
              <a:buNone/>
            </a:pPr>
            <a:r>
              <a:rPr b="1" i="0" lang="pt-BR" sz="2800" u="none" cap="none" strike="noStrike">
                <a:solidFill>
                  <a:srgbClr val="000000"/>
                </a:solidFill>
                <a:latin typeface="Calibri"/>
                <a:ea typeface="Calibri"/>
                <a:cs typeface="Calibri"/>
                <a:sym typeface="Calibri"/>
              </a:rPr>
              <a:t>V</a:t>
            </a:r>
            <a:endParaRPr b="0" i="0" sz="2800" u="none" cap="none" strike="noStrike">
              <a:solidFill>
                <a:srgbClr val="000000"/>
              </a:solidFill>
              <a:latin typeface="Calibri"/>
              <a:ea typeface="Calibri"/>
              <a:cs typeface="Calibri"/>
              <a:sym typeface="Calibri"/>
            </a:endParaRPr>
          </a:p>
        </p:txBody>
      </p:sp>
      <p:pic>
        <p:nvPicPr>
          <p:cNvPr id="201" name="Google Shape;201;p22"/>
          <p:cNvPicPr preferRelativeResize="0"/>
          <p:nvPr/>
        </p:nvPicPr>
        <p:blipFill rotWithShape="1">
          <a:blip r:embed="rId10">
            <a:alphaModFix/>
          </a:blip>
          <a:srcRect b="0" l="0" r="0" t="0"/>
          <a:stretch/>
        </p:blipFill>
        <p:spPr>
          <a:xfrm>
            <a:off x="7359941" y="5259087"/>
            <a:ext cx="930671" cy="550372"/>
          </a:xfrm>
          <a:prstGeom prst="rect">
            <a:avLst/>
          </a:prstGeom>
          <a:noFill/>
          <a:ln>
            <a:noFill/>
          </a:ln>
        </p:spPr>
      </p:pic>
      <p:sp>
        <p:nvSpPr>
          <p:cNvPr id="202" name="Google Shape;202;p22"/>
          <p:cNvSpPr txBox="1"/>
          <p:nvPr/>
        </p:nvSpPr>
        <p:spPr>
          <a:xfrm>
            <a:off x="7669510" y="5320979"/>
            <a:ext cx="314100" cy="259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600"/>
              <a:buFont typeface="Arial"/>
              <a:buNone/>
            </a:pPr>
            <a:r>
              <a:rPr b="0" i="0" lang="pt-BR" sz="1600" u="none" cap="none" strike="noStrike">
                <a:solidFill>
                  <a:srgbClr val="FFFFFF"/>
                </a:solidFill>
                <a:latin typeface="Calibri"/>
                <a:ea typeface="Calibri"/>
                <a:cs typeface="Calibri"/>
                <a:sym typeface="Calibri"/>
              </a:rPr>
              <a:t>Fim</a:t>
            </a:r>
            <a:endParaRPr b="0" i="0" sz="1600" u="none" cap="none" strike="noStrike">
              <a:solidFill>
                <a:srgbClr val="000000"/>
              </a:solidFill>
              <a:latin typeface="Calibri"/>
              <a:ea typeface="Calibri"/>
              <a:cs typeface="Calibri"/>
              <a:sym typeface="Calibri"/>
            </a:endParaRPr>
          </a:p>
        </p:txBody>
      </p:sp>
      <p:grpSp>
        <p:nvGrpSpPr>
          <p:cNvPr id="203" name="Google Shape;203;p22"/>
          <p:cNvGrpSpPr/>
          <p:nvPr/>
        </p:nvGrpSpPr>
        <p:grpSpPr>
          <a:xfrm>
            <a:off x="4621605" y="3130103"/>
            <a:ext cx="2958258" cy="2930886"/>
            <a:chOff x="4436364" y="2942844"/>
            <a:chExt cx="3444240" cy="3019042"/>
          </a:xfrm>
        </p:grpSpPr>
        <p:pic>
          <p:nvPicPr>
            <p:cNvPr id="204" name="Google Shape;204;p22"/>
            <p:cNvPicPr preferRelativeResize="0"/>
            <p:nvPr/>
          </p:nvPicPr>
          <p:blipFill rotWithShape="1">
            <a:blip r:embed="rId11">
              <a:alphaModFix/>
            </a:blip>
            <a:srcRect b="0" l="0" r="0" t="0"/>
            <a:stretch/>
          </p:blipFill>
          <p:spPr>
            <a:xfrm>
              <a:off x="4436364" y="2942844"/>
              <a:ext cx="425196" cy="649224"/>
            </a:xfrm>
            <a:prstGeom prst="rect">
              <a:avLst/>
            </a:prstGeom>
            <a:noFill/>
            <a:ln>
              <a:noFill/>
            </a:ln>
          </p:spPr>
        </p:pic>
        <p:sp>
          <p:nvSpPr>
            <p:cNvPr id="205" name="Google Shape;205;p22"/>
            <p:cNvSpPr/>
            <p:nvPr/>
          </p:nvSpPr>
          <p:spPr>
            <a:xfrm>
              <a:off x="4563947" y="2962148"/>
              <a:ext cx="171450" cy="395604"/>
            </a:xfrm>
            <a:custGeom>
              <a:rect b="b" l="l" r="r" t="t"/>
              <a:pathLst>
                <a:path extrusionOk="0" h="395604" w="171450">
                  <a:moveTo>
                    <a:pt x="16444" y="224357"/>
                  </a:moveTo>
                  <a:lnTo>
                    <a:pt x="9322" y="226822"/>
                  </a:lnTo>
                  <a:lnTo>
                    <a:pt x="3643" y="231800"/>
                  </a:lnTo>
                  <a:lnTo>
                    <a:pt x="464" y="238363"/>
                  </a:lnTo>
                  <a:lnTo>
                    <a:pt x="0" y="245663"/>
                  </a:lnTo>
                  <a:lnTo>
                    <a:pt x="2464" y="252856"/>
                  </a:lnTo>
                  <a:lnTo>
                    <a:pt x="85522" y="395350"/>
                  </a:lnTo>
                  <a:lnTo>
                    <a:pt x="107616" y="357504"/>
                  </a:lnTo>
                  <a:lnTo>
                    <a:pt x="66472" y="357504"/>
                  </a:lnTo>
                  <a:lnTo>
                    <a:pt x="66472" y="287020"/>
                  </a:lnTo>
                  <a:lnTo>
                    <a:pt x="35357" y="233679"/>
                  </a:lnTo>
                  <a:lnTo>
                    <a:pt x="30307" y="228000"/>
                  </a:lnTo>
                  <a:lnTo>
                    <a:pt x="23721" y="224821"/>
                  </a:lnTo>
                  <a:lnTo>
                    <a:pt x="16444" y="224357"/>
                  </a:lnTo>
                  <a:close/>
                </a:path>
                <a:path extrusionOk="0" h="395604" w="171450">
                  <a:moveTo>
                    <a:pt x="66472" y="287020"/>
                  </a:moveTo>
                  <a:lnTo>
                    <a:pt x="66472" y="357504"/>
                  </a:lnTo>
                  <a:lnTo>
                    <a:pt x="104572" y="357504"/>
                  </a:lnTo>
                  <a:lnTo>
                    <a:pt x="104572" y="347979"/>
                  </a:lnTo>
                  <a:lnTo>
                    <a:pt x="69139" y="347979"/>
                  </a:lnTo>
                  <a:lnTo>
                    <a:pt x="85586" y="319786"/>
                  </a:lnTo>
                  <a:lnTo>
                    <a:pt x="66472" y="287020"/>
                  </a:lnTo>
                  <a:close/>
                </a:path>
                <a:path extrusionOk="0" h="395604" w="171450">
                  <a:moveTo>
                    <a:pt x="154674" y="224357"/>
                  </a:moveTo>
                  <a:lnTo>
                    <a:pt x="104699" y="287020"/>
                  </a:lnTo>
                  <a:lnTo>
                    <a:pt x="104572" y="357504"/>
                  </a:lnTo>
                  <a:lnTo>
                    <a:pt x="107616" y="357504"/>
                  </a:lnTo>
                  <a:lnTo>
                    <a:pt x="168707" y="252856"/>
                  </a:lnTo>
                  <a:lnTo>
                    <a:pt x="171172" y="245663"/>
                  </a:lnTo>
                  <a:lnTo>
                    <a:pt x="170707" y="238363"/>
                  </a:lnTo>
                  <a:lnTo>
                    <a:pt x="167528" y="231800"/>
                  </a:lnTo>
                  <a:lnTo>
                    <a:pt x="161849" y="226822"/>
                  </a:lnTo>
                  <a:lnTo>
                    <a:pt x="154674" y="224357"/>
                  </a:lnTo>
                  <a:close/>
                </a:path>
                <a:path extrusionOk="0" h="395604" w="171450">
                  <a:moveTo>
                    <a:pt x="85586" y="319786"/>
                  </a:moveTo>
                  <a:lnTo>
                    <a:pt x="69139" y="347979"/>
                  </a:lnTo>
                  <a:lnTo>
                    <a:pt x="102032" y="347979"/>
                  </a:lnTo>
                  <a:lnTo>
                    <a:pt x="85586" y="319786"/>
                  </a:lnTo>
                  <a:close/>
                </a:path>
                <a:path extrusionOk="0" h="395604" w="171450">
                  <a:moveTo>
                    <a:pt x="104572" y="287237"/>
                  </a:moveTo>
                  <a:lnTo>
                    <a:pt x="85586" y="319786"/>
                  </a:lnTo>
                  <a:lnTo>
                    <a:pt x="102032" y="347979"/>
                  </a:lnTo>
                  <a:lnTo>
                    <a:pt x="104572" y="347979"/>
                  </a:lnTo>
                  <a:lnTo>
                    <a:pt x="104572" y="287237"/>
                  </a:lnTo>
                  <a:close/>
                </a:path>
                <a:path extrusionOk="0" h="395604" w="171450">
                  <a:moveTo>
                    <a:pt x="66472" y="208850"/>
                  </a:moveTo>
                  <a:lnTo>
                    <a:pt x="66599" y="287237"/>
                  </a:lnTo>
                  <a:lnTo>
                    <a:pt x="85586" y="319786"/>
                  </a:lnTo>
                  <a:lnTo>
                    <a:pt x="104572" y="287237"/>
                  </a:lnTo>
                  <a:lnTo>
                    <a:pt x="104572" y="216662"/>
                  </a:lnTo>
                  <a:lnTo>
                    <a:pt x="81458" y="216662"/>
                  </a:lnTo>
                  <a:lnTo>
                    <a:pt x="74035" y="215167"/>
                  </a:lnTo>
                  <a:lnTo>
                    <a:pt x="67980" y="211089"/>
                  </a:lnTo>
                  <a:lnTo>
                    <a:pt x="66472" y="208850"/>
                  </a:lnTo>
                  <a:close/>
                </a:path>
                <a:path extrusionOk="0" h="395604" w="171450">
                  <a:moveTo>
                    <a:pt x="66472" y="197612"/>
                  </a:moveTo>
                  <a:lnTo>
                    <a:pt x="66472" y="208850"/>
                  </a:lnTo>
                  <a:lnTo>
                    <a:pt x="67980" y="211089"/>
                  </a:lnTo>
                  <a:lnTo>
                    <a:pt x="74035" y="215167"/>
                  </a:lnTo>
                  <a:lnTo>
                    <a:pt x="81458" y="216662"/>
                  </a:lnTo>
                  <a:lnTo>
                    <a:pt x="85522" y="216662"/>
                  </a:lnTo>
                  <a:lnTo>
                    <a:pt x="66472" y="197612"/>
                  </a:lnTo>
                  <a:close/>
                </a:path>
                <a:path extrusionOk="0" h="395604" w="171450">
                  <a:moveTo>
                    <a:pt x="100508" y="186373"/>
                  </a:moveTo>
                  <a:lnTo>
                    <a:pt x="100508" y="197612"/>
                  </a:lnTo>
                  <a:lnTo>
                    <a:pt x="66472" y="197612"/>
                  </a:lnTo>
                  <a:lnTo>
                    <a:pt x="85522" y="216662"/>
                  </a:lnTo>
                  <a:lnTo>
                    <a:pt x="104572" y="216662"/>
                  </a:lnTo>
                  <a:lnTo>
                    <a:pt x="104572" y="197612"/>
                  </a:lnTo>
                  <a:lnTo>
                    <a:pt x="103078" y="190188"/>
                  </a:lnTo>
                  <a:lnTo>
                    <a:pt x="100508" y="186373"/>
                  </a:lnTo>
                  <a:close/>
                </a:path>
                <a:path extrusionOk="0" h="395604" w="171450">
                  <a:moveTo>
                    <a:pt x="100508" y="0"/>
                  </a:moveTo>
                  <a:lnTo>
                    <a:pt x="62408" y="0"/>
                  </a:lnTo>
                  <a:lnTo>
                    <a:pt x="62408" y="197612"/>
                  </a:lnTo>
                  <a:lnTo>
                    <a:pt x="63902" y="205035"/>
                  </a:lnTo>
                  <a:lnTo>
                    <a:pt x="66472" y="208850"/>
                  </a:lnTo>
                  <a:lnTo>
                    <a:pt x="66472" y="197612"/>
                  </a:lnTo>
                  <a:lnTo>
                    <a:pt x="100508" y="197612"/>
                  </a:lnTo>
                  <a:lnTo>
                    <a:pt x="81458" y="178562"/>
                  </a:lnTo>
                  <a:lnTo>
                    <a:pt x="100508" y="178562"/>
                  </a:lnTo>
                  <a:lnTo>
                    <a:pt x="100508" y="0"/>
                  </a:lnTo>
                  <a:close/>
                </a:path>
                <a:path extrusionOk="0" h="395604" w="171450">
                  <a:moveTo>
                    <a:pt x="85522" y="178562"/>
                  </a:moveTo>
                  <a:lnTo>
                    <a:pt x="81458" y="178562"/>
                  </a:lnTo>
                  <a:lnTo>
                    <a:pt x="100508" y="197612"/>
                  </a:lnTo>
                  <a:lnTo>
                    <a:pt x="100508" y="186373"/>
                  </a:lnTo>
                  <a:lnTo>
                    <a:pt x="99000" y="184134"/>
                  </a:lnTo>
                  <a:lnTo>
                    <a:pt x="92946" y="180056"/>
                  </a:lnTo>
                  <a:lnTo>
                    <a:pt x="85522" y="178562"/>
                  </a:lnTo>
                  <a:close/>
                </a:path>
                <a:path extrusionOk="0" h="395604" w="171450">
                  <a:moveTo>
                    <a:pt x="100508" y="178562"/>
                  </a:moveTo>
                  <a:lnTo>
                    <a:pt x="85522" y="178562"/>
                  </a:lnTo>
                  <a:lnTo>
                    <a:pt x="92946" y="180056"/>
                  </a:lnTo>
                  <a:lnTo>
                    <a:pt x="99000" y="184134"/>
                  </a:lnTo>
                  <a:lnTo>
                    <a:pt x="100508" y="186373"/>
                  </a:lnTo>
                  <a:lnTo>
                    <a:pt x="100508" y="178562"/>
                  </a:lnTo>
                  <a:close/>
                </a:path>
              </a:pathLst>
            </a:custGeom>
            <a:solidFill>
              <a:srgbClr val="C0504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Gothic"/>
                <a:ea typeface="Century Gothic"/>
                <a:cs typeface="Century Gothic"/>
                <a:sym typeface="Century Gothic"/>
              </a:endParaRPr>
            </a:p>
          </p:txBody>
        </p:sp>
        <p:pic>
          <p:nvPicPr>
            <p:cNvPr id="206" name="Google Shape;206;p22"/>
            <p:cNvPicPr preferRelativeResize="0"/>
            <p:nvPr/>
          </p:nvPicPr>
          <p:blipFill rotWithShape="1">
            <a:blip r:embed="rId12">
              <a:alphaModFix/>
            </a:blip>
            <a:srcRect b="0" l="0" r="0" t="0"/>
            <a:stretch/>
          </p:blipFill>
          <p:spPr>
            <a:xfrm>
              <a:off x="4584192" y="5173979"/>
              <a:ext cx="3296412" cy="787907"/>
            </a:xfrm>
            <a:prstGeom prst="rect">
              <a:avLst/>
            </a:prstGeom>
            <a:noFill/>
            <a:ln>
              <a:noFill/>
            </a:ln>
          </p:spPr>
        </p:pic>
        <p:sp>
          <p:nvSpPr>
            <p:cNvPr id="207" name="Google Shape;207;p22"/>
            <p:cNvSpPr/>
            <p:nvPr/>
          </p:nvSpPr>
          <p:spPr>
            <a:xfrm>
              <a:off x="4626356" y="5278068"/>
              <a:ext cx="3042284" cy="618489"/>
            </a:xfrm>
            <a:custGeom>
              <a:rect b="b" l="l" r="r" t="t"/>
              <a:pathLst>
                <a:path extrusionOk="0" h="618489" w="3042284">
                  <a:moveTo>
                    <a:pt x="38100" y="370662"/>
                  </a:moveTo>
                  <a:lnTo>
                    <a:pt x="0" y="370662"/>
                  </a:lnTo>
                  <a:lnTo>
                    <a:pt x="0" y="599262"/>
                  </a:lnTo>
                  <a:lnTo>
                    <a:pt x="1494" y="606681"/>
                  </a:lnTo>
                  <a:lnTo>
                    <a:pt x="5572" y="612736"/>
                  </a:lnTo>
                  <a:lnTo>
                    <a:pt x="11626" y="616816"/>
                  </a:lnTo>
                  <a:lnTo>
                    <a:pt x="19050" y="618312"/>
                  </a:lnTo>
                  <a:lnTo>
                    <a:pt x="1859534" y="618312"/>
                  </a:lnTo>
                  <a:lnTo>
                    <a:pt x="1866957" y="616816"/>
                  </a:lnTo>
                  <a:lnTo>
                    <a:pt x="1873011" y="612736"/>
                  </a:lnTo>
                  <a:lnTo>
                    <a:pt x="1877089" y="606681"/>
                  </a:lnTo>
                  <a:lnTo>
                    <a:pt x="1878584" y="599262"/>
                  </a:lnTo>
                  <a:lnTo>
                    <a:pt x="38100" y="599262"/>
                  </a:lnTo>
                  <a:lnTo>
                    <a:pt x="19050" y="580212"/>
                  </a:lnTo>
                  <a:lnTo>
                    <a:pt x="38100" y="580212"/>
                  </a:lnTo>
                  <a:lnTo>
                    <a:pt x="38100" y="370662"/>
                  </a:lnTo>
                  <a:close/>
                </a:path>
                <a:path extrusionOk="0" h="618489" w="3042284">
                  <a:moveTo>
                    <a:pt x="38100" y="580212"/>
                  </a:moveTo>
                  <a:lnTo>
                    <a:pt x="19050" y="580212"/>
                  </a:lnTo>
                  <a:lnTo>
                    <a:pt x="38100" y="599262"/>
                  </a:lnTo>
                  <a:lnTo>
                    <a:pt x="38100" y="580212"/>
                  </a:lnTo>
                  <a:close/>
                </a:path>
                <a:path extrusionOk="0" h="618489" w="3042284">
                  <a:moveTo>
                    <a:pt x="1840484" y="580212"/>
                  </a:moveTo>
                  <a:lnTo>
                    <a:pt x="38100" y="580212"/>
                  </a:lnTo>
                  <a:lnTo>
                    <a:pt x="38100" y="599262"/>
                  </a:lnTo>
                  <a:lnTo>
                    <a:pt x="1840484" y="599262"/>
                  </a:lnTo>
                  <a:lnTo>
                    <a:pt x="1840484" y="580212"/>
                  </a:lnTo>
                  <a:close/>
                </a:path>
                <a:path extrusionOk="0" h="618489" w="3042284">
                  <a:moveTo>
                    <a:pt x="2933700" y="66472"/>
                  </a:moveTo>
                  <a:lnTo>
                    <a:pt x="1859534" y="66472"/>
                  </a:lnTo>
                  <a:lnTo>
                    <a:pt x="1852110" y="67966"/>
                  </a:lnTo>
                  <a:lnTo>
                    <a:pt x="1846056" y="72044"/>
                  </a:lnTo>
                  <a:lnTo>
                    <a:pt x="1841978" y="78099"/>
                  </a:lnTo>
                  <a:lnTo>
                    <a:pt x="1840484" y="85522"/>
                  </a:lnTo>
                  <a:lnTo>
                    <a:pt x="1840484" y="599262"/>
                  </a:lnTo>
                  <a:lnTo>
                    <a:pt x="1859534" y="580212"/>
                  </a:lnTo>
                  <a:lnTo>
                    <a:pt x="1878584" y="580212"/>
                  </a:lnTo>
                  <a:lnTo>
                    <a:pt x="1878584" y="104572"/>
                  </a:lnTo>
                  <a:lnTo>
                    <a:pt x="1859534" y="104572"/>
                  </a:lnTo>
                  <a:lnTo>
                    <a:pt x="1878584" y="85522"/>
                  </a:lnTo>
                  <a:lnTo>
                    <a:pt x="2966357" y="85522"/>
                  </a:lnTo>
                  <a:lnTo>
                    <a:pt x="2933700" y="66472"/>
                  </a:lnTo>
                  <a:close/>
                </a:path>
                <a:path extrusionOk="0" h="618489" w="3042284">
                  <a:moveTo>
                    <a:pt x="1878584" y="580212"/>
                  </a:moveTo>
                  <a:lnTo>
                    <a:pt x="1859534" y="580212"/>
                  </a:lnTo>
                  <a:lnTo>
                    <a:pt x="1840484" y="599262"/>
                  </a:lnTo>
                  <a:lnTo>
                    <a:pt x="1878584" y="599262"/>
                  </a:lnTo>
                  <a:lnTo>
                    <a:pt x="1878584" y="580212"/>
                  </a:lnTo>
                  <a:close/>
                </a:path>
                <a:path extrusionOk="0" h="618489" w="3042284">
                  <a:moveTo>
                    <a:pt x="2966466" y="85586"/>
                  </a:moveTo>
                  <a:lnTo>
                    <a:pt x="2880360" y="135814"/>
                  </a:lnTo>
                  <a:lnTo>
                    <a:pt x="2874680" y="140846"/>
                  </a:lnTo>
                  <a:lnTo>
                    <a:pt x="2871501" y="147403"/>
                  </a:lnTo>
                  <a:lnTo>
                    <a:pt x="2871037" y="154674"/>
                  </a:lnTo>
                  <a:lnTo>
                    <a:pt x="2873502" y="161849"/>
                  </a:lnTo>
                  <a:lnTo>
                    <a:pt x="2878552" y="167475"/>
                  </a:lnTo>
                  <a:lnTo>
                    <a:pt x="2885138" y="170660"/>
                  </a:lnTo>
                  <a:lnTo>
                    <a:pt x="2892415" y="171154"/>
                  </a:lnTo>
                  <a:lnTo>
                    <a:pt x="2899537" y="168707"/>
                  </a:lnTo>
                  <a:lnTo>
                    <a:pt x="3009398" y="104572"/>
                  </a:lnTo>
                  <a:lnTo>
                    <a:pt x="3004312" y="104572"/>
                  </a:lnTo>
                  <a:lnTo>
                    <a:pt x="3004312" y="102032"/>
                  </a:lnTo>
                  <a:lnTo>
                    <a:pt x="2994660" y="102032"/>
                  </a:lnTo>
                  <a:lnTo>
                    <a:pt x="2966466" y="85586"/>
                  </a:lnTo>
                  <a:close/>
                </a:path>
                <a:path extrusionOk="0" h="618489" w="3042284">
                  <a:moveTo>
                    <a:pt x="1878584" y="85522"/>
                  </a:moveTo>
                  <a:lnTo>
                    <a:pt x="1859534" y="104572"/>
                  </a:lnTo>
                  <a:lnTo>
                    <a:pt x="1878584" y="104572"/>
                  </a:lnTo>
                  <a:lnTo>
                    <a:pt x="1878584" y="85522"/>
                  </a:lnTo>
                  <a:close/>
                </a:path>
                <a:path extrusionOk="0" h="618489" w="3042284">
                  <a:moveTo>
                    <a:pt x="2966357" y="85522"/>
                  </a:moveTo>
                  <a:lnTo>
                    <a:pt x="1878584" y="85522"/>
                  </a:lnTo>
                  <a:lnTo>
                    <a:pt x="1878584" y="104572"/>
                  </a:lnTo>
                  <a:lnTo>
                    <a:pt x="2933917" y="104572"/>
                  </a:lnTo>
                  <a:lnTo>
                    <a:pt x="2966466" y="85586"/>
                  </a:lnTo>
                  <a:close/>
                </a:path>
                <a:path extrusionOk="0" h="618489" w="3042284">
                  <a:moveTo>
                    <a:pt x="3009348" y="66472"/>
                  </a:moveTo>
                  <a:lnTo>
                    <a:pt x="3004312" y="66472"/>
                  </a:lnTo>
                  <a:lnTo>
                    <a:pt x="3004312" y="104572"/>
                  </a:lnTo>
                  <a:lnTo>
                    <a:pt x="3009398" y="104572"/>
                  </a:lnTo>
                  <a:lnTo>
                    <a:pt x="3042030" y="85522"/>
                  </a:lnTo>
                  <a:lnTo>
                    <a:pt x="3009348" y="66472"/>
                  </a:lnTo>
                  <a:close/>
                </a:path>
                <a:path extrusionOk="0" h="618489" w="3042284">
                  <a:moveTo>
                    <a:pt x="2994660" y="69139"/>
                  </a:moveTo>
                  <a:lnTo>
                    <a:pt x="2966466" y="85586"/>
                  </a:lnTo>
                  <a:lnTo>
                    <a:pt x="2994660" y="102032"/>
                  </a:lnTo>
                  <a:lnTo>
                    <a:pt x="2994660" y="69139"/>
                  </a:lnTo>
                  <a:close/>
                </a:path>
                <a:path extrusionOk="0" h="618489" w="3042284">
                  <a:moveTo>
                    <a:pt x="3004312" y="69139"/>
                  </a:moveTo>
                  <a:lnTo>
                    <a:pt x="2994660" y="69139"/>
                  </a:lnTo>
                  <a:lnTo>
                    <a:pt x="2994660" y="102032"/>
                  </a:lnTo>
                  <a:lnTo>
                    <a:pt x="3004312" y="102032"/>
                  </a:lnTo>
                  <a:lnTo>
                    <a:pt x="3004312" y="69139"/>
                  </a:lnTo>
                  <a:close/>
                </a:path>
                <a:path extrusionOk="0" h="618489" w="3042284">
                  <a:moveTo>
                    <a:pt x="2892415" y="0"/>
                  </a:moveTo>
                  <a:lnTo>
                    <a:pt x="2885138" y="464"/>
                  </a:lnTo>
                  <a:lnTo>
                    <a:pt x="2878552" y="3643"/>
                  </a:lnTo>
                  <a:lnTo>
                    <a:pt x="2873502" y="9322"/>
                  </a:lnTo>
                  <a:lnTo>
                    <a:pt x="2871037" y="16444"/>
                  </a:lnTo>
                  <a:lnTo>
                    <a:pt x="2871501" y="23721"/>
                  </a:lnTo>
                  <a:lnTo>
                    <a:pt x="2874680" y="30307"/>
                  </a:lnTo>
                  <a:lnTo>
                    <a:pt x="2880360" y="35357"/>
                  </a:lnTo>
                  <a:lnTo>
                    <a:pt x="2966466" y="85586"/>
                  </a:lnTo>
                  <a:lnTo>
                    <a:pt x="2994660" y="69139"/>
                  </a:lnTo>
                  <a:lnTo>
                    <a:pt x="3004312" y="69139"/>
                  </a:lnTo>
                  <a:lnTo>
                    <a:pt x="3004312" y="66472"/>
                  </a:lnTo>
                  <a:lnTo>
                    <a:pt x="3009348" y="66472"/>
                  </a:lnTo>
                  <a:lnTo>
                    <a:pt x="2899537" y="2464"/>
                  </a:lnTo>
                  <a:lnTo>
                    <a:pt x="2892415" y="0"/>
                  </a:lnTo>
                  <a:close/>
                </a:path>
              </a:pathLst>
            </a:custGeom>
            <a:solidFill>
              <a:srgbClr val="C0504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Gothic"/>
                <a:ea typeface="Century Gothic"/>
                <a:cs typeface="Century Gothic"/>
                <a:sym typeface="Century Gothic"/>
              </a:endParaRPr>
            </a:p>
          </p:txBody>
        </p:sp>
      </p:grpSp>
      <p:sp>
        <p:nvSpPr>
          <p:cNvPr id="208" name="Google Shape;208;p22"/>
          <p:cNvSpPr txBox="1"/>
          <p:nvPr/>
        </p:nvSpPr>
        <p:spPr>
          <a:xfrm>
            <a:off x="4572511" y="5768132"/>
            <a:ext cx="162000" cy="4431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2800"/>
              <a:buFont typeface="Arial"/>
              <a:buNone/>
            </a:pPr>
            <a:r>
              <a:rPr b="1" i="0" lang="pt-BR" sz="2800" u="none" cap="none" strike="noStrike">
                <a:solidFill>
                  <a:srgbClr val="000000"/>
                </a:solidFill>
                <a:latin typeface="Calibri"/>
                <a:ea typeface="Calibri"/>
                <a:cs typeface="Calibri"/>
                <a:sym typeface="Calibri"/>
              </a:rPr>
              <a:t>F</a:t>
            </a:r>
            <a:endParaRPr b="0" i="0" sz="2800" u="none" cap="none" strike="noStrike">
              <a:solidFill>
                <a:srgbClr val="000000"/>
              </a:solidFill>
              <a:latin typeface="Calibri"/>
              <a:ea typeface="Calibri"/>
              <a:cs typeface="Calibri"/>
              <a:sym typeface="Calibri"/>
            </a:endParaRPr>
          </a:p>
        </p:txBody>
      </p:sp>
      <p:pic>
        <p:nvPicPr>
          <p:cNvPr id="209" name="Google Shape;209;p22"/>
          <p:cNvPicPr preferRelativeResize="0"/>
          <p:nvPr/>
        </p:nvPicPr>
        <p:blipFill rotWithShape="1">
          <a:blip r:embed="rId13">
            <a:alphaModFix/>
          </a:blip>
          <a:srcRect b="0" l="0" r="0" t="0"/>
          <a:stretch/>
        </p:blipFill>
        <p:spPr>
          <a:xfrm>
            <a:off x="2412071" y="5309391"/>
            <a:ext cx="781449" cy="551852"/>
          </a:xfrm>
          <a:prstGeom prst="rect">
            <a:avLst/>
          </a:prstGeom>
          <a:noFill/>
          <a:ln>
            <a:noFill/>
          </a:ln>
        </p:spPr>
      </p:pic>
      <p:sp>
        <p:nvSpPr>
          <p:cNvPr id="210" name="Google Shape;210;p22"/>
          <p:cNvSpPr txBox="1"/>
          <p:nvPr/>
        </p:nvSpPr>
        <p:spPr>
          <a:xfrm>
            <a:off x="2592817" y="5372269"/>
            <a:ext cx="411900" cy="259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600"/>
              <a:buFont typeface="Arial"/>
              <a:buNone/>
            </a:pPr>
            <a:r>
              <a:rPr b="0" i="0" lang="pt-BR" sz="1600" u="none" cap="none" strike="noStrike">
                <a:solidFill>
                  <a:srgbClr val="FFFFFF"/>
                </a:solidFill>
                <a:latin typeface="Calibri"/>
                <a:ea typeface="Calibri"/>
                <a:cs typeface="Calibri"/>
                <a:sym typeface="Calibri"/>
              </a:rPr>
              <a:t>X = 1</a:t>
            </a:r>
            <a:endParaRPr b="0" i="0" sz="1600" u="none" cap="none" strike="noStrike">
              <a:solidFill>
                <a:srgbClr val="000000"/>
              </a:solidFill>
              <a:latin typeface="Calibri"/>
              <a:ea typeface="Calibri"/>
              <a:cs typeface="Calibri"/>
              <a:sym typeface="Calibri"/>
            </a:endParaRPr>
          </a:p>
        </p:txBody>
      </p:sp>
      <p:pic>
        <p:nvPicPr>
          <p:cNvPr id="211" name="Google Shape;211;p22"/>
          <p:cNvPicPr preferRelativeResize="0"/>
          <p:nvPr/>
        </p:nvPicPr>
        <p:blipFill rotWithShape="1">
          <a:blip r:embed="rId14">
            <a:alphaModFix/>
          </a:blip>
          <a:srcRect b="0" l="0" r="0" t="0"/>
          <a:stretch/>
        </p:blipFill>
        <p:spPr>
          <a:xfrm>
            <a:off x="4308755" y="3468899"/>
            <a:ext cx="1036697" cy="550372"/>
          </a:xfrm>
          <a:prstGeom prst="rect">
            <a:avLst/>
          </a:prstGeom>
          <a:noFill/>
          <a:ln>
            <a:noFill/>
          </a:ln>
        </p:spPr>
      </p:pic>
      <p:sp>
        <p:nvSpPr>
          <p:cNvPr id="212" name="Google Shape;212;p22"/>
          <p:cNvSpPr txBox="1"/>
          <p:nvPr/>
        </p:nvSpPr>
        <p:spPr>
          <a:xfrm>
            <a:off x="4453825" y="2765651"/>
            <a:ext cx="702000" cy="953100"/>
          </a:xfrm>
          <a:prstGeom prst="rect">
            <a:avLst/>
          </a:prstGeom>
          <a:noFill/>
          <a:ln>
            <a:noFill/>
          </a:ln>
        </p:spPr>
        <p:txBody>
          <a:bodyPr anchorCtr="0" anchor="t" bIns="0" lIns="0" spcFirstLastPara="1" rIns="0" wrap="square" tIns="12700">
            <a:spAutoFit/>
          </a:bodyPr>
          <a:lstStyle/>
          <a:p>
            <a:pPr indent="0" lvl="0" marL="0" marR="635" rtl="0" algn="ctr">
              <a:lnSpc>
                <a:spcPct val="100000"/>
              </a:lnSpc>
              <a:spcBef>
                <a:spcPts val="0"/>
              </a:spcBef>
              <a:spcAft>
                <a:spcPts val="0"/>
              </a:spcAft>
              <a:buClr>
                <a:srgbClr val="000000"/>
              </a:buClr>
              <a:buSzPts val="1600"/>
              <a:buFont typeface="Arial"/>
              <a:buNone/>
            </a:pPr>
            <a:r>
              <a:rPr b="0" i="0" lang="pt-BR" sz="1600" u="none" cap="none" strike="noStrike">
                <a:solidFill>
                  <a:srgbClr val="FFFFFF"/>
                </a:solidFill>
                <a:latin typeface="Calibri"/>
                <a:ea typeface="Calibri"/>
                <a:cs typeface="Calibri"/>
                <a:sym typeface="Calibri"/>
              </a:rPr>
              <a:t>X</a:t>
            </a: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1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FFFFFF"/>
                </a:solidFill>
                <a:latin typeface="Calibri"/>
                <a:ea typeface="Calibri"/>
                <a:cs typeface="Calibri"/>
                <a:sym typeface="Calibri"/>
              </a:rPr>
              <a:t>X = X + 1</a:t>
            </a:r>
            <a:endParaRPr b="0" i="0" sz="1600" u="none" cap="none" strike="noStrike">
              <a:solidFill>
                <a:srgbClr val="000000"/>
              </a:solidFill>
              <a:latin typeface="Calibri"/>
              <a:ea typeface="Calibri"/>
              <a:cs typeface="Calibri"/>
              <a:sym typeface="Calibri"/>
            </a:endParaRPr>
          </a:p>
        </p:txBody>
      </p:sp>
      <p:grpSp>
        <p:nvGrpSpPr>
          <p:cNvPr id="213" name="Google Shape;213;p22"/>
          <p:cNvGrpSpPr/>
          <p:nvPr/>
        </p:nvGrpSpPr>
        <p:grpSpPr>
          <a:xfrm>
            <a:off x="4618986" y="3828425"/>
            <a:ext cx="365201" cy="1705863"/>
            <a:chOff x="4433315" y="3662171"/>
            <a:chExt cx="425196" cy="1757172"/>
          </a:xfrm>
        </p:grpSpPr>
        <p:pic>
          <p:nvPicPr>
            <p:cNvPr id="214" name="Google Shape;214;p22"/>
            <p:cNvPicPr preferRelativeResize="0"/>
            <p:nvPr/>
          </p:nvPicPr>
          <p:blipFill rotWithShape="1">
            <a:blip r:embed="rId15">
              <a:alphaModFix/>
            </a:blip>
            <a:srcRect b="0" l="0" r="0" t="0"/>
            <a:stretch/>
          </p:blipFill>
          <p:spPr>
            <a:xfrm>
              <a:off x="4433315" y="3662171"/>
              <a:ext cx="425196" cy="1757172"/>
            </a:xfrm>
            <a:prstGeom prst="rect">
              <a:avLst/>
            </a:prstGeom>
            <a:noFill/>
            <a:ln>
              <a:noFill/>
            </a:ln>
          </p:spPr>
        </p:pic>
        <p:sp>
          <p:nvSpPr>
            <p:cNvPr id="215" name="Google Shape;215;p22"/>
            <p:cNvSpPr/>
            <p:nvPr/>
          </p:nvSpPr>
          <p:spPr>
            <a:xfrm>
              <a:off x="4559756" y="3681475"/>
              <a:ext cx="171450" cy="1502410"/>
            </a:xfrm>
            <a:custGeom>
              <a:rect b="b" l="l" r="r" t="t"/>
              <a:pathLst>
                <a:path extrusionOk="0" h="1502410" w="171450">
                  <a:moveTo>
                    <a:pt x="16498" y="1331233"/>
                  </a:moveTo>
                  <a:lnTo>
                    <a:pt x="9322" y="1333627"/>
                  </a:lnTo>
                  <a:lnTo>
                    <a:pt x="3643" y="1338677"/>
                  </a:lnTo>
                  <a:lnTo>
                    <a:pt x="464" y="1345263"/>
                  </a:lnTo>
                  <a:lnTo>
                    <a:pt x="0" y="1352540"/>
                  </a:lnTo>
                  <a:lnTo>
                    <a:pt x="2464" y="1359662"/>
                  </a:lnTo>
                  <a:lnTo>
                    <a:pt x="85649" y="1502283"/>
                  </a:lnTo>
                  <a:lnTo>
                    <a:pt x="107689" y="1464437"/>
                  </a:lnTo>
                  <a:lnTo>
                    <a:pt x="66599" y="1464437"/>
                  </a:lnTo>
                  <a:lnTo>
                    <a:pt x="66472" y="1393825"/>
                  </a:lnTo>
                  <a:lnTo>
                    <a:pt x="35357" y="1340485"/>
                  </a:lnTo>
                  <a:lnTo>
                    <a:pt x="30325" y="1334877"/>
                  </a:lnTo>
                  <a:lnTo>
                    <a:pt x="23768" y="1331722"/>
                  </a:lnTo>
                  <a:lnTo>
                    <a:pt x="16498" y="1331233"/>
                  </a:lnTo>
                  <a:close/>
                </a:path>
                <a:path extrusionOk="0" h="1502410" w="171450">
                  <a:moveTo>
                    <a:pt x="66599" y="1394042"/>
                  </a:moveTo>
                  <a:lnTo>
                    <a:pt x="66599" y="1464437"/>
                  </a:lnTo>
                  <a:lnTo>
                    <a:pt x="104699" y="1464437"/>
                  </a:lnTo>
                  <a:lnTo>
                    <a:pt x="104699" y="1454785"/>
                  </a:lnTo>
                  <a:lnTo>
                    <a:pt x="69139" y="1454785"/>
                  </a:lnTo>
                  <a:lnTo>
                    <a:pt x="85586" y="1426591"/>
                  </a:lnTo>
                  <a:lnTo>
                    <a:pt x="66599" y="1394042"/>
                  </a:lnTo>
                  <a:close/>
                </a:path>
                <a:path extrusionOk="0" h="1502410" w="171450">
                  <a:moveTo>
                    <a:pt x="154727" y="1331233"/>
                  </a:moveTo>
                  <a:lnTo>
                    <a:pt x="147450" y="1331722"/>
                  </a:lnTo>
                  <a:lnTo>
                    <a:pt x="140864" y="1334877"/>
                  </a:lnTo>
                  <a:lnTo>
                    <a:pt x="135814" y="1340485"/>
                  </a:lnTo>
                  <a:lnTo>
                    <a:pt x="104699" y="1393825"/>
                  </a:lnTo>
                  <a:lnTo>
                    <a:pt x="104699" y="1464437"/>
                  </a:lnTo>
                  <a:lnTo>
                    <a:pt x="107689" y="1464437"/>
                  </a:lnTo>
                  <a:lnTo>
                    <a:pt x="168707" y="1359662"/>
                  </a:lnTo>
                  <a:lnTo>
                    <a:pt x="171172" y="1352540"/>
                  </a:lnTo>
                  <a:lnTo>
                    <a:pt x="170707" y="1345263"/>
                  </a:lnTo>
                  <a:lnTo>
                    <a:pt x="167528" y="1338677"/>
                  </a:lnTo>
                  <a:lnTo>
                    <a:pt x="161849" y="1333627"/>
                  </a:lnTo>
                  <a:lnTo>
                    <a:pt x="154727" y="1331233"/>
                  </a:lnTo>
                  <a:close/>
                </a:path>
                <a:path extrusionOk="0" h="1502410" w="171450">
                  <a:moveTo>
                    <a:pt x="85586" y="1426591"/>
                  </a:moveTo>
                  <a:lnTo>
                    <a:pt x="69139" y="1454785"/>
                  </a:lnTo>
                  <a:lnTo>
                    <a:pt x="102032" y="1454785"/>
                  </a:lnTo>
                  <a:lnTo>
                    <a:pt x="85586" y="1426591"/>
                  </a:lnTo>
                  <a:close/>
                </a:path>
                <a:path extrusionOk="0" h="1502410" w="171450">
                  <a:moveTo>
                    <a:pt x="104699" y="1393825"/>
                  </a:moveTo>
                  <a:lnTo>
                    <a:pt x="85586" y="1426591"/>
                  </a:lnTo>
                  <a:lnTo>
                    <a:pt x="102032" y="1454785"/>
                  </a:lnTo>
                  <a:lnTo>
                    <a:pt x="104699" y="1454785"/>
                  </a:lnTo>
                  <a:lnTo>
                    <a:pt x="104699" y="1393825"/>
                  </a:lnTo>
                  <a:close/>
                </a:path>
                <a:path extrusionOk="0" h="1502410" w="171450">
                  <a:moveTo>
                    <a:pt x="70663" y="739839"/>
                  </a:moveTo>
                  <a:lnTo>
                    <a:pt x="68093" y="743654"/>
                  </a:lnTo>
                  <a:lnTo>
                    <a:pt x="66599" y="751078"/>
                  </a:lnTo>
                  <a:lnTo>
                    <a:pt x="66599" y="1394042"/>
                  </a:lnTo>
                  <a:lnTo>
                    <a:pt x="85586" y="1426591"/>
                  </a:lnTo>
                  <a:lnTo>
                    <a:pt x="104572" y="1394042"/>
                  </a:lnTo>
                  <a:lnTo>
                    <a:pt x="104699" y="770128"/>
                  </a:lnTo>
                  <a:lnTo>
                    <a:pt x="85649" y="770128"/>
                  </a:lnTo>
                  <a:lnTo>
                    <a:pt x="104699" y="751078"/>
                  </a:lnTo>
                  <a:lnTo>
                    <a:pt x="70663" y="751078"/>
                  </a:lnTo>
                  <a:lnTo>
                    <a:pt x="70663" y="739839"/>
                  </a:lnTo>
                  <a:close/>
                </a:path>
                <a:path extrusionOk="0" h="1502410" w="171450">
                  <a:moveTo>
                    <a:pt x="104699" y="751078"/>
                  </a:moveTo>
                  <a:lnTo>
                    <a:pt x="85649" y="770128"/>
                  </a:lnTo>
                  <a:lnTo>
                    <a:pt x="89713" y="770128"/>
                  </a:lnTo>
                  <a:lnTo>
                    <a:pt x="97137" y="768633"/>
                  </a:lnTo>
                  <a:lnTo>
                    <a:pt x="103191" y="764555"/>
                  </a:lnTo>
                  <a:lnTo>
                    <a:pt x="104699" y="762316"/>
                  </a:lnTo>
                  <a:lnTo>
                    <a:pt x="104699" y="751078"/>
                  </a:lnTo>
                  <a:close/>
                </a:path>
                <a:path extrusionOk="0" h="1502410" w="171450">
                  <a:moveTo>
                    <a:pt x="104699" y="762316"/>
                  </a:moveTo>
                  <a:lnTo>
                    <a:pt x="103191" y="764555"/>
                  </a:lnTo>
                  <a:lnTo>
                    <a:pt x="97137" y="768633"/>
                  </a:lnTo>
                  <a:lnTo>
                    <a:pt x="89713" y="770128"/>
                  </a:lnTo>
                  <a:lnTo>
                    <a:pt x="104699" y="770128"/>
                  </a:lnTo>
                  <a:lnTo>
                    <a:pt x="104699" y="762316"/>
                  </a:lnTo>
                  <a:close/>
                </a:path>
                <a:path extrusionOk="0" h="1502410" w="171450">
                  <a:moveTo>
                    <a:pt x="108763" y="732028"/>
                  </a:moveTo>
                  <a:lnTo>
                    <a:pt x="89713" y="732028"/>
                  </a:lnTo>
                  <a:lnTo>
                    <a:pt x="70663" y="751078"/>
                  </a:lnTo>
                  <a:lnTo>
                    <a:pt x="104699" y="751078"/>
                  </a:lnTo>
                  <a:lnTo>
                    <a:pt x="104699" y="762316"/>
                  </a:lnTo>
                  <a:lnTo>
                    <a:pt x="107269" y="758501"/>
                  </a:lnTo>
                  <a:lnTo>
                    <a:pt x="108763" y="751078"/>
                  </a:lnTo>
                  <a:lnTo>
                    <a:pt x="108763" y="732028"/>
                  </a:lnTo>
                  <a:close/>
                </a:path>
                <a:path extrusionOk="0" h="1502410" w="171450">
                  <a:moveTo>
                    <a:pt x="89713" y="732028"/>
                  </a:moveTo>
                  <a:lnTo>
                    <a:pt x="85649" y="732028"/>
                  </a:lnTo>
                  <a:lnTo>
                    <a:pt x="78226" y="733522"/>
                  </a:lnTo>
                  <a:lnTo>
                    <a:pt x="72171" y="737600"/>
                  </a:lnTo>
                  <a:lnTo>
                    <a:pt x="70663" y="739839"/>
                  </a:lnTo>
                  <a:lnTo>
                    <a:pt x="70663" y="751078"/>
                  </a:lnTo>
                  <a:lnTo>
                    <a:pt x="89713" y="732028"/>
                  </a:lnTo>
                  <a:close/>
                </a:path>
                <a:path extrusionOk="0" h="1502410" w="171450">
                  <a:moveTo>
                    <a:pt x="108763" y="0"/>
                  </a:moveTo>
                  <a:lnTo>
                    <a:pt x="70663" y="0"/>
                  </a:lnTo>
                  <a:lnTo>
                    <a:pt x="70663" y="739839"/>
                  </a:lnTo>
                  <a:lnTo>
                    <a:pt x="72171" y="737600"/>
                  </a:lnTo>
                  <a:lnTo>
                    <a:pt x="78226" y="733522"/>
                  </a:lnTo>
                  <a:lnTo>
                    <a:pt x="85649" y="732028"/>
                  </a:lnTo>
                  <a:lnTo>
                    <a:pt x="108763" y="732028"/>
                  </a:lnTo>
                  <a:lnTo>
                    <a:pt x="108763" y="0"/>
                  </a:lnTo>
                  <a:close/>
                </a:path>
              </a:pathLst>
            </a:custGeom>
            <a:solidFill>
              <a:srgbClr val="C0504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Gothic"/>
                <a:ea typeface="Century Gothic"/>
                <a:cs typeface="Century Gothic"/>
                <a:sym typeface="Century Gothic"/>
              </a:endParaRPr>
            </a:p>
          </p:txBody>
        </p:sp>
      </p:grpSp>
      <p:sp>
        <p:nvSpPr>
          <p:cNvPr id="216" name="Google Shape;216;p22"/>
          <p:cNvSpPr/>
          <p:nvPr/>
        </p:nvSpPr>
        <p:spPr>
          <a:xfrm>
            <a:off x="4416880" y="2019807"/>
            <a:ext cx="876600" cy="5727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i="0" lang="pt-BR" sz="1050" u="none" cap="none" strike="noStrike">
                <a:solidFill>
                  <a:srgbClr val="F2F2F2"/>
                </a:solidFill>
                <a:latin typeface="Arial Black"/>
                <a:ea typeface="Arial Black"/>
                <a:cs typeface="Arial Black"/>
                <a:sym typeface="Arial Black"/>
              </a:rPr>
              <a:t>cout &lt;&lt; x</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50"/>
              <a:buFont typeface="Arial"/>
              <a:buNone/>
            </a:pPr>
            <a:r>
              <a:rPr b="1" i="0" lang="pt-BR" sz="1050" u="none" cap="none" strike="noStrike">
                <a:solidFill>
                  <a:srgbClr val="F2F2F2"/>
                </a:solidFill>
                <a:latin typeface="Arial Black"/>
                <a:ea typeface="Arial Black"/>
                <a:cs typeface="Arial Black"/>
                <a:sym typeface="Arial Black"/>
              </a:rPr>
              <a:t>X =x +1</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3"/>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90000"/>
              </a:lnSpc>
              <a:spcBef>
                <a:spcPts val="0"/>
              </a:spcBef>
              <a:spcAft>
                <a:spcPts val="0"/>
              </a:spcAft>
              <a:buClr>
                <a:schemeClr val="dk1"/>
              </a:buClr>
              <a:buSzPts val="3200"/>
              <a:buFont typeface="Calibri"/>
              <a:buChar char="•"/>
            </a:pPr>
            <a:r>
              <a:rPr b="0" i="0" lang="pt-BR" sz="3200" u="none" cap="none" strike="noStrike">
                <a:solidFill>
                  <a:schemeClr val="dk1"/>
                </a:solidFill>
                <a:latin typeface="Calibri"/>
                <a:ea typeface="Calibri"/>
                <a:cs typeface="Calibri"/>
                <a:sym typeface="Calibri"/>
              </a:rPr>
              <a:t>Estrutura de controle de fluxo de execução que permite repetir N vezes um trecho do algoritmo, verificando sempre </a:t>
            </a:r>
            <a:r>
              <a:rPr b="1" i="0" lang="pt-BR" sz="3200" u="sng" cap="none" strike="noStrike">
                <a:solidFill>
                  <a:schemeClr val="dk1"/>
                </a:solidFill>
                <a:latin typeface="Calibri"/>
                <a:ea typeface="Calibri"/>
                <a:cs typeface="Calibri"/>
                <a:sym typeface="Calibri"/>
              </a:rPr>
              <a:t>antes</a:t>
            </a:r>
            <a:r>
              <a:rPr b="0" i="0" lang="pt-BR" sz="3200" u="none" cap="none" strike="noStrike">
                <a:solidFill>
                  <a:schemeClr val="dk1"/>
                </a:solidFill>
                <a:latin typeface="Calibri"/>
                <a:ea typeface="Calibri"/>
                <a:cs typeface="Calibri"/>
                <a:sym typeface="Calibri"/>
              </a:rPr>
              <a:t> de cada execução se a condição é verdadeira.</a:t>
            </a:r>
            <a:endParaRPr b="0" i="0" sz="1400" u="none" cap="none" strike="noStrike">
              <a:solidFill>
                <a:srgbClr val="000000"/>
              </a:solidFill>
              <a:latin typeface="Arial"/>
              <a:ea typeface="Arial"/>
              <a:cs typeface="Arial"/>
              <a:sym typeface="Arial"/>
            </a:endParaRPr>
          </a:p>
          <a:p>
            <a:pPr indent="-457200" lvl="0" marL="457200" marR="0" rtl="0" algn="l">
              <a:lnSpc>
                <a:spcPct val="90000"/>
              </a:lnSpc>
              <a:spcBef>
                <a:spcPts val="640"/>
              </a:spcBef>
              <a:spcAft>
                <a:spcPts val="0"/>
              </a:spcAft>
              <a:buClr>
                <a:schemeClr val="dk1"/>
              </a:buClr>
              <a:buSzPts val="3200"/>
              <a:buFont typeface="Calibri"/>
              <a:buChar char="•"/>
            </a:pPr>
            <a:r>
              <a:rPr b="0" i="0" lang="pt-BR" sz="3200" u="none" cap="none" strike="noStrike">
                <a:solidFill>
                  <a:schemeClr val="dk1"/>
                </a:solidFill>
                <a:latin typeface="Calibri"/>
                <a:ea typeface="Calibri"/>
                <a:cs typeface="Calibri"/>
                <a:sym typeface="Calibri"/>
              </a:rPr>
              <a:t>Sintaxe</a:t>
            </a:r>
            <a:endParaRPr b="0" i="0" sz="1400" u="none" cap="none" strike="noStrike">
              <a:solidFill>
                <a:srgbClr val="000000"/>
              </a:solidFill>
              <a:latin typeface="Arial"/>
              <a:ea typeface="Arial"/>
              <a:cs typeface="Arial"/>
              <a:sym typeface="Arial"/>
            </a:endParaRPr>
          </a:p>
          <a:p>
            <a:pPr indent="0" lvl="4" marL="0" marR="0" rtl="0" algn="l">
              <a:lnSpc>
                <a:spcPct val="90000"/>
              </a:lnSpc>
              <a:spcBef>
                <a:spcPts val="640"/>
              </a:spcBef>
              <a:spcAft>
                <a:spcPts val="0"/>
              </a:spcAft>
              <a:buNone/>
            </a:pPr>
            <a:r>
              <a:rPr b="0" i="0" lang="pt-BR" sz="2800" u="none" cap="none" strike="noStrike">
                <a:solidFill>
                  <a:schemeClr val="dk1"/>
                </a:solidFill>
                <a:latin typeface="Calibri"/>
                <a:ea typeface="Calibri"/>
                <a:cs typeface="Calibri"/>
                <a:sym typeface="Calibri"/>
              </a:rPr>
              <a:t>enquanto &lt;condição&gt; faca</a:t>
            </a:r>
            <a:endParaRPr b="0" i="0" sz="1200" u="none" cap="none" strike="noStrike">
              <a:solidFill>
                <a:srgbClr val="000000"/>
              </a:solidFill>
              <a:latin typeface="Arial"/>
              <a:ea typeface="Arial"/>
              <a:cs typeface="Arial"/>
              <a:sym typeface="Arial"/>
            </a:endParaRPr>
          </a:p>
          <a:p>
            <a:pPr indent="0" lvl="4" marL="0" marR="0" rtl="0" algn="l">
              <a:lnSpc>
                <a:spcPct val="100000"/>
              </a:lnSpc>
              <a:spcBef>
                <a:spcPts val="640"/>
              </a:spcBef>
              <a:spcAft>
                <a:spcPts val="0"/>
              </a:spcAft>
              <a:buNone/>
            </a:pPr>
            <a:r>
              <a:rPr b="0" i="0" lang="pt-BR" sz="2800" u="none" cap="none" strike="noStrike">
                <a:solidFill>
                  <a:schemeClr val="dk1"/>
                </a:solidFill>
                <a:latin typeface="Calibri"/>
                <a:ea typeface="Calibri"/>
                <a:cs typeface="Calibri"/>
                <a:sym typeface="Calibri"/>
              </a:rPr>
              <a:t>       &lt;lista de comandos&gt;</a:t>
            </a:r>
            <a:endParaRPr b="0" i="0" sz="1200" u="none" cap="none" strike="noStrike">
              <a:solidFill>
                <a:srgbClr val="000000"/>
              </a:solidFill>
              <a:latin typeface="Arial"/>
              <a:ea typeface="Arial"/>
              <a:cs typeface="Arial"/>
              <a:sym typeface="Arial"/>
            </a:endParaRPr>
          </a:p>
          <a:p>
            <a:pPr indent="0" lvl="4" marL="0" marR="0" rtl="0" algn="l">
              <a:lnSpc>
                <a:spcPct val="100000"/>
              </a:lnSpc>
              <a:spcBef>
                <a:spcPts val="640"/>
              </a:spcBef>
              <a:spcAft>
                <a:spcPts val="0"/>
              </a:spcAft>
              <a:buNone/>
            </a:pPr>
            <a:r>
              <a:rPr b="0" i="0" lang="pt-BR" sz="2800" u="none" cap="none" strike="noStrike">
                <a:solidFill>
                  <a:schemeClr val="dk1"/>
                </a:solidFill>
                <a:latin typeface="Calibri"/>
                <a:ea typeface="Calibri"/>
                <a:cs typeface="Calibri"/>
                <a:sym typeface="Calibri"/>
              </a:rPr>
              <a:t>       &lt;incremento/decremento do controlador&gt;</a:t>
            </a:r>
            <a:endParaRPr b="0" i="0" sz="1200" u="none" cap="none" strike="noStrike">
              <a:solidFill>
                <a:srgbClr val="000000"/>
              </a:solidFill>
              <a:latin typeface="Arial"/>
              <a:ea typeface="Arial"/>
              <a:cs typeface="Arial"/>
              <a:sym typeface="Arial"/>
            </a:endParaRPr>
          </a:p>
          <a:p>
            <a:pPr indent="0" lvl="4" marL="0" marR="0" rtl="0" algn="l">
              <a:lnSpc>
                <a:spcPct val="90000"/>
              </a:lnSpc>
              <a:spcBef>
                <a:spcPts val="640"/>
              </a:spcBef>
              <a:spcAft>
                <a:spcPts val="0"/>
              </a:spcAft>
              <a:buNone/>
            </a:pPr>
            <a:r>
              <a:rPr b="0" i="0" lang="pt-BR" sz="2800" u="none" cap="none" strike="noStrike">
                <a:solidFill>
                  <a:schemeClr val="dk1"/>
                </a:solidFill>
                <a:latin typeface="Calibri"/>
                <a:ea typeface="Calibri"/>
                <a:cs typeface="Calibri"/>
                <a:sym typeface="Calibri"/>
              </a:rPr>
              <a:t>fimenquanto</a:t>
            </a:r>
            <a:endParaRPr b="0" i="0" sz="2800" u="none" cap="none" strike="noStrike">
              <a:solidFill>
                <a:schemeClr val="dk1"/>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223" name="Google Shape;223;p23"/>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fontScale="92500"/>
          </a:bodyPr>
          <a:lstStyle/>
          <a:p>
            <a:pPr indent="0" lvl="0" marL="0" marR="0" rtl="0" algn="ctr">
              <a:lnSpc>
                <a:spcPct val="100000"/>
              </a:lnSpc>
              <a:spcBef>
                <a:spcPts val="0"/>
              </a:spcBef>
              <a:spcAft>
                <a:spcPts val="0"/>
              </a:spcAft>
              <a:buClr>
                <a:schemeClr val="dk1"/>
              </a:buClr>
              <a:buSzPct val="100000"/>
              <a:buFont typeface="Calibri"/>
              <a:buNone/>
            </a:pPr>
            <a:r>
              <a:rPr b="0" i="0" lang="pt-BR" sz="4400" u="none" cap="none" strike="noStrike">
                <a:solidFill>
                  <a:schemeClr val="dk1"/>
                </a:solidFill>
                <a:latin typeface="Calibri"/>
                <a:ea typeface="Calibri"/>
                <a:cs typeface="Calibri"/>
                <a:sym typeface="Calibri"/>
              </a:rPr>
              <a:t>COMANDO ENQUANTO</a:t>
            </a:r>
            <a:endParaRPr b="0" i="0" sz="1400" u="none" cap="none" strike="noStrike">
              <a:solidFill>
                <a:srgbClr val="000000"/>
              </a:solidFill>
              <a:latin typeface="Arial"/>
              <a:ea typeface="Arial"/>
              <a:cs typeface="Arial"/>
              <a:sym typeface="Arial"/>
            </a:endParaRPr>
          </a:p>
        </p:txBody>
      </p:sp>
      <p:sp>
        <p:nvSpPr>
          <p:cNvPr id="224" name="Google Shape;224;p23"/>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13:59</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4"/>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254000" lvl="0" marL="457200" marR="0" rtl="0" algn="l">
              <a:lnSpc>
                <a:spcPct val="90000"/>
              </a:lnSpc>
              <a:spcBef>
                <a:spcPts val="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231" name="Google Shape;231;p24"/>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fontScale="92500"/>
          </a:bodyPr>
          <a:lstStyle/>
          <a:p>
            <a:pPr indent="0" lvl="0" marL="0" marR="0" rtl="0" algn="ctr">
              <a:lnSpc>
                <a:spcPct val="100000"/>
              </a:lnSpc>
              <a:spcBef>
                <a:spcPts val="0"/>
              </a:spcBef>
              <a:spcAft>
                <a:spcPts val="0"/>
              </a:spcAft>
              <a:buClr>
                <a:schemeClr val="dk1"/>
              </a:buClr>
              <a:buSzPct val="100000"/>
              <a:buFont typeface="Calibri"/>
              <a:buNone/>
            </a:pPr>
            <a:r>
              <a:rPr b="0" i="0" lang="pt-BR" sz="4400" u="none" cap="none" strike="noStrike">
                <a:solidFill>
                  <a:schemeClr val="dk1"/>
                </a:solidFill>
                <a:latin typeface="Calibri"/>
                <a:ea typeface="Calibri"/>
                <a:cs typeface="Calibri"/>
                <a:sym typeface="Calibri"/>
              </a:rPr>
              <a:t>COMANDO ENQUANTO</a:t>
            </a:r>
            <a:endParaRPr b="0" i="0" sz="1400" u="none" cap="none" strike="noStrike">
              <a:solidFill>
                <a:srgbClr val="000000"/>
              </a:solidFill>
              <a:latin typeface="Arial"/>
              <a:ea typeface="Arial"/>
              <a:cs typeface="Arial"/>
              <a:sym typeface="Arial"/>
            </a:endParaRPr>
          </a:p>
        </p:txBody>
      </p:sp>
      <p:sp>
        <p:nvSpPr>
          <p:cNvPr id="232" name="Google Shape;232;p24"/>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13:59</a:t>
            </a:r>
            <a:endParaRPr/>
          </a:p>
        </p:txBody>
      </p:sp>
      <p:pic>
        <p:nvPicPr>
          <p:cNvPr id="233" name="Google Shape;233;p24"/>
          <p:cNvPicPr preferRelativeResize="0"/>
          <p:nvPr/>
        </p:nvPicPr>
        <p:blipFill rotWithShape="1">
          <a:blip r:embed="rId3">
            <a:alphaModFix/>
          </a:blip>
          <a:srcRect b="0" l="0" r="0" t="0"/>
          <a:stretch/>
        </p:blipFill>
        <p:spPr>
          <a:xfrm>
            <a:off x="1043608" y="1772816"/>
            <a:ext cx="5832648" cy="439105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5"/>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100000"/>
              </a:lnSpc>
              <a:spcBef>
                <a:spcPts val="0"/>
              </a:spcBef>
              <a:spcAft>
                <a:spcPts val="0"/>
              </a:spcAft>
              <a:buClr>
                <a:srgbClr val="000000"/>
              </a:buClr>
              <a:buSzPts val="2800"/>
              <a:buFont typeface="Noto Sans Symbols"/>
              <a:buChar char="▪"/>
            </a:pPr>
            <a:r>
              <a:rPr b="0" i="0" lang="pt-BR" sz="2800" u="none" cap="none" strike="noStrike">
                <a:solidFill>
                  <a:srgbClr val="000000"/>
                </a:solidFill>
                <a:latin typeface="Calibri"/>
                <a:ea typeface="Calibri"/>
                <a:cs typeface="Calibri"/>
                <a:sym typeface="Calibri"/>
              </a:rPr>
              <a:t>O controle da execução de um comando de repetição é avaliado em um teste condicional, por esta razão utiliza-se o losango para expressarmos este trecho do algoritmo no diagrama de blocos.</a:t>
            </a:r>
            <a:endParaRPr b="0" i="0" sz="1400" u="none" cap="none" strike="noStrike">
              <a:solidFill>
                <a:srgbClr val="000000"/>
              </a:solidFill>
              <a:latin typeface="Arial"/>
              <a:ea typeface="Arial"/>
              <a:cs typeface="Arial"/>
              <a:sym typeface="Arial"/>
            </a:endParaRPr>
          </a:p>
          <a:p>
            <a:pPr indent="0" lvl="6" marL="2743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5"/>
          <p:cNvSpPr txBox="1"/>
          <p:nvPr/>
        </p:nvSpPr>
        <p:spPr>
          <a:xfrm>
            <a:off x="3394788" y="20499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fontScale="92500"/>
          </a:bodyPr>
          <a:lstStyle/>
          <a:p>
            <a:pPr indent="0" lvl="0" marL="0" marR="0" rtl="0" algn="ctr">
              <a:lnSpc>
                <a:spcPct val="100000"/>
              </a:lnSpc>
              <a:spcBef>
                <a:spcPts val="0"/>
              </a:spcBef>
              <a:spcAft>
                <a:spcPts val="0"/>
              </a:spcAft>
              <a:buClr>
                <a:schemeClr val="dk1"/>
              </a:buClr>
              <a:buSzPct val="100000"/>
              <a:buFont typeface="Calibri"/>
              <a:buNone/>
            </a:pPr>
            <a:r>
              <a:rPr b="0" i="0" lang="pt-BR" sz="4400" u="none" cap="none" strike="noStrike">
                <a:solidFill>
                  <a:schemeClr val="dk1"/>
                </a:solidFill>
                <a:latin typeface="Calibri"/>
                <a:ea typeface="Calibri"/>
                <a:cs typeface="Calibri"/>
                <a:sym typeface="Calibri"/>
              </a:rPr>
              <a:t>DIAGRAMA DE BLOCOS</a:t>
            </a:r>
            <a:endParaRPr b="0" i="0" sz="1400" u="none" cap="none" strike="noStrike">
              <a:solidFill>
                <a:srgbClr val="000000"/>
              </a:solidFill>
              <a:latin typeface="Arial"/>
              <a:ea typeface="Arial"/>
              <a:cs typeface="Arial"/>
              <a:sym typeface="Arial"/>
            </a:endParaRPr>
          </a:p>
        </p:txBody>
      </p:sp>
      <p:sp>
        <p:nvSpPr>
          <p:cNvPr id="241" name="Google Shape;241;p25"/>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6"/>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254000" lvl="0" marL="4572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248" name="Google Shape;248;p26"/>
          <p:cNvSpPr txBox="1"/>
          <p:nvPr/>
        </p:nvSpPr>
        <p:spPr>
          <a:xfrm>
            <a:off x="3394788" y="20499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fontScale="92500"/>
          </a:bodyPr>
          <a:lstStyle/>
          <a:p>
            <a:pPr indent="0" lvl="0" marL="0" marR="0" rtl="0" algn="ctr">
              <a:lnSpc>
                <a:spcPct val="100000"/>
              </a:lnSpc>
              <a:spcBef>
                <a:spcPts val="0"/>
              </a:spcBef>
              <a:spcAft>
                <a:spcPts val="0"/>
              </a:spcAft>
              <a:buClr>
                <a:schemeClr val="dk1"/>
              </a:buClr>
              <a:buSzPct val="100000"/>
              <a:buFont typeface="Calibri"/>
              <a:buNone/>
            </a:pPr>
            <a:r>
              <a:rPr b="0" i="0" lang="pt-BR" sz="4400" u="none" cap="none" strike="noStrike">
                <a:solidFill>
                  <a:schemeClr val="dk1"/>
                </a:solidFill>
                <a:latin typeface="Calibri"/>
                <a:ea typeface="Calibri"/>
                <a:cs typeface="Calibri"/>
                <a:sym typeface="Calibri"/>
              </a:rPr>
              <a:t>DIAGRAMA DE BLOCOS</a:t>
            </a:r>
            <a:endParaRPr b="0" i="0" sz="1400" u="none" cap="none" strike="noStrike">
              <a:solidFill>
                <a:srgbClr val="000000"/>
              </a:solidFill>
              <a:latin typeface="Arial"/>
              <a:ea typeface="Arial"/>
              <a:cs typeface="Arial"/>
              <a:sym typeface="Arial"/>
            </a:endParaRPr>
          </a:p>
        </p:txBody>
      </p:sp>
      <p:sp>
        <p:nvSpPr>
          <p:cNvPr id="249" name="Google Shape;249;p26"/>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13:59</a:t>
            </a:r>
            <a:endParaRPr/>
          </a:p>
        </p:txBody>
      </p:sp>
      <p:sp>
        <p:nvSpPr>
          <p:cNvPr id="250" name="Google Shape;250;p26"/>
          <p:cNvSpPr/>
          <p:nvPr/>
        </p:nvSpPr>
        <p:spPr>
          <a:xfrm>
            <a:off x="1187624" y="1700808"/>
            <a:ext cx="1728192" cy="576064"/>
          </a:xfrm>
          <a:prstGeom prst="flowChartTerminator">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INÍCIO</a:t>
            </a:r>
            <a:endParaRPr b="0" i="0" sz="1400" u="none" cap="none" strike="noStrike">
              <a:solidFill>
                <a:srgbClr val="000000"/>
              </a:solidFill>
              <a:latin typeface="Arial"/>
              <a:ea typeface="Arial"/>
              <a:cs typeface="Arial"/>
              <a:sym typeface="Arial"/>
            </a:endParaRPr>
          </a:p>
        </p:txBody>
      </p:sp>
      <p:sp>
        <p:nvSpPr>
          <p:cNvPr id="251" name="Google Shape;251;p26"/>
          <p:cNvSpPr/>
          <p:nvPr/>
        </p:nvSpPr>
        <p:spPr>
          <a:xfrm>
            <a:off x="3660851" y="5715606"/>
            <a:ext cx="1728192" cy="576064"/>
          </a:xfrm>
          <a:prstGeom prst="flowChartTerminator">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FIM</a:t>
            </a:r>
            <a:endParaRPr b="0" i="0" sz="1400" u="none" cap="none" strike="noStrike">
              <a:solidFill>
                <a:srgbClr val="000000"/>
              </a:solidFill>
              <a:latin typeface="Arial"/>
              <a:ea typeface="Arial"/>
              <a:cs typeface="Arial"/>
              <a:sym typeface="Arial"/>
            </a:endParaRPr>
          </a:p>
        </p:txBody>
      </p:sp>
      <p:sp>
        <p:nvSpPr>
          <p:cNvPr id="252" name="Google Shape;252;p26"/>
          <p:cNvSpPr/>
          <p:nvPr/>
        </p:nvSpPr>
        <p:spPr>
          <a:xfrm>
            <a:off x="3838272" y="4372004"/>
            <a:ext cx="1357103" cy="648072"/>
          </a:xfrm>
          <a:prstGeom prst="flowChartDisplay">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x</a:t>
            </a:r>
            <a:endParaRPr b="0" i="0" sz="1400" u="none" cap="none" strike="noStrike">
              <a:solidFill>
                <a:srgbClr val="000000"/>
              </a:solidFill>
              <a:latin typeface="Arial"/>
              <a:ea typeface="Arial"/>
              <a:cs typeface="Arial"/>
              <a:sym typeface="Arial"/>
            </a:endParaRPr>
          </a:p>
        </p:txBody>
      </p:sp>
      <p:cxnSp>
        <p:nvCxnSpPr>
          <p:cNvPr id="253" name="Google Shape;253;p26"/>
          <p:cNvCxnSpPr/>
          <p:nvPr/>
        </p:nvCxnSpPr>
        <p:spPr>
          <a:xfrm>
            <a:off x="4516541" y="2338401"/>
            <a:ext cx="0" cy="465858"/>
          </a:xfrm>
          <a:prstGeom prst="straightConnector1">
            <a:avLst/>
          </a:prstGeom>
          <a:noFill/>
          <a:ln cap="flat" cmpd="sng" w="25400">
            <a:solidFill>
              <a:schemeClr val="dk1"/>
            </a:solidFill>
            <a:prstDash val="solid"/>
            <a:round/>
            <a:headEnd len="sm" w="sm" type="none"/>
            <a:tailEnd len="med" w="med" type="triangle"/>
          </a:ln>
        </p:spPr>
      </p:cxnSp>
      <p:cxnSp>
        <p:nvCxnSpPr>
          <p:cNvPr id="254" name="Google Shape;254;p26"/>
          <p:cNvCxnSpPr>
            <a:stCxn id="255" idx="2"/>
          </p:cNvCxnSpPr>
          <p:nvPr/>
        </p:nvCxnSpPr>
        <p:spPr>
          <a:xfrm>
            <a:off x="4524947" y="3980842"/>
            <a:ext cx="0" cy="391200"/>
          </a:xfrm>
          <a:prstGeom prst="straightConnector1">
            <a:avLst/>
          </a:prstGeom>
          <a:noFill/>
          <a:ln cap="flat" cmpd="sng" w="25400">
            <a:solidFill>
              <a:schemeClr val="dk1"/>
            </a:solidFill>
            <a:prstDash val="solid"/>
            <a:round/>
            <a:headEnd len="sm" w="sm" type="none"/>
            <a:tailEnd len="med" w="med" type="triangle"/>
          </a:ln>
        </p:spPr>
      </p:cxnSp>
      <p:cxnSp>
        <p:nvCxnSpPr>
          <p:cNvPr id="256" name="Google Shape;256;p26"/>
          <p:cNvCxnSpPr>
            <a:stCxn id="257" idx="1"/>
            <a:endCxn id="255" idx="1"/>
          </p:cNvCxnSpPr>
          <p:nvPr/>
        </p:nvCxnSpPr>
        <p:spPr>
          <a:xfrm flipH="1" rot="10800000">
            <a:off x="1415608" y="3392488"/>
            <a:ext cx="2065200" cy="1251600"/>
          </a:xfrm>
          <a:prstGeom prst="bentConnector3">
            <a:avLst>
              <a:gd fmla="val -11069" name="adj1"/>
            </a:avLst>
          </a:prstGeom>
          <a:noFill/>
          <a:ln cap="flat" cmpd="sng" w="25400">
            <a:solidFill>
              <a:schemeClr val="dk1"/>
            </a:solidFill>
            <a:prstDash val="solid"/>
            <a:round/>
            <a:headEnd len="sm" w="sm" type="none"/>
            <a:tailEnd len="med" w="med" type="triangle"/>
          </a:ln>
        </p:spPr>
      </p:cxnSp>
      <p:sp>
        <p:nvSpPr>
          <p:cNvPr id="255" name="Google Shape;255;p26"/>
          <p:cNvSpPr/>
          <p:nvPr/>
        </p:nvSpPr>
        <p:spPr>
          <a:xfrm>
            <a:off x="3480831" y="2804259"/>
            <a:ext cx="2088232" cy="1176583"/>
          </a:xfrm>
          <a:prstGeom prst="diamond">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X</a:t>
            </a:r>
            <a:r>
              <a:rPr b="0" i="0" lang="pt-BR" sz="1800" u="none" cap="none" strike="noStrike">
                <a:solidFill>
                  <a:schemeClr val="lt1"/>
                </a:solidFill>
                <a:latin typeface="Calibri"/>
                <a:ea typeface="Calibri"/>
                <a:cs typeface="Calibri"/>
                <a:sym typeface="Calibri"/>
              </a:rPr>
              <a:t>  </a:t>
            </a:r>
            <a:r>
              <a:rPr b="0" i="0" lang="pt-BR" sz="1800" u="none" cap="none" strike="noStrike">
                <a:solidFill>
                  <a:schemeClr val="dk1"/>
                </a:solidFill>
                <a:latin typeface="Calibri"/>
                <a:ea typeface="Calibri"/>
                <a:cs typeface="Calibri"/>
                <a:sym typeface="Calibri"/>
              </a:rPr>
              <a:t>&lt;=</a:t>
            </a:r>
            <a:r>
              <a:rPr b="0" i="0" lang="pt-BR" sz="1800" u="none" cap="none" strike="noStrike">
                <a:solidFill>
                  <a:schemeClr val="lt1"/>
                </a:solidFill>
                <a:latin typeface="Calibri"/>
                <a:ea typeface="Calibri"/>
                <a:cs typeface="Calibri"/>
                <a:sym typeface="Calibri"/>
              </a:rPr>
              <a:t>  </a:t>
            </a:r>
            <a:r>
              <a:rPr b="0" i="0" lang="pt-BR" sz="1800" u="none" cap="none" strike="noStrike">
                <a:solidFill>
                  <a:schemeClr val="dk1"/>
                </a:solidFill>
                <a:latin typeface="Calibri"/>
                <a:ea typeface="Calibri"/>
                <a:cs typeface="Calibri"/>
                <a:sym typeface="Calibri"/>
              </a:rPr>
              <a:t>10</a:t>
            </a:r>
            <a:endParaRPr b="0" i="0" sz="1400" u="none" cap="none" strike="noStrike">
              <a:solidFill>
                <a:srgbClr val="000000"/>
              </a:solidFill>
              <a:latin typeface="Arial"/>
              <a:ea typeface="Arial"/>
              <a:cs typeface="Arial"/>
              <a:sym typeface="Arial"/>
            </a:endParaRPr>
          </a:p>
        </p:txBody>
      </p:sp>
      <p:sp>
        <p:nvSpPr>
          <p:cNvPr id="258" name="Google Shape;258;p26"/>
          <p:cNvSpPr/>
          <p:nvPr/>
        </p:nvSpPr>
        <p:spPr>
          <a:xfrm>
            <a:off x="3652445" y="1762337"/>
            <a:ext cx="1728192" cy="576064"/>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X &lt;- 1</a:t>
            </a:r>
            <a:endParaRPr b="0" i="0" sz="1400" u="none" cap="none" strike="noStrike">
              <a:solidFill>
                <a:srgbClr val="000000"/>
              </a:solidFill>
              <a:latin typeface="Arial"/>
              <a:ea typeface="Arial"/>
              <a:cs typeface="Arial"/>
              <a:sym typeface="Arial"/>
            </a:endParaRPr>
          </a:p>
        </p:txBody>
      </p:sp>
      <p:cxnSp>
        <p:nvCxnSpPr>
          <p:cNvPr id="259" name="Google Shape;259;p26"/>
          <p:cNvCxnSpPr/>
          <p:nvPr/>
        </p:nvCxnSpPr>
        <p:spPr>
          <a:xfrm>
            <a:off x="2915816" y="2050369"/>
            <a:ext cx="736629" cy="0"/>
          </a:xfrm>
          <a:prstGeom prst="straightConnector1">
            <a:avLst/>
          </a:prstGeom>
          <a:noFill/>
          <a:ln cap="flat" cmpd="sng" w="25400">
            <a:solidFill>
              <a:schemeClr val="dk1"/>
            </a:solidFill>
            <a:prstDash val="solid"/>
            <a:round/>
            <a:headEnd len="sm" w="sm" type="none"/>
            <a:tailEnd len="med" w="med" type="triangle"/>
          </a:ln>
        </p:spPr>
      </p:cxnSp>
      <p:sp>
        <p:nvSpPr>
          <p:cNvPr id="257" name="Google Shape;257;p26"/>
          <p:cNvSpPr/>
          <p:nvPr/>
        </p:nvSpPr>
        <p:spPr>
          <a:xfrm>
            <a:off x="1415608" y="4356056"/>
            <a:ext cx="1728192" cy="576064"/>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X &lt;- X + 1</a:t>
            </a:r>
            <a:endParaRPr b="0" i="0" sz="1400" u="none" cap="none" strike="noStrike">
              <a:solidFill>
                <a:srgbClr val="000000"/>
              </a:solidFill>
              <a:latin typeface="Arial"/>
              <a:ea typeface="Arial"/>
              <a:cs typeface="Arial"/>
              <a:sym typeface="Arial"/>
            </a:endParaRPr>
          </a:p>
        </p:txBody>
      </p:sp>
      <p:cxnSp>
        <p:nvCxnSpPr>
          <p:cNvPr id="260" name="Google Shape;260;p26"/>
          <p:cNvCxnSpPr>
            <a:stCxn id="252" idx="1"/>
          </p:cNvCxnSpPr>
          <p:nvPr/>
        </p:nvCxnSpPr>
        <p:spPr>
          <a:xfrm rot="10800000">
            <a:off x="3138372" y="4696040"/>
            <a:ext cx="699900" cy="0"/>
          </a:xfrm>
          <a:prstGeom prst="straightConnector1">
            <a:avLst/>
          </a:prstGeom>
          <a:noFill/>
          <a:ln cap="flat" cmpd="sng" w="25400">
            <a:solidFill>
              <a:schemeClr val="dk1"/>
            </a:solidFill>
            <a:prstDash val="solid"/>
            <a:round/>
            <a:headEnd len="sm" w="sm" type="none"/>
            <a:tailEnd len="med" w="med" type="triangle"/>
          </a:ln>
        </p:spPr>
      </p:cxnSp>
      <p:cxnSp>
        <p:nvCxnSpPr>
          <p:cNvPr id="261" name="Google Shape;261;p26"/>
          <p:cNvCxnSpPr>
            <a:endCxn id="255" idx="3"/>
          </p:cNvCxnSpPr>
          <p:nvPr/>
        </p:nvCxnSpPr>
        <p:spPr>
          <a:xfrm rot="-5400000">
            <a:off x="4173463" y="4608151"/>
            <a:ext cx="2611200" cy="180000"/>
          </a:xfrm>
          <a:prstGeom prst="bentConnector4">
            <a:avLst>
              <a:gd fmla="val 60" name="adj1"/>
              <a:gd fmla="val 492373" name="adj2"/>
            </a:avLst>
          </a:prstGeom>
          <a:noFill/>
          <a:ln cap="flat" cmpd="sng" w="25400">
            <a:solidFill>
              <a:schemeClr val="dk1"/>
            </a:solidFill>
            <a:prstDash val="solid"/>
            <a:round/>
            <a:headEnd len="med" w="med" type="triangle"/>
            <a:tailEnd len="sm" w="sm" type="none"/>
          </a:ln>
        </p:spPr>
      </p:cxnSp>
      <p:sp>
        <p:nvSpPr>
          <p:cNvPr id="262" name="Google Shape;262;p26"/>
          <p:cNvSpPr txBox="1"/>
          <p:nvPr/>
        </p:nvSpPr>
        <p:spPr>
          <a:xfrm>
            <a:off x="5569063" y="3068960"/>
            <a:ext cx="6591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F</a:t>
            </a:r>
            <a:endParaRPr b="0" i="0" sz="1400" u="none" cap="none" strike="noStrike">
              <a:solidFill>
                <a:srgbClr val="000000"/>
              </a:solidFill>
              <a:latin typeface="Arial"/>
              <a:ea typeface="Arial"/>
              <a:cs typeface="Arial"/>
              <a:sym typeface="Arial"/>
            </a:endParaRPr>
          </a:p>
        </p:txBody>
      </p:sp>
      <p:sp>
        <p:nvSpPr>
          <p:cNvPr id="263" name="Google Shape;263;p26"/>
          <p:cNvSpPr txBox="1"/>
          <p:nvPr/>
        </p:nvSpPr>
        <p:spPr>
          <a:xfrm>
            <a:off x="4559195" y="3969109"/>
            <a:ext cx="6591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V</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7"/>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100000"/>
              </a:lnSpc>
              <a:spcBef>
                <a:spcPts val="0"/>
              </a:spcBef>
              <a:spcAft>
                <a:spcPts val="0"/>
              </a:spcAft>
              <a:buClr>
                <a:schemeClr val="dk1"/>
              </a:buClr>
              <a:buSzPts val="3600"/>
              <a:buFont typeface="Calibri"/>
              <a:buChar char="•"/>
            </a:pPr>
            <a:r>
              <a:rPr b="1" i="0" lang="pt-BR" sz="3600" u="none" cap="none" strike="noStrike">
                <a:solidFill>
                  <a:schemeClr val="dk1"/>
                </a:solidFill>
                <a:latin typeface="Calibri"/>
                <a:ea typeface="Calibri"/>
                <a:cs typeface="Calibri"/>
                <a:sym typeface="Calibri"/>
              </a:rPr>
              <a:t>Laço while (enquanto):</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60"/>
              </a:spcBef>
              <a:spcAft>
                <a:spcPts val="0"/>
              </a:spcAft>
              <a:buClr>
                <a:schemeClr val="dk1"/>
              </a:buClr>
              <a:buSzPts val="2800"/>
              <a:buFont typeface="Calibri"/>
              <a:buChar char="–"/>
            </a:pPr>
            <a:r>
              <a:rPr b="0" i="0" lang="pt-BR" sz="2800" u="none" cap="none" strike="noStrike">
                <a:solidFill>
                  <a:schemeClr val="dk1"/>
                </a:solidFill>
                <a:latin typeface="Calibri"/>
                <a:ea typeface="Calibri"/>
                <a:cs typeface="Calibri"/>
                <a:sym typeface="Calibri"/>
              </a:rPr>
              <a:t>O laço é executado </a:t>
            </a:r>
            <a:r>
              <a:rPr b="1" i="0" lang="pt-BR" sz="2800" u="none" cap="none" strike="noStrike">
                <a:solidFill>
                  <a:schemeClr val="dk1"/>
                </a:solidFill>
                <a:latin typeface="Calibri"/>
                <a:ea typeface="Calibri"/>
                <a:cs typeface="Calibri"/>
                <a:sym typeface="Calibri"/>
              </a:rPr>
              <a:t>enquanto </a:t>
            </a:r>
            <a:r>
              <a:rPr b="0" i="0" lang="pt-BR" sz="2800" u="none" cap="none" strike="noStrike">
                <a:solidFill>
                  <a:schemeClr val="dk1"/>
                </a:solidFill>
                <a:latin typeface="Calibri"/>
                <a:ea typeface="Calibri"/>
                <a:cs typeface="Calibri"/>
                <a:sym typeface="Calibri"/>
              </a:rPr>
              <a:t>a &lt;condição&gt; for verdadeira.</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60"/>
              </a:spcBef>
              <a:spcAft>
                <a:spcPts val="0"/>
              </a:spcAft>
              <a:buClr>
                <a:schemeClr val="dk1"/>
              </a:buClr>
              <a:buSzPts val="2800"/>
              <a:buFont typeface="Calibri"/>
              <a:buChar char="–"/>
            </a:pPr>
            <a:r>
              <a:rPr b="0" i="0" lang="pt-BR" sz="2800" u="none" cap="none" strike="noStrike">
                <a:solidFill>
                  <a:schemeClr val="dk1"/>
                </a:solidFill>
                <a:latin typeface="Calibri"/>
                <a:ea typeface="Calibri"/>
                <a:cs typeface="Calibri"/>
                <a:sym typeface="Calibri"/>
              </a:rPr>
              <a:t> No Algoritmo:</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&lt;variavel&gt; = &lt;valor inicial&gt;</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enquanto (&lt;condição parada&gt;)</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Bloco de Comandos ou instrução;</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&lt;incremento da variável&gt;</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fimenquanto;</a:t>
            </a:r>
            <a:endParaRPr b="0" i="0" sz="3200" u="none" cap="none" strike="noStrike">
              <a:solidFill>
                <a:schemeClr val="dk1"/>
              </a:solidFill>
              <a:latin typeface="Calibri"/>
              <a:ea typeface="Calibri"/>
              <a:cs typeface="Calibri"/>
              <a:sym typeface="Calibri"/>
            </a:endParaRPr>
          </a:p>
          <a:p>
            <a:pPr indent="-254000" lvl="0" marL="457200" marR="0" rtl="0" algn="l">
              <a:lnSpc>
                <a:spcPct val="10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254000" lvl="0" marL="457200" marR="0" rtl="0" algn="l">
              <a:lnSpc>
                <a:spcPct val="9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270" name="Google Shape;270;p27"/>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pt-BR" sz="4400" u="none" cap="none" strike="noStrike">
                <a:solidFill>
                  <a:schemeClr val="dk1"/>
                </a:solidFill>
                <a:latin typeface="Calibri"/>
                <a:ea typeface="Calibri"/>
                <a:cs typeface="Calibri"/>
                <a:sym typeface="Calibri"/>
              </a:rPr>
              <a:t>WHILE</a:t>
            </a:r>
            <a:endParaRPr b="0" i="0" sz="1400" u="none" cap="none" strike="noStrike">
              <a:solidFill>
                <a:srgbClr val="000000"/>
              </a:solidFill>
              <a:latin typeface="Arial"/>
              <a:ea typeface="Arial"/>
              <a:cs typeface="Arial"/>
              <a:sym typeface="Arial"/>
            </a:endParaRPr>
          </a:p>
        </p:txBody>
      </p:sp>
      <p:sp>
        <p:nvSpPr>
          <p:cNvPr id="271" name="Google Shape;271;p27"/>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14:09</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8"/>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381000" lvl="1" marL="838200" marR="0" rtl="0" algn="l">
              <a:lnSpc>
                <a:spcPct val="100000"/>
              </a:lnSpc>
              <a:spcBef>
                <a:spcPts val="0"/>
              </a:spcBef>
              <a:spcAft>
                <a:spcPts val="0"/>
              </a:spcAft>
              <a:buClr>
                <a:schemeClr val="dk1"/>
              </a:buClr>
              <a:buSzPts val="2800"/>
              <a:buFont typeface="Calibri"/>
              <a:buChar char="–"/>
            </a:pPr>
            <a:r>
              <a:rPr b="0" i="0" lang="pt-BR" sz="2800" u="none" cap="none" strike="noStrike">
                <a:solidFill>
                  <a:schemeClr val="dk1"/>
                </a:solidFill>
                <a:latin typeface="Calibri"/>
                <a:ea typeface="Calibri"/>
                <a:cs typeface="Calibri"/>
                <a:sym typeface="Calibri"/>
              </a:rPr>
              <a:t> </a:t>
            </a:r>
            <a:r>
              <a:rPr b="1" i="0" lang="pt-BR" sz="3600" u="none" cap="none" strike="noStrike">
                <a:solidFill>
                  <a:schemeClr val="dk1"/>
                </a:solidFill>
                <a:latin typeface="Calibri"/>
                <a:ea typeface="Calibri"/>
                <a:cs typeface="Calibri"/>
                <a:sym typeface="Calibri"/>
              </a:rPr>
              <a:t>Na linguagem C/C++:</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60"/>
              </a:spcBef>
              <a:spcAft>
                <a:spcPts val="0"/>
              </a:spcAft>
              <a:buClr>
                <a:srgbClr val="000000"/>
              </a:buClr>
              <a:buSzPts val="2800"/>
              <a:buFont typeface="Arial"/>
              <a:buNone/>
            </a:pPr>
            <a:r>
              <a:rPr b="0" i="0" lang="pt-BR" sz="2800" u="none" cap="none" strike="noStrike">
                <a:solidFill>
                  <a:schemeClr val="dk1"/>
                </a:solidFill>
                <a:latin typeface="Calibri"/>
                <a:ea typeface="Calibri"/>
                <a:cs typeface="Calibri"/>
                <a:sym typeface="Calibri"/>
              </a:rPr>
              <a:t>&lt;variavel&gt; = &lt;valor inicial&gt;</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60"/>
              </a:spcBef>
              <a:spcAft>
                <a:spcPts val="0"/>
              </a:spcAft>
              <a:buClr>
                <a:srgbClr val="000000"/>
              </a:buClr>
              <a:buSzPts val="2800"/>
              <a:buFont typeface="Arial"/>
              <a:buNone/>
            </a:pPr>
            <a:r>
              <a:rPr b="0" i="0" lang="pt-BR" sz="2800" u="none" cap="none" strike="noStrike">
                <a:solidFill>
                  <a:schemeClr val="dk1"/>
                </a:solidFill>
                <a:latin typeface="Calibri"/>
                <a:ea typeface="Calibri"/>
                <a:cs typeface="Calibri"/>
                <a:sym typeface="Calibri"/>
              </a:rPr>
              <a:t>while (&lt;condição parada&gt;)</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60"/>
              </a:spcBef>
              <a:spcAft>
                <a:spcPts val="0"/>
              </a:spcAft>
              <a:buClr>
                <a:srgbClr val="000000"/>
              </a:buClr>
              <a:buSzPts val="2800"/>
              <a:buFont typeface="Arial"/>
              <a:buNone/>
            </a:pPr>
            <a:r>
              <a:rPr b="0" i="0" lang="pt-BR" sz="2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60"/>
              </a:spcBef>
              <a:spcAft>
                <a:spcPts val="0"/>
              </a:spcAft>
              <a:buClr>
                <a:srgbClr val="000000"/>
              </a:buClr>
              <a:buSzPts val="2800"/>
              <a:buFont typeface="Arial"/>
              <a:buNone/>
            </a:pPr>
            <a:r>
              <a:rPr b="0" i="0" lang="pt-BR" sz="2800" u="none" cap="none" strike="noStrike">
                <a:solidFill>
                  <a:schemeClr val="dk1"/>
                </a:solidFill>
                <a:latin typeface="Calibri"/>
                <a:ea typeface="Calibri"/>
                <a:cs typeface="Calibri"/>
                <a:sym typeface="Calibri"/>
              </a:rPr>
              <a:t>      Bloco de Comandos ou instruções;</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60"/>
              </a:spcBef>
              <a:spcAft>
                <a:spcPts val="0"/>
              </a:spcAft>
              <a:buClr>
                <a:srgbClr val="000000"/>
              </a:buClr>
              <a:buSzPts val="2800"/>
              <a:buFont typeface="Arial"/>
              <a:buNone/>
            </a:pPr>
            <a:r>
              <a:rPr b="0" i="0" lang="pt-BR" sz="2800" u="none" cap="none" strike="noStrike">
                <a:solidFill>
                  <a:schemeClr val="dk1"/>
                </a:solidFill>
                <a:latin typeface="Calibri"/>
                <a:ea typeface="Calibri"/>
                <a:cs typeface="Calibri"/>
                <a:sym typeface="Calibri"/>
              </a:rPr>
              <a:t>      &lt;incremento da variável&gt;</a:t>
            </a:r>
            <a:endParaRPr b="0" i="0" sz="2000" u="none" cap="none" strike="noStrike">
              <a:solidFill>
                <a:schemeClr val="dk1"/>
              </a:solidFill>
              <a:latin typeface="Calibri"/>
              <a:ea typeface="Calibri"/>
              <a:cs typeface="Calibri"/>
              <a:sym typeface="Calibri"/>
            </a:endParaRPr>
          </a:p>
          <a:p>
            <a:pPr indent="-457200" lvl="0" marL="457200" marR="0" rtl="0" algn="l">
              <a:lnSpc>
                <a:spcPct val="100000"/>
              </a:lnSpc>
              <a:spcBef>
                <a:spcPts val="640"/>
              </a:spcBef>
              <a:spcAft>
                <a:spcPts val="0"/>
              </a:spcAft>
              <a:buClr>
                <a:srgbClr val="000000"/>
              </a:buClr>
              <a:buSzPts val="3200"/>
              <a:buFont typeface="Arial"/>
              <a:buNone/>
            </a:pPr>
            <a:r>
              <a:rPr b="0" i="0" lang="pt-BR" sz="3200" u="none" cap="none" strike="noStrike">
                <a:solidFill>
                  <a:schemeClr val="dk1"/>
                </a:solidFill>
                <a:latin typeface="Calibri"/>
                <a:ea typeface="Calibri"/>
                <a:cs typeface="Calibri"/>
                <a:sym typeface="Calibri"/>
              </a:rPr>
              <a:t>     </a:t>
            </a:r>
            <a:r>
              <a:rPr b="0" i="0" lang="pt-BR" sz="2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254000" lvl="0" marL="457200" marR="0" rtl="0" algn="l">
              <a:lnSpc>
                <a:spcPct val="10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254000" lvl="0" marL="457200" marR="0" rtl="0" algn="l">
              <a:lnSpc>
                <a:spcPct val="9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278" name="Google Shape;278;p28"/>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pt-BR" sz="4400" u="none" cap="none" strike="noStrike">
                <a:solidFill>
                  <a:schemeClr val="dk1"/>
                </a:solidFill>
                <a:latin typeface="Calibri"/>
                <a:ea typeface="Calibri"/>
                <a:cs typeface="Calibri"/>
                <a:sym typeface="Calibri"/>
              </a:rPr>
              <a:t>WHILE</a:t>
            </a:r>
            <a:endParaRPr b="0" i="0" sz="1400" u="none" cap="none" strike="noStrike">
              <a:solidFill>
                <a:srgbClr val="000000"/>
              </a:solidFill>
              <a:latin typeface="Arial"/>
              <a:ea typeface="Arial"/>
              <a:cs typeface="Arial"/>
              <a:sym typeface="Arial"/>
            </a:endParaRPr>
          </a:p>
        </p:txBody>
      </p:sp>
      <p:sp>
        <p:nvSpPr>
          <p:cNvPr id="279" name="Google Shape;279;p28"/>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14:09</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9"/>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100000"/>
              </a:lnSpc>
              <a:spcBef>
                <a:spcPts val="0"/>
              </a:spcBef>
              <a:spcAft>
                <a:spcPts val="0"/>
              </a:spcAft>
              <a:buClr>
                <a:schemeClr val="dk1"/>
              </a:buClr>
              <a:buSzPts val="3200"/>
              <a:buFont typeface="Calibri"/>
              <a:buChar char="•"/>
            </a:pPr>
            <a:r>
              <a:rPr b="1" i="0" lang="pt-BR" sz="3200" u="none" cap="none" strike="noStrike">
                <a:solidFill>
                  <a:schemeClr val="dk1"/>
                </a:solidFill>
                <a:latin typeface="Calibri"/>
                <a:ea typeface="Calibri"/>
                <a:cs typeface="Calibri"/>
                <a:sym typeface="Calibri"/>
              </a:rPr>
              <a:t>Exemplo:</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int x = 1, soma=0;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while (x &lt;= 10)</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cout &lt;&lt; "Digite o número: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cin &gt;&gt; num;</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fflush(stdin);</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soma = soma + num;</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x++;</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a:p>
            <a:pPr indent="-254000" lvl="0" marL="457200" marR="0" rtl="0" algn="l">
              <a:lnSpc>
                <a:spcPct val="10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254000" lvl="0" marL="457200" marR="0" rtl="0" algn="l">
              <a:lnSpc>
                <a:spcPct val="9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286" name="Google Shape;286;p29"/>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pt-BR" sz="4400" u="none" cap="none" strike="noStrike">
                <a:solidFill>
                  <a:schemeClr val="dk1"/>
                </a:solidFill>
                <a:latin typeface="Calibri"/>
                <a:ea typeface="Calibri"/>
                <a:cs typeface="Calibri"/>
                <a:sym typeface="Calibri"/>
              </a:rPr>
              <a:t>WHILE</a:t>
            </a:r>
            <a:endParaRPr b="0" i="0" sz="1400" u="none" cap="none" strike="noStrike">
              <a:solidFill>
                <a:srgbClr val="000000"/>
              </a:solidFill>
              <a:latin typeface="Arial"/>
              <a:ea typeface="Arial"/>
              <a:cs typeface="Arial"/>
              <a:sym typeface="Arial"/>
            </a:endParaRPr>
          </a:p>
        </p:txBody>
      </p:sp>
      <p:sp>
        <p:nvSpPr>
          <p:cNvPr id="287" name="Google Shape;287;p29"/>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14:09</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0"/>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100000"/>
              </a:lnSpc>
              <a:spcBef>
                <a:spcPts val="0"/>
              </a:spcBef>
              <a:spcAft>
                <a:spcPts val="0"/>
              </a:spcAft>
              <a:buClr>
                <a:schemeClr val="dk1"/>
              </a:buClr>
              <a:buSzPts val="2700"/>
              <a:buFont typeface="Calibri"/>
              <a:buChar char="•"/>
            </a:pPr>
            <a:r>
              <a:rPr b="0" i="0" lang="pt-BR" sz="2700" u="none" cap="none" strike="noStrike">
                <a:solidFill>
                  <a:schemeClr val="dk1"/>
                </a:solidFill>
                <a:latin typeface="Calibri"/>
                <a:ea typeface="Calibri"/>
                <a:cs typeface="Calibri"/>
                <a:sym typeface="Calibri"/>
              </a:rPr>
              <a:t>Ao chegar ao comando a condição é avaliada por isso a variável a ser testada deve ser inicializada anteriormente.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540"/>
              </a:spcBef>
              <a:spcAft>
                <a:spcPts val="0"/>
              </a:spcAft>
              <a:buClr>
                <a:schemeClr val="dk1"/>
              </a:buClr>
              <a:buSzPts val="2700"/>
              <a:buFont typeface="Calibri"/>
              <a:buChar char="•"/>
            </a:pPr>
            <a:r>
              <a:rPr b="0" i="0" lang="pt-BR" sz="2700" u="none" cap="none" strike="noStrike">
                <a:solidFill>
                  <a:schemeClr val="dk1"/>
                </a:solidFill>
                <a:latin typeface="Calibri"/>
                <a:ea typeface="Calibri"/>
                <a:cs typeface="Calibri"/>
                <a:sym typeface="Calibri"/>
              </a:rPr>
              <a:t>Se for “FALSE”, o bloco de comandos não é executado, e a linha de execução passa para o próximo comando após o delimitador de final de bloco;</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540"/>
              </a:spcBef>
              <a:spcAft>
                <a:spcPts val="0"/>
              </a:spcAft>
              <a:buClr>
                <a:schemeClr val="dk1"/>
              </a:buClr>
              <a:buSzPts val="2700"/>
              <a:buFont typeface="Calibri"/>
              <a:buChar char="•"/>
            </a:pPr>
            <a:r>
              <a:rPr b="0" i="0" lang="pt-BR" sz="2700" u="none" cap="none" strike="noStrike">
                <a:solidFill>
                  <a:schemeClr val="dk1"/>
                </a:solidFill>
                <a:latin typeface="Calibri"/>
                <a:ea typeface="Calibri"/>
                <a:cs typeface="Calibri"/>
                <a:sym typeface="Calibri"/>
              </a:rPr>
              <a:t>Caso a condição avaliada seja “TRUE”, o bloco de comandos é executado, e ao final deste, a condição é novamente avaliada, seguindo novamente esta sistemática.</a:t>
            </a:r>
            <a:endParaRPr b="0" i="0" sz="1400" u="none" cap="none" strike="noStrike">
              <a:solidFill>
                <a:srgbClr val="000000"/>
              </a:solidFill>
              <a:latin typeface="Arial"/>
              <a:ea typeface="Arial"/>
              <a:cs typeface="Arial"/>
              <a:sym typeface="Arial"/>
            </a:endParaRPr>
          </a:p>
          <a:p>
            <a:pPr indent="-254000" lvl="0" marL="457200" marR="0" rtl="0" algn="l">
              <a:lnSpc>
                <a:spcPct val="10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254000" lvl="0" marL="457200" marR="0" rtl="0" algn="l">
              <a:lnSpc>
                <a:spcPct val="9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294" name="Google Shape;294;p30"/>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pt-BR" sz="4400" u="none" cap="none" strike="noStrike">
                <a:solidFill>
                  <a:schemeClr val="dk1"/>
                </a:solidFill>
                <a:latin typeface="Calibri"/>
                <a:ea typeface="Calibri"/>
                <a:cs typeface="Calibri"/>
                <a:sym typeface="Calibri"/>
              </a:rPr>
              <a:t>WHILE</a:t>
            </a:r>
            <a:endParaRPr b="0" i="0" sz="1400" u="none" cap="none" strike="noStrike">
              <a:solidFill>
                <a:srgbClr val="000000"/>
              </a:solidFill>
              <a:latin typeface="Arial"/>
              <a:ea typeface="Arial"/>
              <a:cs typeface="Arial"/>
              <a:sym typeface="Arial"/>
            </a:endParaRPr>
          </a:p>
        </p:txBody>
      </p:sp>
      <p:sp>
        <p:nvSpPr>
          <p:cNvPr id="295" name="Google Shape;295;p30"/>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14:09</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1"/>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100000"/>
              </a:lnSpc>
              <a:spcBef>
                <a:spcPts val="0"/>
              </a:spcBef>
              <a:spcAft>
                <a:spcPts val="0"/>
              </a:spcAft>
              <a:buClr>
                <a:schemeClr val="dk1"/>
              </a:buClr>
              <a:buSzPts val="2800"/>
              <a:buFont typeface="Calibri"/>
              <a:buChar char="•"/>
            </a:pPr>
            <a:r>
              <a:rPr b="0" i="0" lang="pt-BR" sz="2800" u="none" cap="none" strike="noStrike">
                <a:solidFill>
                  <a:schemeClr val="dk1"/>
                </a:solidFill>
                <a:latin typeface="Calibri"/>
                <a:ea typeface="Calibri"/>
                <a:cs typeface="Calibri"/>
                <a:sym typeface="Calibri"/>
              </a:rPr>
              <a:t>A condição pode ser simples ou composta.</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560"/>
              </a:spcBef>
              <a:spcAft>
                <a:spcPts val="0"/>
              </a:spcAft>
              <a:buClr>
                <a:schemeClr val="dk1"/>
              </a:buClr>
              <a:buSzPts val="2800"/>
              <a:buFont typeface="Calibri"/>
              <a:buChar char="•"/>
            </a:pPr>
            <a:r>
              <a:rPr b="0" i="0" lang="pt-BR" sz="2800" u="none" cap="none" strike="noStrike">
                <a:solidFill>
                  <a:schemeClr val="dk1"/>
                </a:solidFill>
                <a:latin typeface="Calibri"/>
                <a:ea typeface="Calibri"/>
                <a:cs typeface="Calibri"/>
                <a:sym typeface="Calibri"/>
              </a:rPr>
              <a:t>A utilização prática deste comando se dá, pela necessidade de que alguns comandos só se repitam </a:t>
            </a:r>
            <a:r>
              <a:rPr b="1" i="0" lang="pt-BR" sz="2800" u="sng" cap="none" strike="noStrike">
                <a:solidFill>
                  <a:schemeClr val="dk1"/>
                </a:solidFill>
                <a:latin typeface="Calibri"/>
                <a:ea typeface="Calibri"/>
                <a:cs typeface="Calibri"/>
                <a:sym typeface="Calibri"/>
              </a:rPr>
              <a:t>quando</a:t>
            </a:r>
            <a:r>
              <a:rPr b="0" i="0" lang="pt-BR" sz="2800" u="none" cap="none" strike="noStrike">
                <a:solidFill>
                  <a:schemeClr val="dk1"/>
                </a:solidFill>
                <a:latin typeface="Calibri"/>
                <a:ea typeface="Calibri"/>
                <a:cs typeface="Calibri"/>
                <a:sym typeface="Calibri"/>
              </a:rPr>
              <a:t> e </a:t>
            </a:r>
            <a:r>
              <a:rPr b="1" i="0" lang="pt-BR" sz="2800" u="sng" cap="none" strike="noStrike">
                <a:solidFill>
                  <a:schemeClr val="dk1"/>
                </a:solidFill>
                <a:latin typeface="Calibri"/>
                <a:ea typeface="Calibri"/>
                <a:cs typeface="Calibri"/>
                <a:sym typeface="Calibri"/>
              </a:rPr>
              <a:t>enquanto</a:t>
            </a:r>
            <a:r>
              <a:rPr b="0" i="0" lang="pt-BR" sz="2800" u="none" cap="none" strike="noStrike">
                <a:solidFill>
                  <a:schemeClr val="dk1"/>
                </a:solidFill>
                <a:latin typeface="Calibri"/>
                <a:ea typeface="Calibri"/>
                <a:cs typeface="Calibri"/>
                <a:sym typeface="Calibri"/>
              </a:rPr>
              <a:t> uma condição for verdadeira.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560"/>
              </a:spcBef>
              <a:spcAft>
                <a:spcPts val="0"/>
              </a:spcAft>
              <a:buClr>
                <a:schemeClr val="dk1"/>
              </a:buClr>
              <a:buSzPts val="2800"/>
              <a:buFont typeface="Calibri"/>
              <a:buChar char="•"/>
            </a:pPr>
            <a:r>
              <a:rPr b="0" i="0" lang="pt-BR" sz="2800" u="none" cap="none" strike="noStrike">
                <a:solidFill>
                  <a:schemeClr val="dk1"/>
                </a:solidFill>
                <a:latin typeface="Calibri"/>
                <a:ea typeface="Calibri"/>
                <a:cs typeface="Calibri"/>
                <a:sym typeface="Calibri"/>
              </a:rPr>
              <a:t>Este comando embute as funcionalidades de um comando condicional, junto com um laço de repetição, podendo a variável de controle ser modificada </a:t>
            </a:r>
            <a:r>
              <a:rPr b="1" i="0" lang="pt-BR" sz="2800" u="sng" cap="none" strike="noStrike">
                <a:solidFill>
                  <a:schemeClr val="dk1"/>
                </a:solidFill>
                <a:latin typeface="Calibri"/>
                <a:ea typeface="Calibri"/>
                <a:cs typeface="Calibri"/>
                <a:sym typeface="Calibri"/>
              </a:rPr>
              <a:t>somente</a:t>
            </a:r>
            <a:r>
              <a:rPr b="0" i="0" lang="pt-BR" sz="2800" u="none" cap="none" strike="noStrike">
                <a:solidFill>
                  <a:schemeClr val="dk1"/>
                </a:solidFill>
                <a:latin typeface="Calibri"/>
                <a:ea typeface="Calibri"/>
                <a:cs typeface="Calibri"/>
                <a:sym typeface="Calibri"/>
              </a:rPr>
              <a:t> nas instruções dentro do laço.</a:t>
            </a:r>
            <a:endParaRPr b="0" i="0" sz="1400" u="none" cap="none" strike="noStrike">
              <a:solidFill>
                <a:srgbClr val="000000"/>
              </a:solidFill>
              <a:latin typeface="Arial"/>
              <a:ea typeface="Arial"/>
              <a:cs typeface="Arial"/>
              <a:sym typeface="Arial"/>
            </a:endParaRPr>
          </a:p>
          <a:p>
            <a:pPr indent="-254000" lvl="0" marL="457200" marR="0" rtl="0" algn="l">
              <a:lnSpc>
                <a:spcPct val="10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254000" lvl="0" marL="457200" marR="0" rtl="0" algn="l">
              <a:lnSpc>
                <a:spcPct val="9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302" name="Google Shape;302;p31"/>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pt-BR" sz="4400" u="none" cap="none" strike="noStrike">
                <a:solidFill>
                  <a:schemeClr val="dk1"/>
                </a:solidFill>
                <a:latin typeface="Calibri"/>
                <a:ea typeface="Calibri"/>
                <a:cs typeface="Calibri"/>
                <a:sym typeface="Calibri"/>
              </a:rPr>
              <a:t>WHILE</a:t>
            </a:r>
            <a:endParaRPr b="0" i="0" sz="1400" u="none" cap="none" strike="noStrike">
              <a:solidFill>
                <a:srgbClr val="000000"/>
              </a:solidFill>
              <a:latin typeface="Arial"/>
              <a:ea typeface="Arial"/>
              <a:cs typeface="Arial"/>
              <a:sym typeface="Arial"/>
            </a:endParaRPr>
          </a:p>
        </p:txBody>
      </p:sp>
      <p:sp>
        <p:nvSpPr>
          <p:cNvPr id="303" name="Google Shape;303;p31"/>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2"/>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100000"/>
              </a:lnSpc>
              <a:spcBef>
                <a:spcPts val="0"/>
              </a:spcBef>
              <a:spcAft>
                <a:spcPts val="0"/>
              </a:spcAft>
              <a:buClr>
                <a:schemeClr val="dk1"/>
              </a:buClr>
              <a:buSzPts val="3200"/>
              <a:buFont typeface="Calibri"/>
              <a:buChar char="•"/>
            </a:pPr>
            <a:r>
              <a:rPr b="0" i="0" lang="pt-BR" sz="3200" u="none" cap="none" strike="noStrike">
                <a:solidFill>
                  <a:schemeClr val="dk1"/>
                </a:solidFill>
                <a:latin typeface="Calibri"/>
                <a:ea typeface="Calibri"/>
                <a:cs typeface="Calibri"/>
                <a:sym typeface="Calibri"/>
              </a:rPr>
              <a:t>Por já realizar o teste no início, a(s) variável(eis) envolvida(s) na condição devem conter um valor antes do início do comando.</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640"/>
              </a:spcBef>
              <a:spcAft>
                <a:spcPts val="0"/>
              </a:spcAft>
              <a:buClr>
                <a:schemeClr val="dk1"/>
              </a:buClr>
              <a:buSzPts val="3200"/>
              <a:buFont typeface="Calibri"/>
              <a:buChar char="•"/>
            </a:pPr>
            <a:r>
              <a:rPr b="0" i="0" lang="pt-BR" sz="3200" u="none" cap="none" strike="noStrike">
                <a:solidFill>
                  <a:schemeClr val="dk1"/>
                </a:solidFill>
                <a:latin typeface="Calibri"/>
                <a:ea typeface="Calibri"/>
                <a:cs typeface="Calibri"/>
                <a:sym typeface="Calibri"/>
              </a:rPr>
              <a:t>A variável de controle pode ser um acumulador e não necessariamente um contador, podendo com isso ser adicionado valores diferentes de 1.</a:t>
            </a:r>
            <a:endParaRPr b="0" i="0" sz="1400" u="none" cap="none" strike="noStrike">
              <a:solidFill>
                <a:srgbClr val="000000"/>
              </a:solidFill>
              <a:latin typeface="Arial"/>
              <a:ea typeface="Arial"/>
              <a:cs typeface="Arial"/>
              <a:sym typeface="Arial"/>
            </a:endParaRPr>
          </a:p>
          <a:p>
            <a:pPr indent="-254000" lvl="0" marL="457200" marR="0" rtl="0" algn="l">
              <a:lnSpc>
                <a:spcPct val="10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254000" lvl="0" marL="457200" marR="0" rtl="0" algn="l">
              <a:lnSpc>
                <a:spcPct val="9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310" name="Google Shape;310;p32"/>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pt-BR" sz="4400" u="none" cap="none" strike="noStrike">
                <a:solidFill>
                  <a:schemeClr val="dk1"/>
                </a:solidFill>
                <a:latin typeface="Calibri"/>
                <a:ea typeface="Calibri"/>
                <a:cs typeface="Calibri"/>
                <a:sym typeface="Calibri"/>
              </a:rPr>
              <a:t>WHILE</a:t>
            </a:r>
            <a:endParaRPr b="0" i="0" sz="1400" u="none" cap="none" strike="noStrike">
              <a:solidFill>
                <a:srgbClr val="000000"/>
              </a:solidFill>
              <a:latin typeface="Arial"/>
              <a:ea typeface="Arial"/>
              <a:cs typeface="Arial"/>
              <a:sym typeface="Arial"/>
            </a:endParaRPr>
          </a:p>
        </p:txBody>
      </p:sp>
      <p:sp>
        <p:nvSpPr>
          <p:cNvPr id="311" name="Google Shape;311;p32"/>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14:09</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3"/>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100000"/>
              </a:lnSpc>
              <a:spcBef>
                <a:spcPts val="0"/>
              </a:spcBef>
              <a:spcAft>
                <a:spcPts val="0"/>
              </a:spcAft>
              <a:buClr>
                <a:schemeClr val="dk1"/>
              </a:buClr>
              <a:buSzPts val="3200"/>
              <a:buFont typeface="Calibri"/>
              <a:buChar char="•"/>
            </a:pPr>
            <a:r>
              <a:rPr b="0" i="0" lang="pt-BR" sz="3200" u="none" cap="none" strike="noStrike">
                <a:solidFill>
                  <a:schemeClr val="dk1"/>
                </a:solidFill>
                <a:latin typeface="Calibri"/>
                <a:ea typeface="Calibri"/>
                <a:cs typeface="Calibri"/>
                <a:sym typeface="Calibri"/>
              </a:rPr>
              <a:t>Exemplo: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int x = 1, soma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while (soma &lt; 10)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cout &lt;&lt; "Digite um numero: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cin &gt;&gt; 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fflush(stdin);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soma += 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x++;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457200" lvl="0" marL="457200" marR="0" rtl="0" algn="l">
              <a:lnSpc>
                <a:spcPct val="90000"/>
              </a:lnSpc>
              <a:spcBef>
                <a:spcPts val="640"/>
              </a:spcBef>
              <a:spcAft>
                <a:spcPts val="0"/>
              </a:spcAft>
              <a:buClr>
                <a:schemeClr val="dk1"/>
              </a:buClr>
              <a:buSzPts val="3200"/>
              <a:buFont typeface="Calibri"/>
              <a:buChar char="•"/>
            </a:pPr>
            <a:r>
              <a:rPr b="0" i="0" lang="pt-BR" sz="3200" u="none" cap="none" strike="noStrike">
                <a:solidFill>
                  <a:schemeClr val="dk1"/>
                </a:solidFill>
                <a:latin typeface="Calibri"/>
                <a:ea typeface="Calibri"/>
                <a:cs typeface="Calibri"/>
                <a:sym typeface="Calibri"/>
              </a:rPr>
              <a:t>Quantas vezes o laço será executado?</a:t>
            </a:r>
            <a:endParaRPr b="0" i="0" sz="1400" u="none" cap="none" strike="noStrike">
              <a:solidFill>
                <a:srgbClr val="000000"/>
              </a:solidFill>
              <a:latin typeface="Arial"/>
              <a:ea typeface="Arial"/>
              <a:cs typeface="Arial"/>
              <a:sym typeface="Arial"/>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318" name="Google Shape;318;p33"/>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pt-BR" sz="4400" u="none" cap="none" strike="noStrike">
                <a:solidFill>
                  <a:schemeClr val="dk1"/>
                </a:solidFill>
                <a:latin typeface="Calibri"/>
                <a:ea typeface="Calibri"/>
                <a:cs typeface="Calibri"/>
                <a:sym typeface="Calibri"/>
              </a:rPr>
              <a:t>WHILE</a:t>
            </a:r>
            <a:endParaRPr b="0" i="0" sz="1400" u="none" cap="none" strike="noStrike">
              <a:solidFill>
                <a:srgbClr val="000000"/>
              </a:solidFill>
              <a:latin typeface="Arial"/>
              <a:ea typeface="Arial"/>
              <a:cs typeface="Arial"/>
              <a:sym typeface="Arial"/>
            </a:endParaRPr>
          </a:p>
        </p:txBody>
      </p:sp>
      <p:sp>
        <p:nvSpPr>
          <p:cNvPr id="319" name="Google Shape;319;p33"/>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14:09</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4"/>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571500" lvl="0" marL="571500" marR="0" rtl="0" algn="l">
              <a:lnSpc>
                <a:spcPct val="100000"/>
              </a:lnSpc>
              <a:spcBef>
                <a:spcPts val="0"/>
              </a:spcBef>
              <a:spcAft>
                <a:spcPts val="0"/>
              </a:spcAft>
              <a:buClr>
                <a:srgbClr val="000000"/>
              </a:buClr>
              <a:buSzPts val="3200"/>
              <a:buFont typeface="Noto Sans Symbols"/>
              <a:buChar char="▪"/>
            </a:pPr>
            <a:r>
              <a:rPr b="0" i="0" lang="pt-BR" sz="3200" u="none" cap="none" strike="noStrike">
                <a:solidFill>
                  <a:srgbClr val="000000"/>
                </a:solidFill>
                <a:latin typeface="Calibri"/>
                <a:ea typeface="Calibri"/>
                <a:cs typeface="Calibri"/>
                <a:sym typeface="Calibri"/>
              </a:rPr>
              <a:t>Um cuidado fundamental que o construtor do algoritmo deve ter é o de certificar-se que a condição torne-se, em algum momento, verdadeira, atendendo assim a condição de parada do laço.</a:t>
            </a:r>
            <a:endParaRPr b="0" i="0" sz="1400" u="none" cap="none" strike="noStrike">
              <a:solidFill>
                <a:srgbClr val="000000"/>
              </a:solidFill>
              <a:latin typeface="Arial"/>
              <a:ea typeface="Arial"/>
              <a:cs typeface="Arial"/>
              <a:sym typeface="Arial"/>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571500" lvl="0" marL="571500" marR="0" rtl="0" algn="l">
              <a:lnSpc>
                <a:spcPct val="100000"/>
              </a:lnSpc>
              <a:spcBef>
                <a:spcPts val="0"/>
              </a:spcBef>
              <a:spcAft>
                <a:spcPts val="0"/>
              </a:spcAft>
              <a:buClr>
                <a:srgbClr val="000000"/>
              </a:buClr>
              <a:buSzPts val="3200"/>
              <a:buFont typeface="Noto Sans Symbols"/>
              <a:buChar char="▪"/>
            </a:pPr>
            <a:r>
              <a:rPr b="0" i="0" lang="pt-BR" sz="3200" u="none" cap="none" strike="noStrike">
                <a:solidFill>
                  <a:srgbClr val="000000"/>
                </a:solidFill>
                <a:latin typeface="Calibri"/>
                <a:ea typeface="Calibri"/>
                <a:cs typeface="Calibri"/>
                <a:sym typeface="Calibri"/>
              </a:rPr>
              <a:t>Evitando que o algoritmo entre em um laço infinito.</a:t>
            </a:r>
            <a:endParaRPr b="0" i="0" sz="1400" u="none" cap="none" strike="noStrike">
              <a:solidFill>
                <a:srgbClr val="000000"/>
              </a:solidFill>
              <a:latin typeface="Arial"/>
              <a:ea typeface="Arial"/>
              <a:cs typeface="Arial"/>
              <a:sym typeface="Arial"/>
            </a:endParaRPr>
          </a:p>
        </p:txBody>
      </p:sp>
      <p:sp>
        <p:nvSpPr>
          <p:cNvPr id="326" name="Google Shape;326;p34"/>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fontScale="92500" lnSpcReduction="20000"/>
          </a:bodyPr>
          <a:lstStyle/>
          <a:p>
            <a:pPr indent="0" lvl="0" marL="0" marR="0" rtl="0" algn="ctr">
              <a:lnSpc>
                <a:spcPct val="100000"/>
              </a:lnSpc>
              <a:spcBef>
                <a:spcPts val="0"/>
              </a:spcBef>
              <a:spcAft>
                <a:spcPts val="0"/>
              </a:spcAft>
              <a:buClr>
                <a:schemeClr val="dk1"/>
              </a:buClr>
              <a:buSzPct val="100000"/>
              <a:buFont typeface="Calibri"/>
              <a:buNone/>
            </a:pPr>
            <a:r>
              <a:rPr b="0" i="0" lang="pt-BR" sz="4400" u="none" cap="none" strike="noStrike">
                <a:solidFill>
                  <a:schemeClr val="dk1"/>
                </a:solidFill>
                <a:latin typeface="Calibri"/>
                <a:ea typeface="Calibri"/>
                <a:cs typeface="Calibri"/>
                <a:sym typeface="Calibri"/>
              </a:rPr>
              <a:t>WHILE</a:t>
            </a:r>
            <a:endParaRPr b="0" i="0" sz="44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ct val="100000"/>
              <a:buFont typeface="Calibri"/>
              <a:buNone/>
            </a:pPr>
            <a:r>
              <a:rPr b="0" i="0" lang="pt-BR" sz="4400" u="none" cap="none" strike="noStrike">
                <a:solidFill>
                  <a:schemeClr val="dk1"/>
                </a:solidFill>
                <a:latin typeface="Calibri"/>
                <a:ea typeface="Calibri"/>
                <a:cs typeface="Calibri"/>
                <a:sym typeface="Calibri"/>
              </a:rPr>
              <a:t> CONDIÇÃO DE PARADA</a:t>
            </a:r>
            <a:endParaRPr b="0" i="0" sz="1400" u="none" cap="none" strike="noStrike">
              <a:solidFill>
                <a:srgbClr val="000000"/>
              </a:solidFill>
              <a:latin typeface="Arial"/>
              <a:ea typeface="Arial"/>
              <a:cs typeface="Arial"/>
              <a:sym typeface="Arial"/>
            </a:endParaRPr>
          </a:p>
        </p:txBody>
      </p:sp>
      <p:sp>
        <p:nvSpPr>
          <p:cNvPr id="327" name="Google Shape;327;p34"/>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5"/>
          <p:cNvSpPr txBox="1"/>
          <p:nvPr/>
        </p:nvSpPr>
        <p:spPr>
          <a:xfrm>
            <a:off x="867884" y="1585800"/>
            <a:ext cx="7841700" cy="472350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571500" lvl="0" marL="571500" marR="0" rtl="0" algn="l">
              <a:lnSpc>
                <a:spcPct val="100000"/>
              </a:lnSpc>
              <a:spcBef>
                <a:spcPts val="0"/>
              </a:spcBef>
              <a:spcAft>
                <a:spcPts val="0"/>
              </a:spcAft>
              <a:buClr>
                <a:srgbClr val="000000"/>
              </a:buClr>
              <a:buSzPts val="3200"/>
              <a:buFont typeface="Noto Sans Symbols"/>
              <a:buChar char="▪"/>
            </a:pPr>
            <a:r>
              <a:rPr b="0" i="0" lang="pt-BR" sz="3200" u="none" cap="none" strike="noStrike">
                <a:solidFill>
                  <a:srgbClr val="000000"/>
                </a:solidFill>
                <a:latin typeface="Calibri"/>
                <a:ea typeface="Calibri"/>
                <a:cs typeface="Calibri"/>
                <a:sym typeface="Calibri"/>
              </a:rPr>
              <a:t>Exemplos de laços infinitos</a:t>
            </a:r>
            <a:endParaRPr b="0" i="0" sz="1400" u="none" cap="none" strike="noStrike">
              <a:solidFill>
                <a:srgbClr val="000000"/>
              </a:solidFill>
              <a:latin typeface="Arial"/>
              <a:ea typeface="Arial"/>
              <a:cs typeface="Arial"/>
              <a:sym typeface="Arial"/>
            </a:endParaRPr>
          </a:p>
        </p:txBody>
      </p:sp>
      <p:sp>
        <p:nvSpPr>
          <p:cNvPr id="334" name="Google Shape;334;p35"/>
          <p:cNvSpPr txBox="1"/>
          <p:nvPr/>
        </p:nvSpPr>
        <p:spPr>
          <a:xfrm>
            <a:off x="3347864" y="260648"/>
            <a:ext cx="5338800"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fontScale="92500" lnSpcReduction="20000"/>
          </a:bodyPr>
          <a:lstStyle/>
          <a:p>
            <a:pPr indent="0" lvl="0" marL="0" marR="0" rtl="0" algn="ctr">
              <a:lnSpc>
                <a:spcPct val="100000"/>
              </a:lnSpc>
              <a:spcBef>
                <a:spcPts val="0"/>
              </a:spcBef>
              <a:spcAft>
                <a:spcPts val="0"/>
              </a:spcAft>
              <a:buClr>
                <a:schemeClr val="dk1"/>
              </a:buClr>
              <a:buSzPct val="100000"/>
              <a:buFont typeface="Calibri"/>
              <a:buNone/>
            </a:pPr>
            <a:r>
              <a:rPr b="0" i="0" lang="pt-BR" sz="4400" u="none" cap="none" strike="noStrike">
                <a:solidFill>
                  <a:schemeClr val="dk1"/>
                </a:solidFill>
                <a:latin typeface="Calibri"/>
                <a:ea typeface="Calibri"/>
                <a:cs typeface="Calibri"/>
                <a:sym typeface="Calibri"/>
              </a:rPr>
              <a:t>WHILE</a:t>
            </a:r>
            <a:endParaRPr b="0" i="0" sz="44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ct val="100000"/>
              <a:buFont typeface="Calibri"/>
              <a:buNone/>
            </a:pPr>
            <a:r>
              <a:rPr b="0" i="0" lang="pt-BR" sz="4400" u="none" cap="none" strike="noStrike">
                <a:solidFill>
                  <a:schemeClr val="dk1"/>
                </a:solidFill>
                <a:latin typeface="Calibri"/>
                <a:ea typeface="Calibri"/>
                <a:cs typeface="Calibri"/>
                <a:sym typeface="Calibri"/>
              </a:rPr>
              <a:t> CONDIÇÃO DE PARADA</a:t>
            </a:r>
            <a:endParaRPr b="0" i="0" sz="1400" u="none" cap="none" strike="noStrike">
              <a:solidFill>
                <a:srgbClr val="000000"/>
              </a:solidFill>
              <a:latin typeface="Arial"/>
              <a:ea typeface="Arial"/>
              <a:cs typeface="Arial"/>
              <a:sym typeface="Arial"/>
            </a:endParaRPr>
          </a:p>
        </p:txBody>
      </p:sp>
      <p:sp>
        <p:nvSpPr>
          <p:cNvPr id="335" name="Google Shape;335;p35"/>
          <p:cNvSpPr txBox="1"/>
          <p:nvPr>
            <p:ph idx="10" type="dt"/>
          </p:nvPr>
        </p:nvSpPr>
        <p:spPr>
          <a:xfrm>
            <a:off x="7380312" y="6512717"/>
            <a:ext cx="1727100" cy="365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14:02</a:t>
            </a:r>
            <a:endParaRPr/>
          </a:p>
        </p:txBody>
      </p:sp>
      <p:pic>
        <p:nvPicPr>
          <p:cNvPr id="336" name="Google Shape;336;p35"/>
          <p:cNvPicPr preferRelativeResize="0"/>
          <p:nvPr/>
        </p:nvPicPr>
        <p:blipFill rotWithShape="1">
          <a:blip r:embed="rId3">
            <a:alphaModFix/>
          </a:blip>
          <a:srcRect b="0" l="0" r="0" t="0"/>
          <a:stretch/>
        </p:blipFill>
        <p:spPr>
          <a:xfrm>
            <a:off x="1052813" y="2837875"/>
            <a:ext cx="3057525" cy="2219325"/>
          </a:xfrm>
          <a:prstGeom prst="rect">
            <a:avLst/>
          </a:prstGeom>
          <a:noFill/>
          <a:ln cap="flat" cmpd="sng" w="9525">
            <a:solidFill>
              <a:schemeClr val="dk1"/>
            </a:solidFill>
            <a:prstDash val="solid"/>
            <a:round/>
            <a:headEnd len="sm" w="sm" type="none"/>
            <a:tailEnd len="sm" w="sm" type="none"/>
          </a:ln>
        </p:spPr>
      </p:pic>
      <p:pic>
        <p:nvPicPr>
          <p:cNvPr id="337" name="Google Shape;337;p35"/>
          <p:cNvPicPr preferRelativeResize="0"/>
          <p:nvPr/>
        </p:nvPicPr>
        <p:blipFill rotWithShape="1">
          <a:blip r:embed="rId4">
            <a:alphaModFix/>
          </a:blip>
          <a:srcRect b="0" l="0" r="0" t="0"/>
          <a:stretch/>
        </p:blipFill>
        <p:spPr>
          <a:xfrm>
            <a:off x="5256850" y="2837863"/>
            <a:ext cx="3048000" cy="19907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49803"/>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6"/>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90000"/>
              </a:lnSpc>
              <a:spcBef>
                <a:spcPts val="0"/>
              </a:spcBef>
              <a:spcAft>
                <a:spcPts val="0"/>
              </a:spcAft>
              <a:buClr>
                <a:schemeClr val="dk1"/>
              </a:buClr>
              <a:buSzPts val="3200"/>
              <a:buFont typeface="Calibri"/>
              <a:buChar char="•"/>
            </a:pPr>
            <a:r>
              <a:rPr b="0" i="0" lang="pt-BR" sz="3200" u="none" cap="none" strike="noStrike">
                <a:solidFill>
                  <a:schemeClr val="dk1"/>
                </a:solidFill>
                <a:latin typeface="Calibri"/>
                <a:ea typeface="Calibri"/>
                <a:cs typeface="Calibri"/>
                <a:sym typeface="Calibri"/>
              </a:rPr>
              <a:t>Estrutura de repetição com avaliação da condição no final</a:t>
            </a:r>
            <a:endParaRPr b="0" i="0" sz="1400" u="none" cap="none" strike="noStrike">
              <a:solidFill>
                <a:srgbClr val="000000"/>
              </a:solidFill>
              <a:latin typeface="Arial"/>
              <a:ea typeface="Arial"/>
              <a:cs typeface="Arial"/>
              <a:sym typeface="Arial"/>
            </a:endParaRPr>
          </a:p>
          <a:p>
            <a:pPr indent="-457200" lvl="0" marL="457200" marR="0" rtl="0" algn="l">
              <a:lnSpc>
                <a:spcPct val="90000"/>
              </a:lnSpc>
              <a:spcBef>
                <a:spcPts val="640"/>
              </a:spcBef>
              <a:spcAft>
                <a:spcPts val="0"/>
              </a:spcAft>
              <a:buClr>
                <a:schemeClr val="dk1"/>
              </a:buClr>
              <a:buSzPts val="3200"/>
              <a:buFont typeface="Calibri"/>
              <a:buChar char="•"/>
            </a:pPr>
            <a:r>
              <a:rPr b="0" i="0" lang="pt-BR" sz="3200" u="none" cap="none" strike="noStrike">
                <a:solidFill>
                  <a:schemeClr val="dk1"/>
                </a:solidFill>
                <a:latin typeface="Calibri"/>
                <a:ea typeface="Calibri"/>
                <a:cs typeface="Calibri"/>
                <a:sym typeface="Calibri"/>
              </a:rPr>
              <a:t>Permite que um bloco ou ação seja repetido até que uma determinada condição seja verdadeira</a:t>
            </a:r>
            <a:endParaRPr b="0" i="0" sz="1400" u="none" cap="none" strike="noStrike">
              <a:solidFill>
                <a:srgbClr val="000000"/>
              </a:solidFill>
              <a:latin typeface="Arial"/>
              <a:ea typeface="Arial"/>
              <a:cs typeface="Arial"/>
              <a:sym typeface="Arial"/>
            </a:endParaRPr>
          </a:p>
          <a:p>
            <a:pPr indent="-457200" lvl="0" marL="457200" marR="0" rtl="0" algn="l">
              <a:lnSpc>
                <a:spcPct val="90000"/>
              </a:lnSpc>
              <a:spcBef>
                <a:spcPts val="640"/>
              </a:spcBef>
              <a:spcAft>
                <a:spcPts val="0"/>
              </a:spcAft>
              <a:buClr>
                <a:schemeClr val="dk1"/>
              </a:buClr>
              <a:buSzPts val="3200"/>
              <a:buFont typeface="Calibri"/>
              <a:buChar char="•"/>
            </a:pPr>
            <a:r>
              <a:rPr b="0" i="0" lang="pt-BR" sz="3200" u="none" cap="none" strike="noStrike">
                <a:solidFill>
                  <a:schemeClr val="dk1"/>
                </a:solidFill>
                <a:latin typeface="Calibri"/>
                <a:ea typeface="Calibri"/>
                <a:cs typeface="Calibri"/>
                <a:sym typeface="Calibri"/>
              </a:rPr>
              <a:t>Sintaxe</a:t>
            </a:r>
            <a:endParaRPr b="0" i="0" sz="1400" u="none" cap="none" strike="noStrike">
              <a:solidFill>
                <a:srgbClr val="000000"/>
              </a:solidFill>
              <a:latin typeface="Arial"/>
              <a:ea typeface="Arial"/>
              <a:cs typeface="Arial"/>
              <a:sym typeface="Arial"/>
            </a:endParaRPr>
          </a:p>
          <a:p>
            <a:pPr indent="0" lvl="1" marL="457200" marR="0" rtl="0" algn="l">
              <a:lnSpc>
                <a:spcPct val="90000"/>
              </a:lnSpc>
              <a:spcBef>
                <a:spcPts val="540"/>
              </a:spcBef>
              <a:spcAft>
                <a:spcPts val="0"/>
              </a:spcAft>
              <a:buClr>
                <a:srgbClr val="000000"/>
              </a:buClr>
              <a:buSzPts val="2700"/>
              <a:buFont typeface="Arial"/>
              <a:buNone/>
            </a:pPr>
            <a:r>
              <a:rPr b="0" i="0" lang="pt-BR" sz="2700" u="none" cap="none" strike="noStrike">
                <a:solidFill>
                  <a:schemeClr val="dk1"/>
                </a:solidFill>
                <a:latin typeface="Calibri"/>
                <a:ea typeface="Calibri"/>
                <a:cs typeface="Calibri"/>
                <a:sym typeface="Calibri"/>
              </a:rPr>
              <a:t>repita </a:t>
            </a:r>
            <a:endParaRPr b="0" i="0" sz="1400" u="none" cap="none" strike="noStrike">
              <a:solidFill>
                <a:srgbClr val="000000"/>
              </a:solidFill>
              <a:latin typeface="Arial"/>
              <a:ea typeface="Arial"/>
              <a:cs typeface="Arial"/>
              <a:sym typeface="Arial"/>
            </a:endParaRPr>
          </a:p>
          <a:p>
            <a:pPr indent="0" lvl="1" marL="457200" marR="0" rtl="0" algn="l">
              <a:lnSpc>
                <a:spcPct val="90000"/>
              </a:lnSpc>
              <a:spcBef>
                <a:spcPts val="540"/>
              </a:spcBef>
              <a:spcAft>
                <a:spcPts val="0"/>
              </a:spcAft>
              <a:buClr>
                <a:srgbClr val="000000"/>
              </a:buClr>
              <a:buSzPts val="2700"/>
              <a:buFont typeface="Arial"/>
              <a:buNone/>
            </a:pPr>
            <a:r>
              <a:rPr b="0" i="0" lang="pt-BR" sz="2700" u="none" cap="none" strike="noStrike">
                <a:solidFill>
                  <a:schemeClr val="dk1"/>
                </a:solidFill>
                <a:latin typeface="Calibri"/>
                <a:ea typeface="Calibri"/>
                <a:cs typeface="Calibri"/>
                <a:sym typeface="Calibri"/>
              </a:rPr>
              <a:t>      &lt;lista de comandos&gt;</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540"/>
              </a:spcBef>
              <a:spcAft>
                <a:spcPts val="0"/>
              </a:spcAft>
              <a:buClr>
                <a:srgbClr val="000000"/>
              </a:buClr>
              <a:buSzPts val="2700"/>
              <a:buFont typeface="Arial"/>
              <a:buNone/>
            </a:pPr>
            <a:r>
              <a:rPr b="0" i="0" lang="pt-BR" sz="2700" u="none" cap="none" strike="noStrike">
                <a:solidFill>
                  <a:schemeClr val="dk1"/>
                </a:solidFill>
                <a:latin typeface="Calibri"/>
                <a:ea typeface="Calibri"/>
                <a:cs typeface="Calibri"/>
                <a:sym typeface="Calibri"/>
              </a:rPr>
              <a:t>       &lt;incremento/decremento do controlador&gt;</a:t>
            </a:r>
            <a:endParaRPr b="0" i="0" sz="1400" u="none" cap="none" strike="noStrike">
              <a:solidFill>
                <a:srgbClr val="000000"/>
              </a:solidFill>
              <a:latin typeface="Arial"/>
              <a:ea typeface="Arial"/>
              <a:cs typeface="Arial"/>
              <a:sym typeface="Arial"/>
            </a:endParaRPr>
          </a:p>
          <a:p>
            <a:pPr indent="0" lvl="1" marL="457200" marR="0" rtl="0" algn="l">
              <a:lnSpc>
                <a:spcPct val="90000"/>
              </a:lnSpc>
              <a:spcBef>
                <a:spcPts val="540"/>
              </a:spcBef>
              <a:spcAft>
                <a:spcPts val="0"/>
              </a:spcAft>
              <a:buClr>
                <a:srgbClr val="000000"/>
              </a:buClr>
              <a:buSzPts val="2700"/>
              <a:buFont typeface="Arial"/>
              <a:buNone/>
            </a:pPr>
            <a:r>
              <a:rPr b="0" i="0" lang="pt-BR" sz="2700" u="none" cap="none" strike="noStrike">
                <a:solidFill>
                  <a:schemeClr val="dk1"/>
                </a:solidFill>
                <a:latin typeface="Calibri"/>
                <a:ea typeface="Calibri"/>
                <a:cs typeface="Calibri"/>
                <a:sym typeface="Calibri"/>
              </a:rPr>
              <a:t>ate &lt;condição de parada&gt;;</a:t>
            </a:r>
            <a:endParaRPr b="0" i="0" sz="1400" u="none" cap="none" strike="noStrike">
              <a:solidFill>
                <a:srgbClr val="000000"/>
              </a:solidFill>
              <a:latin typeface="Arial"/>
              <a:ea typeface="Arial"/>
              <a:cs typeface="Arial"/>
              <a:sym typeface="Arial"/>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344" name="Google Shape;344;p36"/>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fontScale="92500" lnSpcReduction="20000"/>
          </a:bodyPr>
          <a:lstStyle/>
          <a:p>
            <a:pPr indent="0" lvl="0" marL="0" marR="0" rtl="0" algn="ctr">
              <a:lnSpc>
                <a:spcPct val="100000"/>
              </a:lnSpc>
              <a:spcBef>
                <a:spcPts val="0"/>
              </a:spcBef>
              <a:spcAft>
                <a:spcPts val="0"/>
              </a:spcAft>
              <a:buClr>
                <a:schemeClr val="dk1"/>
              </a:buClr>
              <a:buSzPct val="100000"/>
              <a:buFont typeface="Calibri"/>
              <a:buNone/>
            </a:pPr>
            <a:r>
              <a:rPr b="0" i="0" lang="pt-BR" sz="4400" u="none" cap="none" strike="noStrike">
                <a:solidFill>
                  <a:schemeClr val="dk1"/>
                </a:solidFill>
                <a:latin typeface="Calibri"/>
                <a:ea typeface="Calibri"/>
                <a:cs typeface="Calibri"/>
                <a:sym typeface="Calibri"/>
              </a:rPr>
              <a:t>COMANDO REPITA CONCEITOS</a:t>
            </a:r>
            <a:endParaRPr b="0" i="0" sz="1400" u="none" cap="none" strike="noStrike">
              <a:solidFill>
                <a:srgbClr val="000000"/>
              </a:solidFill>
              <a:latin typeface="Arial"/>
              <a:ea typeface="Arial"/>
              <a:cs typeface="Arial"/>
              <a:sym typeface="Arial"/>
            </a:endParaRPr>
          </a:p>
        </p:txBody>
      </p:sp>
      <p:sp>
        <p:nvSpPr>
          <p:cNvPr id="345" name="Google Shape;345;p36"/>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14:02</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7"/>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571500" lvl="0" marL="571500" marR="0" rtl="0" algn="l">
              <a:lnSpc>
                <a:spcPct val="100000"/>
              </a:lnSpc>
              <a:spcBef>
                <a:spcPts val="0"/>
              </a:spcBef>
              <a:spcAft>
                <a:spcPts val="0"/>
              </a:spcAft>
              <a:buClr>
                <a:srgbClr val="000000"/>
              </a:buClr>
              <a:buSzPts val="3000"/>
              <a:buFont typeface="Noto Sans Symbols"/>
              <a:buChar char="▪"/>
            </a:pPr>
            <a:r>
              <a:rPr b="0" i="0" lang="pt-BR" sz="3000" u="none" cap="none" strike="noStrike">
                <a:solidFill>
                  <a:srgbClr val="000000"/>
                </a:solidFill>
                <a:latin typeface="Calibri"/>
                <a:ea typeface="Calibri"/>
                <a:cs typeface="Calibri"/>
                <a:sym typeface="Calibri"/>
              </a:rPr>
              <a:t>Analisando a sintaxe do comando observa-se que o bloco de comandos é executado pelo menos uma vez, independente da validade da condição.</a:t>
            </a:r>
            <a:endParaRPr b="0" i="0" sz="1400" u="none" cap="none" strike="noStrike">
              <a:solidFill>
                <a:srgbClr val="000000"/>
              </a:solidFill>
              <a:latin typeface="Arial"/>
              <a:ea typeface="Arial"/>
              <a:cs typeface="Arial"/>
              <a:sym typeface="Arial"/>
            </a:endParaRPr>
          </a:p>
          <a:p>
            <a:pPr indent="-571500" lvl="0" marL="571500" marR="0" rtl="0" algn="l">
              <a:lnSpc>
                <a:spcPct val="100000"/>
              </a:lnSpc>
              <a:spcBef>
                <a:spcPts val="0"/>
              </a:spcBef>
              <a:spcAft>
                <a:spcPts val="0"/>
              </a:spcAft>
              <a:buClr>
                <a:srgbClr val="000000"/>
              </a:buClr>
              <a:buSzPts val="3000"/>
              <a:buFont typeface="Noto Sans Symbols"/>
              <a:buChar char="▪"/>
            </a:pPr>
            <a:r>
              <a:rPr b="0" i="0" lang="pt-BR" sz="3000" u="none" cap="none" strike="noStrike">
                <a:solidFill>
                  <a:srgbClr val="000000"/>
                </a:solidFill>
                <a:latin typeface="Calibri"/>
                <a:ea typeface="Calibri"/>
                <a:cs typeface="Calibri"/>
                <a:sym typeface="Calibri"/>
              </a:rPr>
              <a:t>Isso ocorre porque a inspeção da condição é feita após a execução das instruções internas, sendo esta a principal característica deste modelo de repetição.</a:t>
            </a:r>
            <a:endParaRPr b="0" i="0" sz="1400" u="none" cap="none" strike="noStrike">
              <a:solidFill>
                <a:srgbClr val="000000"/>
              </a:solidFill>
              <a:latin typeface="Arial"/>
              <a:ea typeface="Arial"/>
              <a:cs typeface="Arial"/>
              <a:sym typeface="Arial"/>
            </a:endParaRPr>
          </a:p>
          <a:p>
            <a:pPr indent="-571500" lvl="0" marL="571500" marR="0" rtl="0" algn="l">
              <a:lnSpc>
                <a:spcPct val="100000"/>
              </a:lnSpc>
              <a:spcBef>
                <a:spcPts val="0"/>
              </a:spcBef>
              <a:spcAft>
                <a:spcPts val="0"/>
              </a:spcAft>
              <a:buClr>
                <a:srgbClr val="000000"/>
              </a:buClr>
              <a:buSzPts val="3000"/>
              <a:buFont typeface="Noto Sans Symbols"/>
              <a:buChar char="▪"/>
            </a:pPr>
            <a:r>
              <a:rPr b="0" i="0" lang="pt-BR" sz="3000" u="none" cap="none" strike="noStrike">
                <a:solidFill>
                  <a:srgbClr val="000000"/>
                </a:solidFill>
                <a:latin typeface="Calibri"/>
                <a:ea typeface="Calibri"/>
                <a:cs typeface="Calibri"/>
                <a:sym typeface="Calibri"/>
              </a:rPr>
              <a:t>Será repetido até que a condição de parada seja verdadeira, quando é interrompido.</a:t>
            </a:r>
            <a:endParaRPr b="0" i="0" sz="1400" u="none" cap="none" strike="noStrike">
              <a:solidFill>
                <a:srgbClr val="000000"/>
              </a:solidFill>
              <a:latin typeface="Arial"/>
              <a:ea typeface="Arial"/>
              <a:cs typeface="Arial"/>
              <a:sym typeface="Arial"/>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352" name="Google Shape;352;p37"/>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fontScale="92500" lnSpcReduction="20000"/>
          </a:bodyPr>
          <a:lstStyle/>
          <a:p>
            <a:pPr indent="0" lvl="0" marL="0" marR="0" rtl="0" algn="ctr">
              <a:lnSpc>
                <a:spcPct val="100000"/>
              </a:lnSpc>
              <a:spcBef>
                <a:spcPts val="0"/>
              </a:spcBef>
              <a:spcAft>
                <a:spcPts val="0"/>
              </a:spcAft>
              <a:buClr>
                <a:schemeClr val="dk1"/>
              </a:buClr>
              <a:buSzPct val="100000"/>
              <a:buFont typeface="Calibri"/>
              <a:buNone/>
            </a:pPr>
            <a:r>
              <a:rPr b="0" i="0" lang="pt-BR" sz="4400" u="none" cap="none" strike="noStrike">
                <a:solidFill>
                  <a:schemeClr val="dk1"/>
                </a:solidFill>
                <a:latin typeface="Calibri"/>
                <a:ea typeface="Calibri"/>
                <a:cs typeface="Calibri"/>
                <a:sym typeface="Calibri"/>
              </a:rPr>
              <a:t>COMANDO REPITA CONCEITOS</a:t>
            </a:r>
            <a:endParaRPr b="0" i="0" sz="1400" u="none" cap="none" strike="noStrike">
              <a:solidFill>
                <a:srgbClr val="000000"/>
              </a:solidFill>
              <a:latin typeface="Arial"/>
              <a:ea typeface="Arial"/>
              <a:cs typeface="Arial"/>
              <a:sym typeface="Arial"/>
            </a:endParaRPr>
          </a:p>
        </p:txBody>
      </p:sp>
      <p:sp>
        <p:nvSpPr>
          <p:cNvPr id="353" name="Google Shape;353;p37"/>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14:02</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8"/>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254000" lvl="0" marL="457200" marR="0" rtl="0" algn="l">
              <a:lnSpc>
                <a:spcPct val="90000"/>
              </a:lnSpc>
              <a:spcBef>
                <a:spcPts val="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360" name="Google Shape;360;p38"/>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fontScale="92500" lnSpcReduction="20000"/>
          </a:bodyPr>
          <a:lstStyle/>
          <a:p>
            <a:pPr indent="0" lvl="0" marL="0" marR="0" rtl="0" algn="ctr">
              <a:lnSpc>
                <a:spcPct val="100000"/>
              </a:lnSpc>
              <a:spcBef>
                <a:spcPts val="0"/>
              </a:spcBef>
              <a:spcAft>
                <a:spcPts val="0"/>
              </a:spcAft>
              <a:buClr>
                <a:schemeClr val="dk1"/>
              </a:buClr>
              <a:buSzPct val="100000"/>
              <a:buFont typeface="Calibri"/>
              <a:buNone/>
            </a:pPr>
            <a:r>
              <a:rPr b="0" i="0" lang="pt-BR" sz="4400" u="none" cap="none" strike="noStrike">
                <a:solidFill>
                  <a:schemeClr val="dk1"/>
                </a:solidFill>
                <a:latin typeface="Calibri"/>
                <a:ea typeface="Calibri"/>
                <a:cs typeface="Calibri"/>
                <a:sym typeface="Calibri"/>
              </a:rPr>
              <a:t>COMANDO REPITA EXEMPLO</a:t>
            </a:r>
            <a:endParaRPr b="0" i="0" sz="1400" u="none" cap="none" strike="noStrike">
              <a:solidFill>
                <a:srgbClr val="000000"/>
              </a:solidFill>
              <a:latin typeface="Arial"/>
              <a:ea typeface="Arial"/>
              <a:cs typeface="Arial"/>
              <a:sym typeface="Arial"/>
            </a:endParaRPr>
          </a:p>
        </p:txBody>
      </p:sp>
      <p:sp>
        <p:nvSpPr>
          <p:cNvPr id="361" name="Google Shape;361;p38"/>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14:02</a:t>
            </a:r>
            <a:endParaRPr/>
          </a:p>
        </p:txBody>
      </p:sp>
      <p:pic>
        <p:nvPicPr>
          <p:cNvPr id="362" name="Google Shape;362;p38"/>
          <p:cNvPicPr preferRelativeResize="0"/>
          <p:nvPr/>
        </p:nvPicPr>
        <p:blipFill rotWithShape="1">
          <a:blip r:embed="rId3">
            <a:alphaModFix/>
          </a:blip>
          <a:srcRect b="0" l="0" r="0" t="0"/>
          <a:stretch/>
        </p:blipFill>
        <p:spPr>
          <a:xfrm>
            <a:off x="1043608" y="1700808"/>
            <a:ext cx="5904656" cy="448483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9"/>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254000" lvl="0" marL="4572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369" name="Google Shape;369;p39"/>
          <p:cNvSpPr txBox="1"/>
          <p:nvPr/>
        </p:nvSpPr>
        <p:spPr>
          <a:xfrm>
            <a:off x="3394788" y="20499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fontScale="92500" lnSpcReduction="20000"/>
          </a:bodyPr>
          <a:lstStyle/>
          <a:p>
            <a:pPr indent="0" lvl="0" marL="0" marR="0" rtl="0" algn="ctr">
              <a:lnSpc>
                <a:spcPct val="100000"/>
              </a:lnSpc>
              <a:spcBef>
                <a:spcPts val="0"/>
              </a:spcBef>
              <a:spcAft>
                <a:spcPts val="0"/>
              </a:spcAft>
              <a:buClr>
                <a:schemeClr val="dk1"/>
              </a:buClr>
              <a:buSzPct val="100000"/>
              <a:buFont typeface="Calibri"/>
              <a:buNone/>
            </a:pPr>
            <a:r>
              <a:rPr b="0" i="0" lang="pt-BR" sz="4400" u="none" cap="none" strike="noStrike">
                <a:solidFill>
                  <a:schemeClr val="dk1"/>
                </a:solidFill>
                <a:latin typeface="Calibri"/>
                <a:ea typeface="Calibri"/>
                <a:cs typeface="Calibri"/>
                <a:sym typeface="Calibri"/>
              </a:rPr>
              <a:t>COMANDO REPITA DIAGRAMA DE BLOCOS</a:t>
            </a:r>
            <a:endParaRPr b="0" i="0" sz="1400" u="none" cap="none" strike="noStrike">
              <a:solidFill>
                <a:srgbClr val="000000"/>
              </a:solidFill>
              <a:latin typeface="Arial"/>
              <a:ea typeface="Arial"/>
              <a:cs typeface="Arial"/>
              <a:sym typeface="Arial"/>
            </a:endParaRPr>
          </a:p>
        </p:txBody>
      </p:sp>
      <p:sp>
        <p:nvSpPr>
          <p:cNvPr id="370" name="Google Shape;370;p39"/>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14:02</a:t>
            </a:r>
            <a:endParaRPr/>
          </a:p>
        </p:txBody>
      </p:sp>
      <p:sp>
        <p:nvSpPr>
          <p:cNvPr id="371" name="Google Shape;371;p39"/>
          <p:cNvSpPr/>
          <p:nvPr/>
        </p:nvSpPr>
        <p:spPr>
          <a:xfrm>
            <a:off x="1187624" y="1700808"/>
            <a:ext cx="1728192" cy="576064"/>
          </a:xfrm>
          <a:prstGeom prst="flowChartTerminator">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INÍCIO</a:t>
            </a:r>
            <a:endParaRPr b="0" i="0" sz="1400" u="none" cap="none" strike="noStrike">
              <a:solidFill>
                <a:srgbClr val="000000"/>
              </a:solidFill>
              <a:latin typeface="Arial"/>
              <a:ea typeface="Arial"/>
              <a:cs typeface="Arial"/>
              <a:sym typeface="Arial"/>
            </a:endParaRPr>
          </a:p>
        </p:txBody>
      </p:sp>
      <p:sp>
        <p:nvSpPr>
          <p:cNvPr id="372" name="Google Shape;372;p39"/>
          <p:cNvSpPr/>
          <p:nvPr/>
        </p:nvSpPr>
        <p:spPr>
          <a:xfrm>
            <a:off x="1187624" y="5243141"/>
            <a:ext cx="1728192" cy="576064"/>
          </a:xfrm>
          <a:prstGeom prst="flowChartTerminator">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FIM</a:t>
            </a:r>
            <a:endParaRPr b="0" i="0" sz="1400" u="none" cap="none" strike="noStrike">
              <a:solidFill>
                <a:srgbClr val="000000"/>
              </a:solidFill>
              <a:latin typeface="Arial"/>
              <a:ea typeface="Arial"/>
              <a:cs typeface="Arial"/>
              <a:sym typeface="Arial"/>
            </a:endParaRPr>
          </a:p>
        </p:txBody>
      </p:sp>
      <p:sp>
        <p:nvSpPr>
          <p:cNvPr id="373" name="Google Shape;373;p39"/>
          <p:cNvSpPr/>
          <p:nvPr/>
        </p:nvSpPr>
        <p:spPr>
          <a:xfrm>
            <a:off x="3813105" y="2829408"/>
            <a:ext cx="1357103" cy="648072"/>
          </a:xfrm>
          <a:prstGeom prst="flowChartDisplay">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X</a:t>
            </a:r>
            <a:endParaRPr b="0" i="0" sz="1400" u="none" cap="none" strike="noStrike">
              <a:solidFill>
                <a:srgbClr val="000000"/>
              </a:solidFill>
              <a:latin typeface="Arial"/>
              <a:ea typeface="Arial"/>
              <a:cs typeface="Arial"/>
              <a:sym typeface="Arial"/>
            </a:endParaRPr>
          </a:p>
        </p:txBody>
      </p:sp>
      <p:cxnSp>
        <p:nvCxnSpPr>
          <p:cNvPr id="374" name="Google Shape;374;p39"/>
          <p:cNvCxnSpPr/>
          <p:nvPr/>
        </p:nvCxnSpPr>
        <p:spPr>
          <a:xfrm>
            <a:off x="4516541" y="2338401"/>
            <a:ext cx="0" cy="465858"/>
          </a:xfrm>
          <a:prstGeom prst="straightConnector1">
            <a:avLst/>
          </a:prstGeom>
          <a:noFill/>
          <a:ln cap="flat" cmpd="sng" w="25400">
            <a:solidFill>
              <a:schemeClr val="dk1"/>
            </a:solidFill>
            <a:prstDash val="solid"/>
            <a:round/>
            <a:headEnd len="sm" w="sm" type="none"/>
            <a:tailEnd len="med" w="med" type="triangle"/>
          </a:ln>
        </p:spPr>
      </p:cxnSp>
      <p:cxnSp>
        <p:nvCxnSpPr>
          <p:cNvPr id="375" name="Google Shape;375;p39"/>
          <p:cNvCxnSpPr/>
          <p:nvPr/>
        </p:nvCxnSpPr>
        <p:spPr>
          <a:xfrm>
            <a:off x="4529752" y="3477480"/>
            <a:ext cx="0" cy="391162"/>
          </a:xfrm>
          <a:prstGeom prst="straightConnector1">
            <a:avLst/>
          </a:prstGeom>
          <a:noFill/>
          <a:ln cap="flat" cmpd="sng" w="25400">
            <a:solidFill>
              <a:schemeClr val="dk1"/>
            </a:solidFill>
            <a:prstDash val="solid"/>
            <a:round/>
            <a:headEnd len="sm" w="sm" type="none"/>
            <a:tailEnd len="med" w="med" type="triangle"/>
          </a:ln>
        </p:spPr>
      </p:cxnSp>
      <p:cxnSp>
        <p:nvCxnSpPr>
          <p:cNvPr id="376" name="Google Shape;376;p39"/>
          <p:cNvCxnSpPr>
            <a:stCxn id="377" idx="3"/>
            <a:endCxn id="373" idx="3"/>
          </p:cNvCxnSpPr>
          <p:nvPr/>
        </p:nvCxnSpPr>
        <p:spPr>
          <a:xfrm rot="10800000">
            <a:off x="5170103" y="3153374"/>
            <a:ext cx="466800" cy="2377800"/>
          </a:xfrm>
          <a:prstGeom prst="bentConnector3">
            <a:avLst>
              <a:gd fmla="val -186385" name="adj1"/>
            </a:avLst>
          </a:prstGeom>
          <a:noFill/>
          <a:ln cap="flat" cmpd="sng" w="25400">
            <a:solidFill>
              <a:schemeClr val="dk1"/>
            </a:solidFill>
            <a:prstDash val="solid"/>
            <a:round/>
            <a:headEnd len="sm" w="sm" type="none"/>
            <a:tailEnd len="med" w="med" type="triangle"/>
          </a:ln>
        </p:spPr>
      </p:cxnSp>
      <p:sp>
        <p:nvSpPr>
          <p:cNvPr id="377" name="Google Shape;377;p39"/>
          <p:cNvSpPr/>
          <p:nvPr/>
        </p:nvSpPr>
        <p:spPr>
          <a:xfrm>
            <a:off x="3548671" y="4942882"/>
            <a:ext cx="2088232" cy="1176583"/>
          </a:xfrm>
          <a:prstGeom prst="diamond">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X</a:t>
            </a:r>
            <a:r>
              <a:rPr b="0" i="0" lang="pt-BR" sz="1800" u="none" cap="none" strike="noStrike">
                <a:solidFill>
                  <a:schemeClr val="lt1"/>
                </a:solidFill>
                <a:latin typeface="Calibri"/>
                <a:ea typeface="Calibri"/>
                <a:cs typeface="Calibri"/>
                <a:sym typeface="Calibri"/>
              </a:rPr>
              <a:t>  </a:t>
            </a:r>
            <a:r>
              <a:rPr b="0" i="0" lang="pt-BR" sz="1800" u="none" cap="none" strike="noStrike">
                <a:solidFill>
                  <a:schemeClr val="dk1"/>
                </a:solidFill>
                <a:latin typeface="Calibri"/>
                <a:ea typeface="Calibri"/>
                <a:cs typeface="Calibri"/>
                <a:sym typeface="Calibri"/>
              </a:rPr>
              <a:t>&gt;</a:t>
            </a:r>
            <a:r>
              <a:rPr b="0" i="0" lang="pt-BR" sz="1800" u="none" cap="none" strike="noStrike">
                <a:solidFill>
                  <a:schemeClr val="lt1"/>
                </a:solidFill>
                <a:latin typeface="Calibri"/>
                <a:ea typeface="Calibri"/>
                <a:cs typeface="Calibri"/>
                <a:sym typeface="Calibri"/>
              </a:rPr>
              <a:t>  </a:t>
            </a:r>
            <a:r>
              <a:rPr b="0" i="0" lang="pt-BR" sz="1800" u="none" cap="none" strike="noStrike">
                <a:solidFill>
                  <a:schemeClr val="dk1"/>
                </a:solidFill>
                <a:latin typeface="Calibri"/>
                <a:ea typeface="Calibri"/>
                <a:cs typeface="Calibri"/>
                <a:sym typeface="Calibri"/>
              </a:rPr>
              <a:t>10</a:t>
            </a:r>
            <a:endParaRPr b="0" i="0" sz="1400" u="none" cap="none" strike="noStrike">
              <a:solidFill>
                <a:srgbClr val="000000"/>
              </a:solidFill>
              <a:latin typeface="Arial"/>
              <a:ea typeface="Arial"/>
              <a:cs typeface="Arial"/>
              <a:sym typeface="Arial"/>
            </a:endParaRPr>
          </a:p>
        </p:txBody>
      </p:sp>
      <p:sp>
        <p:nvSpPr>
          <p:cNvPr id="378" name="Google Shape;378;p39"/>
          <p:cNvSpPr/>
          <p:nvPr/>
        </p:nvSpPr>
        <p:spPr>
          <a:xfrm>
            <a:off x="3652445" y="1762337"/>
            <a:ext cx="1728192" cy="576064"/>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X &lt;- 1</a:t>
            </a:r>
            <a:endParaRPr b="0" i="0" sz="1400" u="none" cap="none" strike="noStrike">
              <a:solidFill>
                <a:srgbClr val="000000"/>
              </a:solidFill>
              <a:latin typeface="Arial"/>
              <a:ea typeface="Arial"/>
              <a:cs typeface="Arial"/>
              <a:sym typeface="Arial"/>
            </a:endParaRPr>
          </a:p>
        </p:txBody>
      </p:sp>
      <p:cxnSp>
        <p:nvCxnSpPr>
          <p:cNvPr id="379" name="Google Shape;379;p39"/>
          <p:cNvCxnSpPr/>
          <p:nvPr/>
        </p:nvCxnSpPr>
        <p:spPr>
          <a:xfrm>
            <a:off x="2915816" y="2050369"/>
            <a:ext cx="736629" cy="0"/>
          </a:xfrm>
          <a:prstGeom prst="straightConnector1">
            <a:avLst/>
          </a:prstGeom>
          <a:noFill/>
          <a:ln cap="flat" cmpd="sng" w="25400">
            <a:solidFill>
              <a:schemeClr val="dk1"/>
            </a:solidFill>
            <a:prstDash val="solid"/>
            <a:round/>
            <a:headEnd len="sm" w="sm" type="none"/>
            <a:tailEnd len="med" w="med" type="triangle"/>
          </a:ln>
        </p:spPr>
      </p:cxnSp>
      <p:sp>
        <p:nvSpPr>
          <p:cNvPr id="380" name="Google Shape;380;p39"/>
          <p:cNvSpPr/>
          <p:nvPr/>
        </p:nvSpPr>
        <p:spPr>
          <a:xfrm>
            <a:off x="3660851" y="3922149"/>
            <a:ext cx="1728192" cy="576064"/>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X &lt;- X + 1</a:t>
            </a:r>
            <a:endParaRPr b="0" i="0" sz="1400" u="none" cap="none" strike="noStrike">
              <a:solidFill>
                <a:srgbClr val="000000"/>
              </a:solidFill>
              <a:latin typeface="Arial"/>
              <a:ea typeface="Arial"/>
              <a:cs typeface="Arial"/>
              <a:sym typeface="Arial"/>
            </a:endParaRPr>
          </a:p>
        </p:txBody>
      </p:sp>
      <p:sp>
        <p:nvSpPr>
          <p:cNvPr id="381" name="Google Shape;381;p39"/>
          <p:cNvSpPr txBox="1"/>
          <p:nvPr/>
        </p:nvSpPr>
        <p:spPr>
          <a:xfrm>
            <a:off x="5734695" y="5161841"/>
            <a:ext cx="6591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F</a:t>
            </a:r>
            <a:endParaRPr b="0" i="0" sz="1400" u="none" cap="none" strike="noStrike">
              <a:solidFill>
                <a:srgbClr val="000000"/>
              </a:solidFill>
              <a:latin typeface="Arial"/>
              <a:ea typeface="Arial"/>
              <a:cs typeface="Arial"/>
              <a:sym typeface="Arial"/>
            </a:endParaRPr>
          </a:p>
        </p:txBody>
      </p:sp>
      <p:sp>
        <p:nvSpPr>
          <p:cNvPr id="382" name="Google Shape;382;p39"/>
          <p:cNvSpPr txBox="1"/>
          <p:nvPr/>
        </p:nvSpPr>
        <p:spPr>
          <a:xfrm>
            <a:off x="3101533" y="5187932"/>
            <a:ext cx="6591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V</a:t>
            </a:r>
            <a:endParaRPr b="0" i="0" sz="1400" u="none" cap="none" strike="noStrike">
              <a:solidFill>
                <a:srgbClr val="000000"/>
              </a:solidFill>
              <a:latin typeface="Arial"/>
              <a:ea typeface="Arial"/>
              <a:cs typeface="Arial"/>
              <a:sym typeface="Arial"/>
            </a:endParaRPr>
          </a:p>
        </p:txBody>
      </p:sp>
      <p:cxnSp>
        <p:nvCxnSpPr>
          <p:cNvPr id="383" name="Google Shape;383;p39"/>
          <p:cNvCxnSpPr>
            <a:stCxn id="377" idx="1"/>
            <a:endCxn id="372" idx="3"/>
          </p:cNvCxnSpPr>
          <p:nvPr/>
        </p:nvCxnSpPr>
        <p:spPr>
          <a:xfrm rot="10800000">
            <a:off x="2915671" y="5531174"/>
            <a:ext cx="633000" cy="0"/>
          </a:xfrm>
          <a:prstGeom prst="straightConnector1">
            <a:avLst/>
          </a:prstGeom>
          <a:noFill/>
          <a:ln cap="flat" cmpd="sng" w="25400">
            <a:solidFill>
              <a:schemeClr val="dk1"/>
            </a:solidFill>
            <a:prstDash val="solid"/>
            <a:round/>
            <a:headEnd len="sm" w="sm" type="none"/>
            <a:tailEnd len="med" w="med" type="triangle"/>
          </a:ln>
        </p:spPr>
      </p:cxnSp>
      <p:cxnSp>
        <p:nvCxnSpPr>
          <p:cNvPr id="384" name="Google Shape;384;p39"/>
          <p:cNvCxnSpPr/>
          <p:nvPr/>
        </p:nvCxnSpPr>
        <p:spPr>
          <a:xfrm>
            <a:off x="4592787" y="4498213"/>
            <a:ext cx="0" cy="391162"/>
          </a:xfrm>
          <a:prstGeom prst="straightConnector1">
            <a:avLst/>
          </a:prstGeom>
          <a:noFill/>
          <a:ln cap="flat" cmpd="sng" w="25400">
            <a:solidFill>
              <a:schemeClr val="dk1"/>
            </a:solidFill>
            <a:prstDash val="solid"/>
            <a:round/>
            <a:headEnd len="sm" w="sm" type="none"/>
            <a:tailEnd len="med" w="med" type="triangl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0"/>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571500" lvl="0" marL="571500" marR="0" rtl="0" algn="l">
              <a:lnSpc>
                <a:spcPct val="100000"/>
              </a:lnSpc>
              <a:spcBef>
                <a:spcPts val="0"/>
              </a:spcBef>
              <a:spcAft>
                <a:spcPts val="0"/>
              </a:spcAft>
              <a:buClr>
                <a:srgbClr val="000000"/>
              </a:buClr>
              <a:buSzPts val="3200"/>
              <a:buFont typeface="Noto Sans Symbols"/>
              <a:buChar char="▪"/>
            </a:pPr>
            <a:r>
              <a:rPr b="0" i="0" lang="pt-BR" sz="3200" u="none" cap="none" strike="noStrike">
                <a:solidFill>
                  <a:srgbClr val="000000"/>
                </a:solidFill>
                <a:latin typeface="Calibri"/>
                <a:ea typeface="Calibri"/>
                <a:cs typeface="Calibri"/>
                <a:sym typeface="Calibri"/>
              </a:rPr>
              <a:t>Muitas vezes durante a construção de algoritmos com este tipo de estrutura não é possível identificar quantas vezes o “laço” será executado, pois depende da ação do usuário.</a:t>
            </a:r>
            <a:endParaRPr b="0" i="0" sz="1400" u="none" cap="none" strike="noStrike">
              <a:solidFill>
                <a:srgbClr val="000000"/>
              </a:solidFill>
              <a:latin typeface="Arial"/>
              <a:ea typeface="Arial"/>
              <a:cs typeface="Arial"/>
              <a:sym typeface="Arial"/>
            </a:endParaRPr>
          </a:p>
          <a:p>
            <a:pPr indent="-571500" lvl="0" marL="571500" marR="0" rtl="0" algn="l">
              <a:lnSpc>
                <a:spcPct val="100000"/>
              </a:lnSpc>
              <a:spcBef>
                <a:spcPts val="0"/>
              </a:spcBef>
              <a:spcAft>
                <a:spcPts val="0"/>
              </a:spcAft>
              <a:buClr>
                <a:srgbClr val="000000"/>
              </a:buClr>
              <a:buSzPts val="3200"/>
              <a:buFont typeface="Noto Sans Symbols"/>
              <a:buChar char="▪"/>
            </a:pPr>
            <a:r>
              <a:rPr b="0" i="0" lang="pt-BR" sz="3200" u="none" cap="none" strike="noStrike">
                <a:solidFill>
                  <a:srgbClr val="000000"/>
                </a:solidFill>
                <a:latin typeface="Calibri"/>
                <a:ea typeface="Calibri"/>
                <a:cs typeface="Calibri"/>
                <a:sym typeface="Calibri"/>
              </a:rPr>
              <a:t>A variável controladora deste tipo de estrutura pode ser definida de qualquer tipo de dado e também poderá ser um contador, acumulador ou mesmo uma flag.</a:t>
            </a:r>
            <a:endParaRPr b="0" i="0" sz="1400" u="none" cap="none" strike="noStrike">
              <a:solidFill>
                <a:srgbClr val="000000"/>
              </a:solidFill>
              <a:latin typeface="Arial"/>
              <a:ea typeface="Arial"/>
              <a:cs typeface="Arial"/>
              <a:sym typeface="Arial"/>
            </a:endParaRPr>
          </a:p>
        </p:txBody>
      </p:sp>
      <p:sp>
        <p:nvSpPr>
          <p:cNvPr id="391" name="Google Shape;391;p40"/>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fontScale="92500" lnSpcReduction="20000"/>
          </a:bodyPr>
          <a:lstStyle/>
          <a:p>
            <a:pPr indent="0" lvl="0" marL="0" marR="0" rtl="0" algn="ctr">
              <a:lnSpc>
                <a:spcPct val="100000"/>
              </a:lnSpc>
              <a:spcBef>
                <a:spcPts val="0"/>
              </a:spcBef>
              <a:spcAft>
                <a:spcPts val="0"/>
              </a:spcAft>
              <a:buClr>
                <a:schemeClr val="dk1"/>
              </a:buClr>
              <a:buSzPct val="100000"/>
              <a:buFont typeface="Calibri"/>
              <a:buNone/>
            </a:pPr>
            <a:r>
              <a:rPr b="0" i="0" lang="pt-BR" sz="4400" u="none" cap="none" strike="noStrike">
                <a:solidFill>
                  <a:schemeClr val="dk1"/>
                </a:solidFill>
                <a:latin typeface="Calibri"/>
                <a:ea typeface="Calibri"/>
                <a:cs typeface="Calibri"/>
                <a:sym typeface="Calibri"/>
              </a:rPr>
              <a:t>COMANDO REPITA CONTROLADOR</a:t>
            </a:r>
            <a:endParaRPr b="0" i="0" sz="1400" u="none" cap="none" strike="noStrike">
              <a:solidFill>
                <a:srgbClr val="000000"/>
              </a:solidFill>
              <a:latin typeface="Arial"/>
              <a:ea typeface="Arial"/>
              <a:cs typeface="Arial"/>
              <a:sym typeface="Arial"/>
            </a:endParaRPr>
          </a:p>
        </p:txBody>
      </p:sp>
      <p:sp>
        <p:nvSpPr>
          <p:cNvPr id="392" name="Google Shape;392;p40"/>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14:02</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1"/>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571500" lvl="0" marL="571500" marR="0" rtl="0" algn="l">
              <a:lnSpc>
                <a:spcPct val="100000"/>
              </a:lnSpc>
              <a:spcBef>
                <a:spcPts val="0"/>
              </a:spcBef>
              <a:spcAft>
                <a:spcPts val="0"/>
              </a:spcAft>
              <a:buClr>
                <a:srgbClr val="000000"/>
              </a:buClr>
              <a:buSzPts val="3200"/>
              <a:buFont typeface="Noto Sans Symbols"/>
              <a:buChar char="▪"/>
            </a:pPr>
            <a:r>
              <a:rPr b="0" i="0" lang="pt-BR" sz="3200" u="none" cap="none" strike="noStrike">
                <a:solidFill>
                  <a:srgbClr val="000000"/>
                </a:solidFill>
                <a:latin typeface="Calibri"/>
                <a:ea typeface="Calibri"/>
                <a:cs typeface="Calibri"/>
                <a:sym typeface="Calibri"/>
              </a:rPr>
              <a:t>Quantas vezes será executado este “laço”?</a:t>
            </a:r>
            <a:endParaRPr b="0" i="0" sz="1400" u="none" cap="none" strike="noStrike">
              <a:solidFill>
                <a:srgbClr val="000000"/>
              </a:solidFill>
              <a:latin typeface="Arial"/>
              <a:ea typeface="Arial"/>
              <a:cs typeface="Arial"/>
              <a:sym typeface="Arial"/>
            </a:endParaRPr>
          </a:p>
        </p:txBody>
      </p:sp>
      <p:sp>
        <p:nvSpPr>
          <p:cNvPr id="399" name="Google Shape;399;p41"/>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fontScale="92500" lnSpcReduction="20000"/>
          </a:bodyPr>
          <a:lstStyle/>
          <a:p>
            <a:pPr indent="0" lvl="0" marL="0" marR="0" rtl="0" algn="ctr">
              <a:lnSpc>
                <a:spcPct val="100000"/>
              </a:lnSpc>
              <a:spcBef>
                <a:spcPts val="0"/>
              </a:spcBef>
              <a:spcAft>
                <a:spcPts val="0"/>
              </a:spcAft>
              <a:buClr>
                <a:schemeClr val="dk1"/>
              </a:buClr>
              <a:buSzPct val="100000"/>
              <a:buFont typeface="Calibri"/>
              <a:buNone/>
            </a:pPr>
            <a:r>
              <a:rPr b="0" i="0" lang="pt-BR" sz="4400" u="none" cap="none" strike="noStrike">
                <a:solidFill>
                  <a:schemeClr val="dk1"/>
                </a:solidFill>
                <a:latin typeface="Calibri"/>
                <a:ea typeface="Calibri"/>
                <a:cs typeface="Calibri"/>
                <a:sym typeface="Calibri"/>
              </a:rPr>
              <a:t>COMANDO REPITA EXEMPLO</a:t>
            </a:r>
            <a:endParaRPr b="0" i="0" sz="1400" u="none" cap="none" strike="noStrike">
              <a:solidFill>
                <a:srgbClr val="000000"/>
              </a:solidFill>
              <a:latin typeface="Arial"/>
              <a:ea typeface="Arial"/>
              <a:cs typeface="Arial"/>
              <a:sym typeface="Arial"/>
            </a:endParaRPr>
          </a:p>
        </p:txBody>
      </p:sp>
      <p:sp>
        <p:nvSpPr>
          <p:cNvPr id="400" name="Google Shape;400;p41"/>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14:02</a:t>
            </a:r>
            <a:endParaRPr/>
          </a:p>
        </p:txBody>
      </p:sp>
      <p:pic>
        <p:nvPicPr>
          <p:cNvPr id="401" name="Google Shape;401;p41"/>
          <p:cNvPicPr preferRelativeResize="0"/>
          <p:nvPr/>
        </p:nvPicPr>
        <p:blipFill rotWithShape="1">
          <a:blip r:embed="rId3">
            <a:alphaModFix/>
          </a:blip>
          <a:srcRect b="0" l="0" r="0" t="0"/>
          <a:stretch/>
        </p:blipFill>
        <p:spPr>
          <a:xfrm>
            <a:off x="922476" y="2456562"/>
            <a:ext cx="7681972" cy="378414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2"/>
          <p:cNvSpPr txBox="1"/>
          <p:nvPr/>
        </p:nvSpPr>
        <p:spPr>
          <a:xfrm>
            <a:off x="867884" y="1585801"/>
            <a:ext cx="7841671" cy="4795528"/>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100000"/>
              </a:lnSpc>
              <a:spcBef>
                <a:spcPts val="0"/>
              </a:spcBef>
              <a:spcAft>
                <a:spcPts val="0"/>
              </a:spcAft>
              <a:buClr>
                <a:schemeClr val="dk1"/>
              </a:buClr>
              <a:buSzPts val="3600"/>
              <a:buFont typeface="Calibri"/>
              <a:buChar char="•"/>
            </a:pPr>
            <a:r>
              <a:rPr b="1" i="0" lang="pt-BR" sz="3600" u="none" cap="none" strike="noStrike">
                <a:solidFill>
                  <a:schemeClr val="dk1"/>
                </a:solidFill>
                <a:latin typeface="Calibri"/>
                <a:ea typeface="Calibri"/>
                <a:cs typeface="Calibri"/>
                <a:sym typeface="Calibri"/>
              </a:rPr>
              <a:t>Laço do while (faça enquanto):</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60"/>
              </a:spcBef>
              <a:spcAft>
                <a:spcPts val="0"/>
              </a:spcAft>
              <a:buClr>
                <a:schemeClr val="dk1"/>
              </a:buClr>
              <a:buSzPts val="2800"/>
              <a:buFont typeface="Calibri"/>
              <a:buChar char="–"/>
            </a:pPr>
            <a:r>
              <a:rPr b="0" i="0" lang="pt-BR" sz="2800" u="none" cap="none" strike="noStrike">
                <a:solidFill>
                  <a:schemeClr val="dk1"/>
                </a:solidFill>
                <a:latin typeface="Calibri"/>
                <a:ea typeface="Calibri"/>
                <a:cs typeface="Calibri"/>
                <a:sym typeface="Calibri"/>
              </a:rPr>
              <a:t>É uma variação do laço while, diferenciando pelo teste da condição ser no final.</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60"/>
              </a:spcBef>
              <a:spcAft>
                <a:spcPts val="0"/>
              </a:spcAft>
              <a:buClr>
                <a:schemeClr val="dk1"/>
              </a:buClr>
              <a:buSzPts val="2800"/>
              <a:buFont typeface="Calibri"/>
              <a:buChar char="–"/>
            </a:pPr>
            <a:r>
              <a:rPr b="0" i="0" lang="pt-BR" sz="2800" u="none" cap="none" strike="noStrike">
                <a:solidFill>
                  <a:schemeClr val="dk1"/>
                </a:solidFill>
                <a:latin typeface="Calibri"/>
                <a:ea typeface="Calibri"/>
                <a:cs typeface="Calibri"/>
                <a:sym typeface="Calibri"/>
              </a:rPr>
              <a:t>O laço é executado no mínimo uma vez.</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60"/>
              </a:spcBef>
              <a:spcAft>
                <a:spcPts val="0"/>
              </a:spcAft>
              <a:buClr>
                <a:schemeClr val="dk1"/>
              </a:buClr>
              <a:buSzPts val="2800"/>
              <a:buFont typeface="Calibri"/>
              <a:buChar char="–"/>
            </a:pPr>
            <a:r>
              <a:rPr b="0" i="0" lang="pt-BR" sz="2800" u="none" cap="none" strike="noStrike">
                <a:solidFill>
                  <a:schemeClr val="dk1"/>
                </a:solidFill>
                <a:latin typeface="Calibri"/>
                <a:ea typeface="Calibri"/>
                <a:cs typeface="Calibri"/>
                <a:sym typeface="Calibri"/>
              </a:rPr>
              <a:t> No Algoritmo:</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&lt;variavel&gt; = &lt;valor inicial&gt;</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repita</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Bloco de Comandos ou instrução;</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&lt;incremento da variável&gt;</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ate (&lt;condição parada&gt;)</a:t>
            </a:r>
            <a:endParaRPr b="0" i="0" sz="3200" u="none" cap="none" strike="noStrike">
              <a:solidFill>
                <a:schemeClr val="dk1"/>
              </a:solidFill>
              <a:latin typeface="Calibri"/>
              <a:ea typeface="Calibri"/>
              <a:cs typeface="Calibri"/>
              <a:sym typeface="Calibri"/>
            </a:endParaRPr>
          </a:p>
          <a:p>
            <a:pPr indent="-254000" lvl="0" marL="457200" marR="0" rtl="0" algn="l">
              <a:lnSpc>
                <a:spcPct val="10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254000" lvl="0" marL="457200" marR="0" rtl="0" algn="l">
              <a:lnSpc>
                <a:spcPct val="9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408" name="Google Shape;408;p42"/>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pt-BR" sz="4400" u="none" cap="none" strike="noStrike">
                <a:solidFill>
                  <a:schemeClr val="dk1"/>
                </a:solidFill>
                <a:latin typeface="Calibri"/>
                <a:ea typeface="Calibri"/>
                <a:cs typeface="Calibri"/>
                <a:sym typeface="Calibri"/>
              </a:rPr>
              <a:t>DO WHILE</a:t>
            </a:r>
            <a:endParaRPr b="0" i="0" sz="1400" u="none" cap="none" strike="noStrike">
              <a:solidFill>
                <a:srgbClr val="000000"/>
              </a:solidFill>
              <a:latin typeface="Arial"/>
              <a:ea typeface="Arial"/>
              <a:cs typeface="Arial"/>
              <a:sym typeface="Arial"/>
            </a:endParaRPr>
          </a:p>
        </p:txBody>
      </p:sp>
      <p:sp>
        <p:nvSpPr>
          <p:cNvPr id="409" name="Google Shape;409;p42"/>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14:10</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3"/>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381000" lvl="1" marL="838200" marR="0" rtl="0" algn="l">
              <a:lnSpc>
                <a:spcPct val="100000"/>
              </a:lnSpc>
              <a:spcBef>
                <a:spcPts val="0"/>
              </a:spcBef>
              <a:spcAft>
                <a:spcPts val="0"/>
              </a:spcAft>
              <a:buClr>
                <a:schemeClr val="dk1"/>
              </a:buClr>
              <a:buSzPts val="2800"/>
              <a:buFont typeface="Calibri"/>
              <a:buChar char="–"/>
            </a:pPr>
            <a:r>
              <a:rPr b="0" i="0" lang="pt-BR" sz="2800" u="none" cap="none" strike="noStrike">
                <a:solidFill>
                  <a:schemeClr val="dk1"/>
                </a:solidFill>
                <a:latin typeface="Calibri"/>
                <a:ea typeface="Calibri"/>
                <a:cs typeface="Calibri"/>
                <a:sym typeface="Calibri"/>
              </a:rPr>
              <a:t> </a:t>
            </a:r>
            <a:r>
              <a:rPr b="1" i="0" lang="pt-BR" sz="3600" u="none" cap="none" strike="noStrike">
                <a:solidFill>
                  <a:schemeClr val="dk1"/>
                </a:solidFill>
                <a:latin typeface="Calibri"/>
                <a:ea typeface="Calibri"/>
                <a:cs typeface="Calibri"/>
                <a:sym typeface="Calibri"/>
              </a:rPr>
              <a:t>Na linguagem C/C++:</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60"/>
              </a:spcBef>
              <a:spcAft>
                <a:spcPts val="0"/>
              </a:spcAft>
              <a:buClr>
                <a:srgbClr val="000000"/>
              </a:buClr>
              <a:buSzPts val="2800"/>
              <a:buFont typeface="Arial"/>
              <a:buNone/>
            </a:pPr>
            <a:r>
              <a:rPr b="0" i="0" lang="pt-BR" sz="2800" u="none" cap="none" strike="noStrike">
                <a:solidFill>
                  <a:schemeClr val="dk1"/>
                </a:solidFill>
                <a:latin typeface="Calibri"/>
                <a:ea typeface="Calibri"/>
                <a:cs typeface="Calibri"/>
                <a:sym typeface="Calibri"/>
              </a:rPr>
              <a:t>&lt;variavel&gt; = &lt;valor inicial&gt;</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60"/>
              </a:spcBef>
              <a:spcAft>
                <a:spcPts val="0"/>
              </a:spcAft>
              <a:buClr>
                <a:srgbClr val="000000"/>
              </a:buClr>
              <a:buSzPts val="2800"/>
              <a:buFont typeface="Arial"/>
              <a:buNone/>
            </a:pPr>
            <a:r>
              <a:rPr b="0" i="0" lang="pt-BR" sz="2800" u="none" cap="none" strike="noStrike">
                <a:solidFill>
                  <a:schemeClr val="dk1"/>
                </a:solidFill>
                <a:latin typeface="Calibri"/>
                <a:ea typeface="Calibri"/>
                <a:cs typeface="Calibri"/>
                <a:sym typeface="Calibri"/>
              </a:rPr>
              <a:t>do</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60"/>
              </a:spcBef>
              <a:spcAft>
                <a:spcPts val="0"/>
              </a:spcAft>
              <a:buClr>
                <a:srgbClr val="000000"/>
              </a:buClr>
              <a:buSzPts val="2800"/>
              <a:buFont typeface="Arial"/>
              <a:buNone/>
            </a:pPr>
            <a:r>
              <a:rPr b="0" i="0" lang="pt-BR" sz="2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60"/>
              </a:spcBef>
              <a:spcAft>
                <a:spcPts val="0"/>
              </a:spcAft>
              <a:buClr>
                <a:srgbClr val="000000"/>
              </a:buClr>
              <a:buSzPts val="2800"/>
              <a:buFont typeface="Arial"/>
              <a:buNone/>
            </a:pPr>
            <a:r>
              <a:rPr b="0" i="0" lang="pt-BR" sz="2800" u="none" cap="none" strike="noStrike">
                <a:solidFill>
                  <a:schemeClr val="dk1"/>
                </a:solidFill>
                <a:latin typeface="Calibri"/>
                <a:ea typeface="Calibri"/>
                <a:cs typeface="Calibri"/>
                <a:sym typeface="Calibri"/>
              </a:rPr>
              <a:t>      Bloco de Comandos ou instruções;</a:t>
            </a:r>
            <a:endParaRPr b="0" i="0" sz="1400" u="none" cap="none" strike="noStrike">
              <a:solidFill>
                <a:srgbClr val="000000"/>
              </a:solidFill>
              <a:latin typeface="Arial"/>
              <a:ea typeface="Arial"/>
              <a:cs typeface="Arial"/>
              <a:sym typeface="Arial"/>
            </a:endParaRPr>
          </a:p>
          <a:p>
            <a:pPr indent="-381000" lvl="1" marL="838200" marR="0" rtl="0" algn="l">
              <a:lnSpc>
                <a:spcPct val="100000"/>
              </a:lnSpc>
              <a:spcBef>
                <a:spcPts val="560"/>
              </a:spcBef>
              <a:spcAft>
                <a:spcPts val="0"/>
              </a:spcAft>
              <a:buClr>
                <a:srgbClr val="000000"/>
              </a:buClr>
              <a:buSzPts val="2800"/>
              <a:buFont typeface="Arial"/>
              <a:buNone/>
            </a:pPr>
            <a:r>
              <a:rPr b="0" i="0" lang="pt-BR" sz="2800" u="none" cap="none" strike="noStrike">
                <a:solidFill>
                  <a:schemeClr val="dk1"/>
                </a:solidFill>
                <a:latin typeface="Calibri"/>
                <a:ea typeface="Calibri"/>
                <a:cs typeface="Calibri"/>
                <a:sym typeface="Calibri"/>
              </a:rPr>
              <a:t>      &lt;incremento da variável&gt;</a:t>
            </a:r>
            <a:endParaRPr b="0" i="0" sz="2000" u="none" cap="none" strike="noStrike">
              <a:solidFill>
                <a:schemeClr val="dk1"/>
              </a:solidFill>
              <a:latin typeface="Calibri"/>
              <a:ea typeface="Calibri"/>
              <a:cs typeface="Calibri"/>
              <a:sym typeface="Calibri"/>
            </a:endParaRPr>
          </a:p>
          <a:p>
            <a:pPr indent="-457200" lvl="0" marL="457200" marR="0" rtl="0" algn="l">
              <a:lnSpc>
                <a:spcPct val="100000"/>
              </a:lnSpc>
              <a:spcBef>
                <a:spcPts val="640"/>
              </a:spcBef>
              <a:spcAft>
                <a:spcPts val="0"/>
              </a:spcAft>
              <a:buClr>
                <a:srgbClr val="000000"/>
              </a:buClr>
              <a:buSzPts val="3200"/>
              <a:buFont typeface="Arial"/>
              <a:buNone/>
            </a:pPr>
            <a:r>
              <a:rPr b="0" i="0" lang="pt-BR" sz="3200" u="none" cap="none" strike="noStrike">
                <a:solidFill>
                  <a:schemeClr val="dk1"/>
                </a:solidFill>
                <a:latin typeface="Calibri"/>
                <a:ea typeface="Calibri"/>
                <a:cs typeface="Calibri"/>
                <a:sym typeface="Calibri"/>
              </a:rPr>
              <a:t>     </a:t>
            </a:r>
            <a:r>
              <a:rPr b="0" i="0" lang="pt-BR" sz="2800" u="none" cap="none" strike="noStrike">
                <a:solidFill>
                  <a:schemeClr val="dk1"/>
                </a:solidFill>
                <a:latin typeface="Calibri"/>
                <a:ea typeface="Calibri"/>
                <a:cs typeface="Calibri"/>
                <a:sym typeface="Calibri"/>
              </a:rPr>
              <a:t>} </a:t>
            </a:r>
            <a:r>
              <a:rPr b="0" i="0" lang="pt-BR" sz="3200" u="none" cap="none" strike="noStrike">
                <a:solidFill>
                  <a:schemeClr val="dk1"/>
                </a:solidFill>
                <a:latin typeface="Calibri"/>
                <a:ea typeface="Calibri"/>
                <a:cs typeface="Calibri"/>
                <a:sym typeface="Calibri"/>
              </a:rPr>
              <a:t>while (&lt;condição parada&gt;);</a:t>
            </a:r>
            <a:endParaRPr b="0" i="0" sz="1400" u="none" cap="none" strike="noStrike">
              <a:solidFill>
                <a:srgbClr val="000000"/>
              </a:solidFill>
              <a:latin typeface="Arial"/>
              <a:ea typeface="Arial"/>
              <a:cs typeface="Arial"/>
              <a:sym typeface="Arial"/>
            </a:endParaRPr>
          </a:p>
          <a:p>
            <a:pPr indent="-254000" lvl="0" marL="457200" marR="0" rtl="0" algn="l">
              <a:lnSpc>
                <a:spcPct val="10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254000" lvl="0" marL="457200" marR="0" rtl="0" algn="l">
              <a:lnSpc>
                <a:spcPct val="9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416" name="Google Shape;416;p43"/>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pt-BR" sz="4400" u="none" cap="none" strike="noStrike">
                <a:solidFill>
                  <a:schemeClr val="dk1"/>
                </a:solidFill>
                <a:latin typeface="Calibri"/>
                <a:ea typeface="Calibri"/>
                <a:cs typeface="Calibri"/>
                <a:sym typeface="Calibri"/>
              </a:rPr>
              <a:t>DO WHILE</a:t>
            </a:r>
            <a:endParaRPr b="0" i="0" sz="1400" u="none" cap="none" strike="noStrike">
              <a:solidFill>
                <a:srgbClr val="000000"/>
              </a:solidFill>
              <a:latin typeface="Arial"/>
              <a:ea typeface="Arial"/>
              <a:cs typeface="Arial"/>
              <a:sym typeface="Arial"/>
            </a:endParaRPr>
          </a:p>
        </p:txBody>
      </p:sp>
      <p:sp>
        <p:nvSpPr>
          <p:cNvPr id="417" name="Google Shape;417;p43"/>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14:10</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4"/>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100000"/>
              </a:lnSpc>
              <a:spcBef>
                <a:spcPts val="0"/>
              </a:spcBef>
              <a:spcAft>
                <a:spcPts val="0"/>
              </a:spcAft>
              <a:buClr>
                <a:schemeClr val="dk1"/>
              </a:buClr>
              <a:buSzPts val="3200"/>
              <a:buFont typeface="Calibri"/>
              <a:buChar char="•"/>
            </a:pPr>
            <a:r>
              <a:rPr b="1" i="0" lang="pt-BR" sz="3200" u="none" cap="none" strike="noStrike">
                <a:solidFill>
                  <a:schemeClr val="dk1"/>
                </a:solidFill>
                <a:latin typeface="Calibri"/>
                <a:ea typeface="Calibri"/>
                <a:cs typeface="Calibri"/>
                <a:sym typeface="Calibri"/>
              </a:rPr>
              <a:t>Exemplo:</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int x = 1, soma=0;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do</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cout &lt;&lt; "Digite o número: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cin &gt;&gt; num;</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fflush(stdin);</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soma = soma + num;</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x++;</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480"/>
              </a:spcBef>
              <a:spcAft>
                <a:spcPts val="0"/>
              </a:spcAft>
              <a:buClr>
                <a:srgbClr val="000000"/>
              </a:buClr>
              <a:buSzPts val="2400"/>
              <a:buFont typeface="Arial"/>
              <a:buNone/>
            </a:pPr>
            <a:r>
              <a:rPr b="0" i="0" lang="pt-BR" sz="2400" u="none" cap="none" strike="noStrike">
                <a:solidFill>
                  <a:schemeClr val="dk1"/>
                </a:solidFill>
                <a:latin typeface="Calibri"/>
                <a:ea typeface="Calibri"/>
                <a:cs typeface="Calibri"/>
                <a:sym typeface="Calibri"/>
              </a:rPr>
              <a:t>} while (x &lt;= 10);</a:t>
            </a:r>
            <a:endParaRPr b="0" i="0" sz="2000" u="none" cap="none" strike="noStrike">
              <a:solidFill>
                <a:schemeClr val="dk1"/>
              </a:solidFill>
              <a:latin typeface="Calibri"/>
              <a:ea typeface="Calibri"/>
              <a:cs typeface="Calibri"/>
              <a:sym typeface="Calibri"/>
            </a:endParaRPr>
          </a:p>
          <a:p>
            <a:pPr indent="-254000" lvl="0" marL="457200" marR="0" rtl="0" algn="l">
              <a:lnSpc>
                <a:spcPct val="10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254000" lvl="0" marL="457200" marR="0" rtl="0" algn="l">
              <a:lnSpc>
                <a:spcPct val="9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424" name="Google Shape;424;p44"/>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fontScale="92500" lnSpcReduction="20000"/>
          </a:bodyPr>
          <a:lstStyle/>
          <a:p>
            <a:pPr indent="0" lvl="0" marL="0" marR="0" rtl="0" algn="ctr">
              <a:lnSpc>
                <a:spcPct val="100000"/>
              </a:lnSpc>
              <a:spcBef>
                <a:spcPts val="0"/>
              </a:spcBef>
              <a:spcAft>
                <a:spcPts val="0"/>
              </a:spcAft>
              <a:buClr>
                <a:schemeClr val="dk1"/>
              </a:buClr>
              <a:buSzPct val="100000"/>
              <a:buFont typeface="Calibri"/>
              <a:buNone/>
            </a:pPr>
            <a:r>
              <a:rPr b="0" i="0" lang="pt-BR" sz="4400" u="none" cap="none" strike="noStrike">
                <a:solidFill>
                  <a:schemeClr val="dk1"/>
                </a:solidFill>
                <a:latin typeface="Calibri"/>
                <a:ea typeface="Calibri"/>
                <a:cs typeface="Calibri"/>
                <a:sym typeface="Calibri"/>
              </a:rPr>
              <a:t>DO WHILE</a:t>
            </a:r>
            <a:endParaRPr b="0" i="0" sz="44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ct val="100000"/>
              <a:buFont typeface="Calibri"/>
              <a:buNone/>
            </a:pPr>
            <a:r>
              <a:rPr b="0" i="0" lang="pt-BR" sz="4400" u="none" cap="none" strike="noStrike">
                <a:solidFill>
                  <a:schemeClr val="dk1"/>
                </a:solidFill>
                <a:latin typeface="Calibri"/>
                <a:ea typeface="Calibri"/>
                <a:cs typeface="Calibri"/>
                <a:sym typeface="Calibri"/>
              </a:rPr>
              <a:t>EXEMPLO</a:t>
            </a:r>
            <a:endParaRPr b="0" i="0" sz="4400" u="none" cap="none" strike="noStrike">
              <a:solidFill>
                <a:schemeClr val="dk1"/>
              </a:solidFill>
              <a:latin typeface="Calibri"/>
              <a:ea typeface="Calibri"/>
              <a:cs typeface="Calibri"/>
              <a:sym typeface="Calibri"/>
            </a:endParaRPr>
          </a:p>
        </p:txBody>
      </p:sp>
      <p:sp>
        <p:nvSpPr>
          <p:cNvPr id="425" name="Google Shape;425;p44"/>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14:10</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5"/>
          <p:cNvSpPr txBox="1"/>
          <p:nvPr/>
        </p:nvSpPr>
        <p:spPr>
          <a:xfrm>
            <a:off x="867884" y="1585800"/>
            <a:ext cx="7841700" cy="472350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100000"/>
              </a:lnSpc>
              <a:spcBef>
                <a:spcPts val="48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254000" lvl="0" marL="457200" marR="0" rtl="0" algn="l">
              <a:lnSpc>
                <a:spcPct val="10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254000" lvl="0" marL="457200" marR="0" rtl="0" algn="l">
              <a:lnSpc>
                <a:spcPct val="9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432" name="Google Shape;432;p45"/>
          <p:cNvSpPr txBox="1"/>
          <p:nvPr/>
        </p:nvSpPr>
        <p:spPr>
          <a:xfrm>
            <a:off x="3347864" y="260648"/>
            <a:ext cx="5338800"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fontScale="92500" lnSpcReduction="20000"/>
          </a:bodyPr>
          <a:lstStyle/>
          <a:p>
            <a:pPr indent="0" lvl="0" marL="0" marR="0" rtl="0" algn="ctr">
              <a:lnSpc>
                <a:spcPct val="100000"/>
              </a:lnSpc>
              <a:spcBef>
                <a:spcPts val="0"/>
              </a:spcBef>
              <a:spcAft>
                <a:spcPts val="0"/>
              </a:spcAft>
              <a:buClr>
                <a:schemeClr val="dk1"/>
              </a:buClr>
              <a:buSzPct val="100000"/>
              <a:buFont typeface="Calibri"/>
              <a:buNone/>
            </a:pPr>
            <a:r>
              <a:rPr b="0" i="0" lang="pt-BR" sz="4400" u="none" cap="none" strike="noStrike">
                <a:solidFill>
                  <a:schemeClr val="dk1"/>
                </a:solidFill>
                <a:latin typeface="Calibri"/>
                <a:ea typeface="Calibri"/>
                <a:cs typeface="Calibri"/>
                <a:sym typeface="Calibri"/>
              </a:rPr>
              <a:t>DO WHILE</a:t>
            </a:r>
            <a:endParaRPr b="0" i="0" sz="44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ct val="100000"/>
              <a:buFont typeface="Calibri"/>
              <a:buNone/>
            </a:pPr>
            <a:r>
              <a:rPr b="0" i="0" lang="pt-BR" sz="4400" u="none" cap="none" strike="noStrike">
                <a:solidFill>
                  <a:schemeClr val="dk1"/>
                </a:solidFill>
                <a:latin typeface="Calibri"/>
                <a:ea typeface="Calibri"/>
                <a:cs typeface="Calibri"/>
                <a:sym typeface="Calibri"/>
              </a:rPr>
              <a:t>EXEMPLO</a:t>
            </a:r>
            <a:endParaRPr b="0" i="0" sz="4400" u="none" cap="none" strike="noStrike">
              <a:solidFill>
                <a:schemeClr val="dk1"/>
              </a:solidFill>
              <a:latin typeface="Calibri"/>
              <a:ea typeface="Calibri"/>
              <a:cs typeface="Calibri"/>
              <a:sym typeface="Calibri"/>
            </a:endParaRPr>
          </a:p>
        </p:txBody>
      </p:sp>
      <p:sp>
        <p:nvSpPr>
          <p:cNvPr id="433" name="Google Shape;433;p45"/>
          <p:cNvSpPr txBox="1"/>
          <p:nvPr>
            <p:ph idx="10" type="dt"/>
          </p:nvPr>
        </p:nvSpPr>
        <p:spPr>
          <a:xfrm>
            <a:off x="7380312" y="6512717"/>
            <a:ext cx="1727100" cy="365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14:10</a:t>
            </a:r>
            <a:endParaRPr/>
          </a:p>
        </p:txBody>
      </p:sp>
      <p:pic>
        <p:nvPicPr>
          <p:cNvPr id="434" name="Google Shape;434;p45"/>
          <p:cNvPicPr preferRelativeResize="0"/>
          <p:nvPr/>
        </p:nvPicPr>
        <p:blipFill rotWithShape="1">
          <a:blip r:embed="rId3">
            <a:alphaModFix/>
          </a:blip>
          <a:srcRect b="0" l="0" r="0" t="0"/>
          <a:stretch/>
        </p:blipFill>
        <p:spPr>
          <a:xfrm>
            <a:off x="1086004" y="1714500"/>
            <a:ext cx="5082150" cy="22812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46"/>
          <p:cNvSpPr txBox="1"/>
          <p:nvPr/>
        </p:nvSpPr>
        <p:spPr>
          <a:xfrm>
            <a:off x="867884" y="1585800"/>
            <a:ext cx="7841700" cy="472350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100000"/>
              </a:lnSpc>
              <a:spcBef>
                <a:spcPts val="48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254000" lvl="0" marL="457200" marR="0" rtl="0" algn="l">
              <a:lnSpc>
                <a:spcPct val="10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254000" lvl="0" marL="457200" marR="0" rtl="0" algn="l">
              <a:lnSpc>
                <a:spcPct val="9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441" name="Google Shape;441;p46"/>
          <p:cNvSpPr txBox="1"/>
          <p:nvPr/>
        </p:nvSpPr>
        <p:spPr>
          <a:xfrm>
            <a:off x="3347864" y="260648"/>
            <a:ext cx="5338800"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fontScale="92500" lnSpcReduction="20000"/>
          </a:bodyPr>
          <a:lstStyle/>
          <a:p>
            <a:pPr indent="0" lvl="0" marL="0" marR="0" rtl="0" algn="ctr">
              <a:lnSpc>
                <a:spcPct val="100000"/>
              </a:lnSpc>
              <a:spcBef>
                <a:spcPts val="0"/>
              </a:spcBef>
              <a:spcAft>
                <a:spcPts val="0"/>
              </a:spcAft>
              <a:buClr>
                <a:schemeClr val="dk1"/>
              </a:buClr>
              <a:buSzPct val="100000"/>
              <a:buFont typeface="Calibri"/>
              <a:buNone/>
            </a:pPr>
            <a:r>
              <a:rPr b="0" i="0" lang="pt-BR" sz="4400" u="none" cap="none" strike="noStrike">
                <a:solidFill>
                  <a:schemeClr val="dk1"/>
                </a:solidFill>
                <a:latin typeface="Calibri"/>
                <a:ea typeface="Calibri"/>
                <a:cs typeface="Calibri"/>
                <a:sym typeface="Calibri"/>
              </a:rPr>
              <a:t>DO WHILE</a:t>
            </a:r>
            <a:endParaRPr b="0" i="0" sz="44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ct val="100000"/>
              <a:buFont typeface="Calibri"/>
              <a:buNone/>
            </a:pPr>
            <a:r>
              <a:rPr b="0" i="0" lang="pt-BR" sz="4400" u="none" cap="none" strike="noStrike">
                <a:solidFill>
                  <a:schemeClr val="dk1"/>
                </a:solidFill>
                <a:latin typeface="Calibri"/>
                <a:ea typeface="Calibri"/>
                <a:cs typeface="Calibri"/>
                <a:sym typeface="Calibri"/>
              </a:rPr>
              <a:t>EXEMPLO</a:t>
            </a:r>
            <a:endParaRPr b="0" i="0" sz="4400" u="none" cap="none" strike="noStrike">
              <a:solidFill>
                <a:schemeClr val="dk1"/>
              </a:solidFill>
              <a:latin typeface="Calibri"/>
              <a:ea typeface="Calibri"/>
              <a:cs typeface="Calibri"/>
              <a:sym typeface="Calibri"/>
            </a:endParaRPr>
          </a:p>
        </p:txBody>
      </p:sp>
      <p:sp>
        <p:nvSpPr>
          <p:cNvPr id="442" name="Google Shape;442;p46"/>
          <p:cNvSpPr txBox="1"/>
          <p:nvPr>
            <p:ph idx="10" type="dt"/>
          </p:nvPr>
        </p:nvSpPr>
        <p:spPr>
          <a:xfrm>
            <a:off x="7380312" y="6512717"/>
            <a:ext cx="1727100" cy="365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14:10</a:t>
            </a:r>
            <a:endParaRPr/>
          </a:p>
        </p:txBody>
      </p:sp>
      <p:pic>
        <p:nvPicPr>
          <p:cNvPr id="443" name="Google Shape;443;p46"/>
          <p:cNvPicPr preferRelativeResize="0"/>
          <p:nvPr/>
        </p:nvPicPr>
        <p:blipFill rotWithShape="1">
          <a:blip r:embed="rId3">
            <a:alphaModFix/>
          </a:blip>
          <a:srcRect b="0" l="0" r="0" t="0"/>
          <a:stretch/>
        </p:blipFill>
        <p:spPr>
          <a:xfrm>
            <a:off x="1018550" y="1697175"/>
            <a:ext cx="5338800" cy="461213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47"/>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100000"/>
              </a:lnSpc>
              <a:spcBef>
                <a:spcPts val="0"/>
              </a:spcBef>
              <a:spcAft>
                <a:spcPts val="0"/>
              </a:spcAft>
              <a:buClr>
                <a:schemeClr val="dk1"/>
              </a:buClr>
              <a:buSzPts val="3200"/>
              <a:buFont typeface="Calibri"/>
              <a:buChar char="•"/>
            </a:pPr>
            <a:r>
              <a:rPr b="0" i="0" lang="pt-BR" sz="3200" u="none" cap="none" strike="noStrike">
                <a:solidFill>
                  <a:schemeClr val="dk1"/>
                </a:solidFill>
                <a:latin typeface="Calibri"/>
                <a:ea typeface="Calibri"/>
                <a:cs typeface="Calibri"/>
                <a:sym typeface="Calibri"/>
              </a:rPr>
              <a:t>A instrução break é usada sempre que desejamos interromper a execução de uma ou mais rotinas, geralmente dentro de um laço.</a:t>
            </a:r>
            <a:endParaRPr b="0" i="0" sz="1400" u="none" cap="none" strike="noStrike">
              <a:solidFill>
                <a:srgbClr val="000000"/>
              </a:solidFill>
              <a:latin typeface="Arial"/>
              <a:ea typeface="Arial"/>
              <a:cs typeface="Arial"/>
              <a:sym typeface="Arial"/>
            </a:endParaRPr>
          </a:p>
          <a:p>
            <a:pPr indent="-457200" lvl="1" marL="914400" marR="0" rtl="0" algn="l">
              <a:lnSpc>
                <a:spcPct val="100000"/>
              </a:lnSpc>
              <a:spcBef>
                <a:spcPts val="48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54000" lvl="0" marL="457200" marR="0" rtl="0" algn="l">
              <a:lnSpc>
                <a:spcPct val="10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254000" lvl="0" marL="457200" marR="0" rtl="0" algn="l">
              <a:lnSpc>
                <a:spcPct val="9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450" name="Google Shape;450;p47"/>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pt-BR" sz="4400" u="none" cap="none" strike="noStrike">
                <a:solidFill>
                  <a:schemeClr val="dk1"/>
                </a:solidFill>
                <a:latin typeface="Calibri"/>
                <a:ea typeface="Calibri"/>
                <a:cs typeface="Calibri"/>
                <a:sym typeface="Calibri"/>
              </a:rPr>
              <a:t>BREAK</a:t>
            </a:r>
            <a:endParaRPr b="0" i="0" sz="1400" u="none" cap="none" strike="noStrike">
              <a:solidFill>
                <a:srgbClr val="000000"/>
              </a:solidFill>
              <a:latin typeface="Arial"/>
              <a:ea typeface="Arial"/>
              <a:cs typeface="Arial"/>
              <a:sym typeface="Arial"/>
            </a:endParaRPr>
          </a:p>
        </p:txBody>
      </p:sp>
      <p:sp>
        <p:nvSpPr>
          <p:cNvPr id="451" name="Google Shape;451;p47"/>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14:10</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48"/>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100000"/>
              </a:lnSpc>
              <a:spcBef>
                <a:spcPts val="0"/>
              </a:spcBef>
              <a:spcAft>
                <a:spcPts val="0"/>
              </a:spcAft>
              <a:buClr>
                <a:schemeClr val="dk1"/>
              </a:buClr>
              <a:buSzPts val="3200"/>
              <a:buFont typeface="Calibri"/>
              <a:buChar char="•"/>
            </a:pPr>
            <a:r>
              <a:rPr b="0" i="0" lang="pt-BR" sz="3200" u="none" cap="none" strike="noStrike">
                <a:solidFill>
                  <a:schemeClr val="dk1"/>
                </a:solidFill>
                <a:latin typeface="Calibri"/>
                <a:ea typeface="Calibri"/>
                <a:cs typeface="Calibri"/>
                <a:sym typeface="Calibri"/>
              </a:rPr>
              <a:t>Exemplo: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80"/>
              </a:spcBef>
              <a:spcAft>
                <a:spcPts val="0"/>
              </a:spcAft>
              <a:buClr>
                <a:srgbClr val="000000"/>
              </a:buClr>
              <a:buSzPts val="2300"/>
              <a:buFont typeface="Arial"/>
              <a:buNone/>
            </a:pPr>
            <a:r>
              <a:rPr b="0" i="0" lang="pt-BR" sz="2300" u="none" cap="none" strike="noStrike">
                <a:solidFill>
                  <a:schemeClr val="dk1"/>
                </a:solidFill>
                <a:latin typeface="Calibri"/>
                <a:ea typeface="Calibri"/>
                <a:cs typeface="Calibri"/>
                <a:sym typeface="Calibri"/>
              </a:rPr>
              <a:t>int x = 1, soma = 0;</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480"/>
              </a:spcBef>
              <a:spcAft>
                <a:spcPts val="0"/>
              </a:spcAft>
              <a:buClr>
                <a:srgbClr val="000000"/>
              </a:buClr>
              <a:buSzPts val="2300"/>
              <a:buFont typeface="Arial"/>
              <a:buNone/>
            </a:pPr>
            <a:r>
              <a:rPr b="0" i="0" lang="pt-BR" sz="2300" u="none" cap="none" strike="noStrike">
                <a:solidFill>
                  <a:schemeClr val="dk1"/>
                </a:solidFill>
                <a:latin typeface="Calibri"/>
                <a:ea typeface="Calibri"/>
                <a:cs typeface="Calibri"/>
                <a:sym typeface="Calibri"/>
              </a:rPr>
              <a:t>while (soma &lt; 10) {</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480"/>
              </a:spcBef>
              <a:spcAft>
                <a:spcPts val="0"/>
              </a:spcAft>
              <a:buClr>
                <a:srgbClr val="000000"/>
              </a:buClr>
              <a:buSzPts val="2300"/>
              <a:buFont typeface="Arial"/>
              <a:buNone/>
            </a:pPr>
            <a:r>
              <a:rPr b="0" i="0" lang="pt-BR" sz="2300" u="none" cap="none" strike="noStrike">
                <a:solidFill>
                  <a:schemeClr val="dk1"/>
                </a:solidFill>
                <a:latin typeface="Calibri"/>
                <a:ea typeface="Calibri"/>
                <a:cs typeface="Calibri"/>
                <a:sym typeface="Calibri"/>
              </a:rPr>
              <a:t>      cout &lt;&lt; "Digite um número </a:t>
            </a:r>
            <a:r>
              <a:rPr b="1" i="0" lang="pt-BR" sz="2300" u="none" cap="none" strike="noStrike">
                <a:solidFill>
                  <a:srgbClr val="FF0000"/>
                </a:solidFill>
                <a:latin typeface="Calibri"/>
                <a:ea typeface="Calibri"/>
                <a:cs typeface="Calibri"/>
                <a:sym typeface="Calibri"/>
              </a:rPr>
              <a:t>positivo</a:t>
            </a:r>
            <a:r>
              <a:rPr b="0" i="0" lang="pt-BR" sz="2300" u="none" cap="none" strike="noStrike">
                <a:solidFill>
                  <a:schemeClr val="dk1"/>
                </a:solidFill>
                <a:latin typeface="Calibri"/>
                <a:ea typeface="Calibri"/>
                <a:cs typeface="Calibri"/>
                <a:sym typeface="Calibri"/>
              </a:rPr>
              <a:t>: ";</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480"/>
              </a:spcBef>
              <a:spcAft>
                <a:spcPts val="0"/>
              </a:spcAft>
              <a:buClr>
                <a:srgbClr val="000000"/>
              </a:buClr>
              <a:buSzPts val="2300"/>
              <a:buFont typeface="Arial"/>
              <a:buNone/>
            </a:pPr>
            <a:r>
              <a:rPr b="0" i="0" lang="pt-BR" sz="2300" u="none" cap="none" strike="noStrike">
                <a:solidFill>
                  <a:schemeClr val="dk1"/>
                </a:solidFill>
                <a:latin typeface="Calibri"/>
                <a:ea typeface="Calibri"/>
                <a:cs typeface="Calibri"/>
                <a:sym typeface="Calibri"/>
              </a:rPr>
              <a:t>      cin &gt;&gt; x;</a:t>
            </a:r>
            <a:endParaRPr b="0" i="0" sz="2300" u="none" cap="none" strike="noStrike">
              <a:solidFill>
                <a:schemeClr val="dk1"/>
              </a:solidFill>
              <a:latin typeface="Calibri"/>
              <a:ea typeface="Calibri"/>
              <a:cs typeface="Calibri"/>
              <a:sym typeface="Calibri"/>
            </a:endParaRPr>
          </a:p>
          <a:p>
            <a:pPr indent="457200" lvl="0" marL="0" marR="0" rtl="0" algn="l">
              <a:lnSpc>
                <a:spcPct val="100000"/>
              </a:lnSpc>
              <a:spcBef>
                <a:spcPts val="480"/>
              </a:spcBef>
              <a:spcAft>
                <a:spcPts val="0"/>
              </a:spcAft>
              <a:buClr>
                <a:srgbClr val="000000"/>
              </a:buClr>
              <a:buSzPts val="2300"/>
              <a:buFont typeface="Arial"/>
              <a:buNone/>
            </a:pPr>
            <a:r>
              <a:rPr b="0" i="0" lang="pt-BR" sz="2300" u="none" cap="none" strike="noStrike">
                <a:solidFill>
                  <a:schemeClr val="dk1"/>
                </a:solidFill>
                <a:latin typeface="Calibri"/>
                <a:ea typeface="Calibri"/>
                <a:cs typeface="Calibri"/>
                <a:sym typeface="Calibri"/>
              </a:rPr>
              <a:t>fflush(stdin);	</a:t>
            </a:r>
            <a:endParaRPr b="0" i="0" sz="2300" u="none" cap="none" strike="noStrike">
              <a:solidFill>
                <a:schemeClr val="dk1"/>
              </a:solidFill>
              <a:latin typeface="Calibri"/>
              <a:ea typeface="Calibri"/>
              <a:cs typeface="Calibri"/>
              <a:sym typeface="Calibri"/>
            </a:endParaRPr>
          </a:p>
          <a:p>
            <a:pPr indent="457200" lvl="0" marL="0" marR="0" rtl="0" algn="l">
              <a:lnSpc>
                <a:spcPct val="100000"/>
              </a:lnSpc>
              <a:spcBef>
                <a:spcPts val="480"/>
              </a:spcBef>
              <a:spcAft>
                <a:spcPts val="0"/>
              </a:spcAft>
              <a:buClr>
                <a:srgbClr val="000000"/>
              </a:buClr>
              <a:buSzPts val="2300"/>
              <a:buFont typeface="Arial"/>
              <a:buNone/>
            </a:pPr>
            <a:r>
              <a:rPr b="0" i="0" lang="pt-BR" sz="2300" u="none" cap="none" strike="noStrike">
                <a:solidFill>
                  <a:schemeClr val="dk1"/>
                </a:solidFill>
                <a:latin typeface="Calibri"/>
                <a:ea typeface="Calibri"/>
                <a:cs typeface="Calibri"/>
                <a:sym typeface="Calibri"/>
              </a:rPr>
              <a:t>if(x &lt; 0)</a:t>
            </a:r>
            <a:endParaRPr b="0" i="0" sz="2300" u="none" cap="none" strike="noStrike">
              <a:solidFill>
                <a:schemeClr val="dk1"/>
              </a:solidFill>
              <a:latin typeface="Calibri"/>
              <a:ea typeface="Calibri"/>
              <a:cs typeface="Calibri"/>
              <a:sym typeface="Calibri"/>
            </a:endParaRPr>
          </a:p>
          <a:p>
            <a:pPr indent="0" lvl="0" marL="0" marR="0" rtl="0" algn="l">
              <a:lnSpc>
                <a:spcPct val="100000"/>
              </a:lnSpc>
              <a:spcBef>
                <a:spcPts val="480"/>
              </a:spcBef>
              <a:spcAft>
                <a:spcPts val="0"/>
              </a:spcAft>
              <a:buClr>
                <a:srgbClr val="000000"/>
              </a:buClr>
              <a:buSzPts val="2300"/>
              <a:buFont typeface="Arial"/>
              <a:buNone/>
            </a:pPr>
            <a:r>
              <a:rPr b="0" i="0" lang="pt-BR" sz="2300" u="none" cap="none" strike="noStrike">
                <a:solidFill>
                  <a:schemeClr val="dk1"/>
                </a:solidFill>
                <a:latin typeface="Calibri"/>
                <a:ea typeface="Calibri"/>
                <a:cs typeface="Calibri"/>
                <a:sym typeface="Calibri"/>
              </a:rPr>
              <a:t>		break;</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480"/>
              </a:spcBef>
              <a:spcAft>
                <a:spcPts val="0"/>
              </a:spcAft>
              <a:buClr>
                <a:srgbClr val="000000"/>
              </a:buClr>
              <a:buSzPts val="2300"/>
              <a:buFont typeface="Arial"/>
              <a:buNone/>
            </a:pPr>
            <a:r>
              <a:rPr b="0" i="0" lang="pt-BR" sz="2300" u="none" cap="none" strike="noStrike">
                <a:solidFill>
                  <a:schemeClr val="dk1"/>
                </a:solidFill>
                <a:latin typeface="Calibri"/>
                <a:ea typeface="Calibri"/>
                <a:cs typeface="Calibri"/>
                <a:sym typeface="Calibri"/>
              </a:rPr>
              <a:t>      soma += x;</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480"/>
              </a:spcBef>
              <a:spcAft>
                <a:spcPts val="0"/>
              </a:spcAft>
              <a:buClr>
                <a:srgbClr val="000000"/>
              </a:buClr>
              <a:buSzPts val="2300"/>
              <a:buFont typeface="Arial"/>
              <a:buNone/>
            </a:pPr>
            <a:r>
              <a:rPr b="0" i="0" lang="pt-BR" sz="2300" u="none" cap="none" strike="noStrike">
                <a:solidFill>
                  <a:schemeClr val="dk1"/>
                </a:solidFill>
                <a:latin typeface="Calibri"/>
                <a:ea typeface="Calibri"/>
                <a:cs typeface="Calibri"/>
                <a:sym typeface="Calibri"/>
              </a:rPr>
              <a:t>      x++;           </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480"/>
              </a:spcBef>
              <a:spcAft>
                <a:spcPts val="0"/>
              </a:spcAft>
              <a:buClr>
                <a:srgbClr val="000000"/>
              </a:buClr>
              <a:buSzPts val="2300"/>
              <a:buFont typeface="Arial"/>
              <a:buNone/>
            </a:pPr>
            <a:r>
              <a:rPr b="0" i="0" lang="pt-BR" sz="2300" u="none" cap="none" strike="noStrike">
                <a:solidFill>
                  <a:schemeClr val="dk1"/>
                </a:solidFill>
                <a:latin typeface="Calibri"/>
                <a:ea typeface="Calibri"/>
                <a:cs typeface="Calibri"/>
                <a:sym typeface="Calibri"/>
              </a:rPr>
              <a:t>}</a:t>
            </a:r>
            <a:endParaRPr b="0" i="0" sz="2300" u="none" cap="none" strike="noStrike">
              <a:solidFill>
                <a:schemeClr val="dk1"/>
              </a:solidFill>
              <a:latin typeface="Calibri"/>
              <a:ea typeface="Calibri"/>
              <a:cs typeface="Calibri"/>
              <a:sym typeface="Calibri"/>
            </a:endParaRPr>
          </a:p>
          <a:p>
            <a:pPr indent="-457200" lvl="0" marL="457200" marR="0" rtl="0" algn="l">
              <a:lnSpc>
                <a:spcPct val="100000"/>
              </a:lnSpc>
              <a:spcBef>
                <a:spcPts val="4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54000" lvl="0" marL="457200" marR="0" rtl="0" algn="l">
              <a:lnSpc>
                <a:spcPct val="10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254000" lvl="0" marL="457200" marR="0" rtl="0" algn="l">
              <a:lnSpc>
                <a:spcPct val="9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458" name="Google Shape;458;p48"/>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pt-BR" sz="4400" u="none" cap="none" strike="noStrike">
                <a:solidFill>
                  <a:schemeClr val="dk1"/>
                </a:solidFill>
                <a:latin typeface="Calibri"/>
                <a:ea typeface="Calibri"/>
                <a:cs typeface="Calibri"/>
                <a:sym typeface="Calibri"/>
              </a:rPr>
              <a:t>BREAK</a:t>
            </a:r>
            <a:endParaRPr b="0" i="0" sz="1400" u="none" cap="none" strike="noStrike">
              <a:solidFill>
                <a:srgbClr val="000000"/>
              </a:solidFill>
              <a:latin typeface="Arial"/>
              <a:ea typeface="Arial"/>
              <a:cs typeface="Arial"/>
              <a:sym typeface="Arial"/>
            </a:endParaRPr>
          </a:p>
        </p:txBody>
      </p:sp>
      <p:sp>
        <p:nvSpPr>
          <p:cNvPr id="459" name="Google Shape;459;p48"/>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14:10</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49"/>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100000"/>
              </a:lnSpc>
              <a:spcBef>
                <a:spcPts val="0"/>
              </a:spcBef>
              <a:spcAft>
                <a:spcPts val="0"/>
              </a:spcAft>
              <a:buClr>
                <a:schemeClr val="dk1"/>
              </a:buClr>
              <a:buSzPts val="3200"/>
              <a:buFont typeface="Calibri"/>
              <a:buChar char="•"/>
            </a:pPr>
            <a:r>
              <a:rPr b="0" i="0" lang="pt-BR" sz="3200" u="none" cap="none" strike="noStrike">
                <a:solidFill>
                  <a:schemeClr val="dk1"/>
                </a:solidFill>
                <a:latin typeface="Calibri"/>
                <a:ea typeface="Calibri"/>
                <a:cs typeface="Calibri"/>
                <a:sym typeface="Calibri"/>
              </a:rPr>
              <a:t>A instrução continue é usada para passar para a próxima iteração, abandonando completamente a execução do código dentro da execução atual do laço;</a:t>
            </a:r>
            <a:endParaRPr b="0" i="0" sz="1400" u="none" cap="none" strike="noStrike">
              <a:solidFill>
                <a:srgbClr val="000000"/>
              </a:solidFill>
              <a:latin typeface="Arial"/>
              <a:ea typeface="Arial"/>
              <a:cs typeface="Arial"/>
              <a:sym typeface="Arial"/>
            </a:endParaRPr>
          </a:p>
          <a:p>
            <a:pPr indent="-254000" lvl="0" marL="457200" marR="0" rtl="0" algn="l">
              <a:lnSpc>
                <a:spcPct val="10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254000" lvl="0" marL="457200" marR="0" rtl="0" algn="l">
              <a:lnSpc>
                <a:spcPct val="9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466" name="Google Shape;466;p49"/>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pt-BR" sz="4400" u="none" cap="none" strike="noStrike">
                <a:solidFill>
                  <a:schemeClr val="dk1"/>
                </a:solidFill>
                <a:latin typeface="Calibri"/>
                <a:ea typeface="Calibri"/>
                <a:cs typeface="Calibri"/>
                <a:sym typeface="Calibri"/>
              </a:rPr>
              <a:t>CONTINUE</a:t>
            </a:r>
            <a:endParaRPr b="0" i="0" sz="1400" u="none" cap="none" strike="noStrike">
              <a:solidFill>
                <a:srgbClr val="000000"/>
              </a:solidFill>
              <a:latin typeface="Arial"/>
              <a:ea typeface="Arial"/>
              <a:cs typeface="Arial"/>
              <a:sym typeface="Arial"/>
            </a:endParaRPr>
          </a:p>
        </p:txBody>
      </p:sp>
      <p:sp>
        <p:nvSpPr>
          <p:cNvPr id="467" name="Google Shape;467;p49"/>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14:10</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50"/>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100000"/>
              </a:lnSpc>
              <a:spcBef>
                <a:spcPts val="0"/>
              </a:spcBef>
              <a:spcAft>
                <a:spcPts val="0"/>
              </a:spcAft>
              <a:buClr>
                <a:schemeClr val="dk1"/>
              </a:buClr>
              <a:buSzPts val="3600"/>
              <a:buFont typeface="Calibri"/>
              <a:buChar char="•"/>
            </a:pPr>
            <a:r>
              <a:rPr b="0" i="0" lang="pt-BR" sz="3600" u="none" cap="none" strike="noStrike">
                <a:solidFill>
                  <a:schemeClr val="dk1"/>
                </a:solidFill>
                <a:latin typeface="Calibri"/>
                <a:ea typeface="Calibri"/>
                <a:cs typeface="Calibri"/>
                <a:sym typeface="Calibri"/>
              </a:rPr>
              <a:t>Exemplo:</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36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   num = 0;</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36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   while(num &lt;= 20)</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36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36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      if((num == 7) or (num == 13))</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36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36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         num++;</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36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         cout &lt;&lt; "\n";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36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         continue;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36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      }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36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      cout &lt;&lt; num &lt;&lt; " -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36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      num++;</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360"/>
              </a:spcBef>
              <a:spcAft>
                <a:spcPts val="0"/>
              </a:spcAft>
              <a:buClr>
                <a:srgbClr val="000000"/>
              </a:buClr>
              <a:buSzPts val="1800"/>
              <a:buFont typeface="Arial"/>
              <a:buNone/>
            </a:pPr>
            <a:r>
              <a:rPr b="0" i="0" lang="pt-BR"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254000" lvl="0" marL="457200" marR="0" rtl="0" algn="l">
              <a:lnSpc>
                <a:spcPct val="10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254000" lvl="0" marL="457200" marR="0" rtl="0" algn="l">
              <a:lnSpc>
                <a:spcPct val="9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474" name="Google Shape;474;p50"/>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pt-BR" sz="4400" u="none" cap="none" strike="noStrike">
                <a:solidFill>
                  <a:schemeClr val="dk1"/>
                </a:solidFill>
                <a:latin typeface="Calibri"/>
                <a:ea typeface="Calibri"/>
                <a:cs typeface="Calibri"/>
                <a:sym typeface="Calibri"/>
              </a:rPr>
              <a:t>CONTINUE</a:t>
            </a:r>
            <a:endParaRPr b="0" i="0" sz="1400" u="none" cap="none" strike="noStrike">
              <a:solidFill>
                <a:srgbClr val="000000"/>
              </a:solidFill>
              <a:latin typeface="Arial"/>
              <a:ea typeface="Arial"/>
              <a:cs typeface="Arial"/>
              <a:sym typeface="Arial"/>
            </a:endParaRPr>
          </a:p>
        </p:txBody>
      </p:sp>
      <p:sp>
        <p:nvSpPr>
          <p:cNvPr id="475" name="Google Shape;475;p50"/>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14:10</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51"/>
          <p:cNvSpPr txBox="1"/>
          <p:nvPr/>
        </p:nvSpPr>
        <p:spPr>
          <a:xfrm>
            <a:off x="867884" y="1585800"/>
            <a:ext cx="7841700" cy="472350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100000"/>
              </a:lnSpc>
              <a:spcBef>
                <a:spcPts val="36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54000" lvl="0" marL="457200" marR="0" rtl="0" algn="l">
              <a:lnSpc>
                <a:spcPct val="10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254000" lvl="0" marL="457200" marR="0" rtl="0" algn="l">
              <a:lnSpc>
                <a:spcPct val="90000"/>
              </a:lnSpc>
              <a:spcBef>
                <a:spcPts val="64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482" name="Google Shape;482;p51"/>
          <p:cNvSpPr txBox="1"/>
          <p:nvPr/>
        </p:nvSpPr>
        <p:spPr>
          <a:xfrm>
            <a:off x="3347864" y="260648"/>
            <a:ext cx="5338800"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pt-BR" sz="4400" u="none" cap="none" strike="noStrike">
                <a:solidFill>
                  <a:schemeClr val="dk1"/>
                </a:solidFill>
                <a:latin typeface="Calibri"/>
                <a:ea typeface="Calibri"/>
                <a:cs typeface="Calibri"/>
                <a:sym typeface="Calibri"/>
              </a:rPr>
              <a:t>TESTE DE MESA</a:t>
            </a:r>
            <a:endParaRPr b="0" i="0" sz="1400" u="none" cap="none" strike="noStrike">
              <a:solidFill>
                <a:srgbClr val="000000"/>
              </a:solidFill>
              <a:latin typeface="Arial"/>
              <a:ea typeface="Arial"/>
              <a:cs typeface="Arial"/>
              <a:sym typeface="Arial"/>
            </a:endParaRPr>
          </a:p>
        </p:txBody>
      </p:sp>
      <p:sp>
        <p:nvSpPr>
          <p:cNvPr id="483" name="Google Shape;483;p51"/>
          <p:cNvSpPr txBox="1"/>
          <p:nvPr>
            <p:ph idx="10" type="dt"/>
          </p:nvPr>
        </p:nvSpPr>
        <p:spPr>
          <a:xfrm>
            <a:off x="7380312" y="6512717"/>
            <a:ext cx="1727100" cy="365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14:10</a:t>
            </a:r>
            <a:endParaRPr/>
          </a:p>
        </p:txBody>
      </p:sp>
      <p:graphicFrame>
        <p:nvGraphicFramePr>
          <p:cNvPr id="484" name="Google Shape;484;p51"/>
          <p:cNvGraphicFramePr/>
          <p:nvPr/>
        </p:nvGraphicFramePr>
        <p:xfrm>
          <a:off x="5267975" y="1773438"/>
          <a:ext cx="3000000" cy="3000000"/>
        </p:xfrm>
        <a:graphic>
          <a:graphicData uri="http://schemas.openxmlformats.org/drawingml/2006/table">
            <a:tbl>
              <a:tblPr>
                <a:noFill/>
                <a:tableStyleId>{6B7D425E-74AF-4961-A90C-7C9944B1FF69}</a:tableStyleId>
              </a:tblPr>
              <a:tblGrid>
                <a:gridCol w="1088925"/>
                <a:gridCol w="885250"/>
                <a:gridCol w="1139825"/>
              </a:tblGrid>
              <a:tr h="381000">
                <a:tc>
                  <a:txBody>
                    <a:bodyPr/>
                    <a:lstStyle/>
                    <a:p>
                      <a:pPr indent="0" lvl="0" marL="0" marR="0" rtl="0" algn="ctr">
                        <a:lnSpc>
                          <a:spcPct val="100000"/>
                        </a:lnSpc>
                        <a:spcBef>
                          <a:spcPts val="0"/>
                        </a:spcBef>
                        <a:spcAft>
                          <a:spcPts val="0"/>
                        </a:spcAft>
                        <a:buClr>
                          <a:srgbClr val="000000"/>
                        </a:buClr>
                        <a:buSzPts val="1400"/>
                        <a:buFont typeface="Arial"/>
                        <a:buNone/>
                      </a:pPr>
                      <a:r>
                        <a:rPr b="1" lang="pt-BR" sz="1400" u="none" cap="none" strike="noStrike">
                          <a:latin typeface="Calibri"/>
                          <a:ea typeface="Calibri"/>
                          <a:cs typeface="Calibri"/>
                          <a:sym typeface="Calibri"/>
                        </a:rPr>
                        <a:t>Linha</a:t>
                      </a:r>
                      <a:endParaRPr b="1" sz="1400" u="none" cap="none" strike="noStrike">
                        <a:latin typeface="Calibri"/>
                        <a:ea typeface="Calibri"/>
                        <a:cs typeface="Calibri"/>
                        <a:sym typeface="Calibri"/>
                      </a:endParaRPr>
                    </a:p>
                  </a:txBody>
                  <a:tcPr marT="91425" marB="91425" marR="91425" marL="91425">
                    <a:solidFill>
                      <a:schemeClr val="accent2"/>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pt-BR" sz="1400" u="none" cap="none" strike="noStrike">
                          <a:latin typeface="Calibri"/>
                          <a:ea typeface="Calibri"/>
                          <a:cs typeface="Calibri"/>
                          <a:sym typeface="Calibri"/>
                        </a:rPr>
                        <a:t>x</a:t>
                      </a:r>
                      <a:endParaRPr b="1" sz="1400" u="none" cap="none" strike="noStrike">
                        <a:latin typeface="Calibri"/>
                        <a:ea typeface="Calibri"/>
                        <a:cs typeface="Calibri"/>
                        <a:sym typeface="Calibri"/>
                      </a:endParaRPr>
                    </a:p>
                  </a:txBody>
                  <a:tcPr marT="91425" marB="91425" marR="91425" marL="91425">
                    <a:solidFill>
                      <a:schemeClr val="accent2"/>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pt-BR" sz="1400" u="none" cap="none" strike="noStrike">
                          <a:latin typeface="Calibri"/>
                          <a:ea typeface="Calibri"/>
                          <a:cs typeface="Calibri"/>
                          <a:sym typeface="Calibri"/>
                        </a:rPr>
                        <a:t>(x &lt; 3)</a:t>
                      </a:r>
                      <a:endParaRPr b="1" sz="1400" u="none" cap="none" strike="noStrike">
                        <a:latin typeface="Calibri"/>
                        <a:ea typeface="Calibri"/>
                        <a:cs typeface="Calibri"/>
                        <a:sym typeface="Calibri"/>
                      </a:endParaRPr>
                    </a:p>
                  </a:txBody>
                  <a:tcPr marT="91425" marB="91425" marR="91425" marL="91425">
                    <a:solidFill>
                      <a:schemeClr val="accent2"/>
                    </a:solidFill>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6</a:t>
                      </a:r>
                      <a:endParaRPr sz="1400" u="none" cap="none" strike="noStrike">
                        <a:latin typeface="Calibri"/>
                        <a:ea typeface="Calibri"/>
                        <a:cs typeface="Calibri"/>
                        <a:sym typeface="Calibri"/>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a:t>
                      </a:r>
                      <a:endParaRPr sz="1400" u="none" cap="none" strike="noStrike">
                        <a:latin typeface="Calibri"/>
                        <a:ea typeface="Calibri"/>
                        <a:cs typeface="Calibri"/>
                        <a:sym typeface="Calibri"/>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a:t>
                      </a:r>
                      <a:endParaRPr sz="1400" u="none" cap="none" strike="noStrike">
                        <a:latin typeface="Calibri"/>
                        <a:ea typeface="Calibri"/>
                        <a:cs typeface="Calibri"/>
                        <a:sym typeface="Calibri"/>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7</a:t>
                      </a:r>
                      <a:endParaRPr sz="1400" u="none" cap="none" strike="noStrike">
                        <a:latin typeface="Calibri"/>
                        <a:ea typeface="Calibri"/>
                        <a:cs typeface="Calibri"/>
                        <a:sym typeface="Calibri"/>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1</a:t>
                      </a:r>
                      <a:endParaRPr sz="1400" u="none" cap="none" strike="noStrike">
                        <a:latin typeface="Calibri"/>
                        <a:ea typeface="Calibri"/>
                        <a:cs typeface="Calibri"/>
                        <a:sym typeface="Calibri"/>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a:t>
                      </a:r>
                      <a:endParaRPr sz="1400" u="none" cap="none" strike="noStrike">
                        <a:latin typeface="Calibri"/>
                        <a:ea typeface="Calibri"/>
                        <a:cs typeface="Calibri"/>
                        <a:sym typeface="Calibri"/>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8</a:t>
                      </a:r>
                      <a:endParaRPr sz="1400" u="none" cap="none" strike="noStrike">
                        <a:latin typeface="Calibri"/>
                        <a:ea typeface="Calibri"/>
                        <a:cs typeface="Calibri"/>
                        <a:sym typeface="Calibri"/>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 </a:t>
                      </a:r>
                      <a:endParaRPr sz="1400" u="none" cap="none" strike="noStrike">
                        <a:latin typeface="Calibri"/>
                        <a:ea typeface="Calibri"/>
                        <a:cs typeface="Calibri"/>
                        <a:sym typeface="Calibri"/>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TRUE</a:t>
                      </a:r>
                      <a:endParaRPr sz="1400" u="none" cap="none" strike="noStrike">
                        <a:latin typeface="Calibri"/>
                        <a:ea typeface="Calibri"/>
                        <a:cs typeface="Calibri"/>
                        <a:sym typeface="Calibri"/>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10</a:t>
                      </a:r>
                      <a:endParaRPr sz="1400" u="none" cap="none" strike="noStrike">
                        <a:latin typeface="Calibri"/>
                        <a:ea typeface="Calibri"/>
                        <a:cs typeface="Calibri"/>
                        <a:sym typeface="Calibri"/>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{1}</a:t>
                      </a:r>
                      <a:endParaRPr sz="1400" u="none" cap="none" strike="noStrike">
                        <a:latin typeface="Calibri"/>
                        <a:ea typeface="Calibri"/>
                        <a:cs typeface="Calibri"/>
                        <a:sym typeface="Calibri"/>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 </a:t>
                      </a:r>
                      <a:endParaRPr sz="1400" u="none" cap="none" strike="noStrike">
                        <a:latin typeface="Calibri"/>
                        <a:ea typeface="Calibri"/>
                        <a:cs typeface="Calibri"/>
                        <a:sym typeface="Calibri"/>
                      </a:endParaRPr>
                    </a:p>
                  </a:txBody>
                  <a:tcPr marT="91425" marB="91425" marR="91425" marL="91425"/>
                </a:tc>
              </a:tr>
              <a:tr h="345275">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11</a:t>
                      </a:r>
                      <a:endParaRPr sz="1400" u="none" cap="none" strike="noStrike">
                        <a:latin typeface="Calibri"/>
                        <a:ea typeface="Calibri"/>
                        <a:cs typeface="Calibri"/>
                        <a:sym typeface="Calibri"/>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2</a:t>
                      </a:r>
                      <a:endParaRPr sz="1400" u="none" cap="none" strike="noStrike">
                        <a:latin typeface="Calibri"/>
                        <a:ea typeface="Calibri"/>
                        <a:cs typeface="Calibri"/>
                        <a:sym typeface="Calibri"/>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 </a:t>
                      </a:r>
                      <a:endParaRPr sz="1400" u="none" cap="none" strike="noStrike">
                        <a:latin typeface="Calibri"/>
                        <a:ea typeface="Calibri"/>
                        <a:cs typeface="Calibri"/>
                        <a:sym typeface="Calibri"/>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8</a:t>
                      </a:r>
                      <a:endParaRPr sz="1400" u="none" cap="none" strike="noStrike">
                        <a:latin typeface="Calibri"/>
                        <a:ea typeface="Calibri"/>
                        <a:cs typeface="Calibri"/>
                        <a:sym typeface="Calibri"/>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 </a:t>
                      </a:r>
                      <a:endParaRPr sz="1400" u="none" cap="none" strike="noStrike">
                        <a:latin typeface="Calibri"/>
                        <a:ea typeface="Calibri"/>
                        <a:cs typeface="Calibri"/>
                        <a:sym typeface="Calibri"/>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TRUE</a:t>
                      </a:r>
                      <a:endParaRPr sz="1400" u="none" cap="none" strike="noStrike">
                        <a:latin typeface="Calibri"/>
                        <a:ea typeface="Calibri"/>
                        <a:cs typeface="Calibri"/>
                        <a:sym typeface="Calibri"/>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10</a:t>
                      </a:r>
                      <a:endParaRPr sz="1400" u="none" cap="none" strike="noStrike">
                        <a:latin typeface="Calibri"/>
                        <a:ea typeface="Calibri"/>
                        <a:cs typeface="Calibri"/>
                        <a:sym typeface="Calibri"/>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{2}</a:t>
                      </a:r>
                      <a:endParaRPr sz="1400" u="none" cap="none" strike="noStrike">
                        <a:latin typeface="Calibri"/>
                        <a:ea typeface="Calibri"/>
                        <a:cs typeface="Calibri"/>
                        <a:sym typeface="Calibri"/>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 </a:t>
                      </a:r>
                      <a:endParaRPr sz="1400" u="none" cap="none" strike="noStrike">
                        <a:latin typeface="Calibri"/>
                        <a:ea typeface="Calibri"/>
                        <a:cs typeface="Calibri"/>
                        <a:sym typeface="Calibri"/>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11</a:t>
                      </a:r>
                      <a:endParaRPr sz="1400" u="none" cap="none" strike="noStrike">
                        <a:latin typeface="Calibri"/>
                        <a:ea typeface="Calibri"/>
                        <a:cs typeface="Calibri"/>
                        <a:sym typeface="Calibri"/>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3</a:t>
                      </a:r>
                      <a:endParaRPr sz="1400" u="none" cap="none" strike="noStrike">
                        <a:latin typeface="Calibri"/>
                        <a:ea typeface="Calibri"/>
                        <a:cs typeface="Calibri"/>
                        <a:sym typeface="Calibri"/>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 </a:t>
                      </a:r>
                      <a:endParaRPr sz="1400" u="none" cap="none" strike="noStrike">
                        <a:latin typeface="Calibri"/>
                        <a:ea typeface="Calibri"/>
                        <a:cs typeface="Calibri"/>
                        <a:sym typeface="Calibri"/>
                      </a:endParaRPr>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8</a:t>
                      </a:r>
                      <a:endParaRPr sz="1400" u="none" cap="none" strike="noStrike">
                        <a:latin typeface="Calibri"/>
                        <a:ea typeface="Calibri"/>
                        <a:cs typeface="Calibri"/>
                        <a:sym typeface="Calibri"/>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 </a:t>
                      </a:r>
                      <a:endParaRPr sz="1400" u="none" cap="none" strike="noStrike">
                        <a:latin typeface="Calibri"/>
                        <a:ea typeface="Calibri"/>
                        <a:cs typeface="Calibri"/>
                        <a:sym typeface="Calibri"/>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pt-BR" sz="1400" u="none" cap="none" strike="noStrike">
                          <a:latin typeface="Calibri"/>
                          <a:ea typeface="Calibri"/>
                          <a:cs typeface="Calibri"/>
                          <a:sym typeface="Calibri"/>
                        </a:rPr>
                        <a:t>FALSE</a:t>
                      </a:r>
                      <a:endParaRPr sz="1400" u="none" cap="none" strike="noStrike">
                        <a:latin typeface="Calibri"/>
                        <a:ea typeface="Calibri"/>
                        <a:cs typeface="Calibri"/>
                        <a:sym typeface="Calibri"/>
                      </a:endParaRPr>
                    </a:p>
                  </a:txBody>
                  <a:tcPr marT="91425" marB="91425" marR="91425" marL="91425"/>
                </a:tc>
              </a:tr>
            </a:tbl>
          </a:graphicData>
        </a:graphic>
      </p:graphicFrame>
      <p:pic>
        <p:nvPicPr>
          <p:cNvPr id="485" name="Google Shape;485;p51"/>
          <p:cNvPicPr preferRelativeResize="0"/>
          <p:nvPr/>
        </p:nvPicPr>
        <p:blipFill rotWithShape="1">
          <a:blip r:embed="rId3">
            <a:alphaModFix/>
          </a:blip>
          <a:srcRect b="0" l="0" r="0" t="0"/>
          <a:stretch/>
        </p:blipFill>
        <p:spPr>
          <a:xfrm>
            <a:off x="1258313" y="1790700"/>
            <a:ext cx="3762375" cy="32766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2"/>
          <p:cNvSpPr txBox="1"/>
          <p:nvPr/>
        </p:nvSpPr>
        <p:spPr>
          <a:xfrm>
            <a:off x="867884" y="1585800"/>
            <a:ext cx="7841671" cy="4723520"/>
          </a:xfrm>
          <a:prstGeom prst="rect">
            <a:avLst/>
          </a:prstGeom>
          <a:solidFill>
            <a:schemeClr val="lt1"/>
          </a:solidFill>
          <a:ln cap="flat" cmpd="sng" w="76200">
            <a:solidFill>
              <a:srgbClr val="92D050"/>
            </a:solidFill>
            <a:prstDash val="solid"/>
            <a:round/>
            <a:headEnd len="sm" w="sm" type="none"/>
            <a:tailEnd len="sm" w="sm" type="none"/>
          </a:ln>
        </p:spPr>
        <p:txBody>
          <a:bodyPr anchorCtr="0" anchor="t" bIns="40650" lIns="81300" spcFirstLastPara="1" rIns="81300" wrap="square" tIns="54975">
            <a:noAutofit/>
          </a:bodyPr>
          <a:lstStyle/>
          <a:p>
            <a:pPr indent="-457200" lvl="0" marL="457200" marR="0" rtl="0" algn="l">
              <a:lnSpc>
                <a:spcPct val="100000"/>
              </a:lnSpc>
              <a:spcBef>
                <a:spcPts val="0"/>
              </a:spcBef>
              <a:spcAft>
                <a:spcPts val="0"/>
              </a:spcAft>
              <a:buClr>
                <a:schemeClr val="dk1"/>
              </a:buClr>
              <a:buSzPts val="2400"/>
              <a:buFont typeface="Calibri"/>
              <a:buChar char="•"/>
            </a:pPr>
            <a:r>
              <a:rPr b="0" i="0" lang="pt-BR" sz="2400" u="none" cap="none" strike="noStrike">
                <a:solidFill>
                  <a:schemeClr val="dk1"/>
                </a:solidFill>
                <a:latin typeface="Calibri"/>
                <a:ea typeface="Calibri"/>
                <a:cs typeface="Calibri"/>
                <a:sym typeface="Calibri"/>
              </a:rPr>
              <a:t>FORBELLONE, André Luiz Villar. Lógica de programação: a construção de algoritmos e estruturas de dados. 3 ed. São Paulo: Prentice Hall, 2005.</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480"/>
              </a:spcBef>
              <a:spcAft>
                <a:spcPts val="0"/>
              </a:spcAft>
              <a:buClr>
                <a:schemeClr val="dk1"/>
              </a:buClr>
              <a:buSzPts val="2400"/>
              <a:buFont typeface="Calibri"/>
              <a:buChar char="•"/>
            </a:pPr>
            <a:r>
              <a:rPr b="0" i="0" lang="pt-BR" sz="2400" u="none" cap="none" strike="noStrike">
                <a:solidFill>
                  <a:schemeClr val="dk1"/>
                </a:solidFill>
                <a:latin typeface="Calibri"/>
                <a:ea typeface="Calibri"/>
                <a:cs typeface="Calibri"/>
                <a:sym typeface="Calibri"/>
              </a:rPr>
              <a:t>VILARIN, Gilvan. Algoritmos Programação para Iniciantes. Editora Ciência Moderna. Rio de Janeiro, 2004.</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480"/>
              </a:spcBef>
              <a:spcAft>
                <a:spcPts val="0"/>
              </a:spcAft>
              <a:buClr>
                <a:schemeClr val="dk1"/>
              </a:buClr>
              <a:buSzPts val="2400"/>
              <a:buFont typeface="Calibri"/>
              <a:buChar char="•"/>
            </a:pPr>
            <a:r>
              <a:rPr b="0" i="0" lang="pt-BR" sz="2400" u="none" cap="none" strike="noStrike">
                <a:solidFill>
                  <a:schemeClr val="dk1"/>
                </a:solidFill>
                <a:latin typeface="Calibri"/>
                <a:ea typeface="Calibri"/>
                <a:cs typeface="Calibri"/>
                <a:sym typeface="Calibri"/>
              </a:rPr>
              <a:t>MORAES, Paulo Sérgio. Curso Básico de Lógica de Programação. Centro de Computação – Unicamp, 2000.</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480"/>
              </a:spcBef>
              <a:spcAft>
                <a:spcPts val="0"/>
              </a:spcAft>
              <a:buClr>
                <a:schemeClr val="dk1"/>
              </a:buClr>
              <a:buSzPts val="2400"/>
              <a:buFont typeface="Calibri"/>
              <a:buChar char="•"/>
            </a:pPr>
            <a:r>
              <a:rPr b="0" i="0" lang="pt-BR" sz="2400" u="none" cap="none" strike="noStrike">
                <a:solidFill>
                  <a:schemeClr val="dk1"/>
                </a:solidFill>
                <a:latin typeface="Calibri"/>
                <a:ea typeface="Calibri"/>
                <a:cs typeface="Calibri"/>
                <a:sym typeface="Calibri"/>
              </a:rPr>
              <a:t>STEINMETZ, Ernesto H. R.; FONTES, Roberto Duarte Cartilha Lógica de Programação. Editora IFB, Brasília - DF, 2013.</a:t>
            </a:r>
            <a:endParaRPr b="0" i="0" sz="1400" u="none" cap="none" strike="noStrike">
              <a:solidFill>
                <a:srgbClr val="000000"/>
              </a:solidFill>
              <a:latin typeface="Arial"/>
              <a:ea typeface="Arial"/>
              <a:cs typeface="Arial"/>
              <a:sym typeface="Arial"/>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68300" lvl="0" marL="571500" marR="0" rtl="0" algn="l">
              <a:lnSpc>
                <a:spcPct val="100000"/>
              </a:lnSpc>
              <a:spcBef>
                <a:spcPts val="0"/>
              </a:spcBef>
              <a:spcAft>
                <a:spcPts val="0"/>
              </a:spcAft>
              <a:buClr>
                <a:schemeClr val="dk1"/>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492" name="Google Shape;492;p52"/>
          <p:cNvSpPr txBox="1"/>
          <p:nvPr/>
        </p:nvSpPr>
        <p:spPr>
          <a:xfrm>
            <a:off x="3347864" y="260648"/>
            <a:ext cx="5338936" cy="1143000"/>
          </a:xfrm>
          <a:prstGeom prst="rect">
            <a:avLst/>
          </a:prstGeom>
          <a:solidFill>
            <a:schemeClr val="lt1"/>
          </a:solidFill>
          <a:ln cap="flat" cmpd="sng" w="57150">
            <a:solidFill>
              <a:srgbClr val="92D05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pt-BR" sz="4400" u="none" cap="none" strike="noStrike">
                <a:solidFill>
                  <a:schemeClr val="dk1"/>
                </a:solidFill>
                <a:latin typeface="Calibri"/>
                <a:ea typeface="Calibri"/>
                <a:cs typeface="Calibri"/>
                <a:sym typeface="Calibri"/>
              </a:rPr>
              <a:t>REFERÊNCIAS</a:t>
            </a:r>
            <a:endParaRPr b="0" i="0" sz="1400" u="none" cap="none" strike="noStrike">
              <a:solidFill>
                <a:srgbClr val="000000"/>
              </a:solidFill>
              <a:latin typeface="Arial"/>
              <a:ea typeface="Arial"/>
              <a:cs typeface="Arial"/>
              <a:sym typeface="Arial"/>
            </a:endParaRPr>
          </a:p>
        </p:txBody>
      </p:sp>
      <p:sp>
        <p:nvSpPr>
          <p:cNvPr id="493" name="Google Shape;493;p52"/>
          <p:cNvSpPr txBox="1"/>
          <p:nvPr>
            <p:ph idx="10" type="dt"/>
          </p:nvPr>
        </p:nvSpPr>
        <p:spPr>
          <a:xfrm>
            <a:off x="7380312" y="6512717"/>
            <a:ext cx="172721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pt-BR"/>
              <a:t>12/05/2022 13:59</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o Office">
  <a:themeElements>
    <a:clrScheme name="Escritório">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Escala de Cinza">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