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5B6DF-B5AA-4D8C-8DCA-AF72881C3631}">
  <a:tblStyle styleId="{94E5B6DF-B5AA-4D8C-8DCA-AF72881C363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9F9F9"/>
          </a:solidFill>
        </a:fill>
      </a:tcStyle>
    </a:wholeTbl>
    <a:band1H>
      <a:tcTxStyle b="off" i="off"/>
      <a:tcStyle>
        <a:fill>
          <a:solidFill>
            <a:srgbClr val="F2F2F2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2F2F2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A6F25CE-408A-408B-9855-758D97F9854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5" name="Google Shape;2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3" name="Google Shape;2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8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2" name="Google Shape;24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9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0" name="Google Shape;2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0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21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8" name="Google Shape;2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2:notes"/>
          <p:cNvSpPr/>
          <p:nvPr>
            <p:ph idx="2" type="sldImg"/>
          </p:nvPr>
        </p:nvSpPr>
        <p:spPr>
          <a:xfrm>
            <a:off x="1144588" y="695325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>
  <p:cSld name="Em branc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63" y="0"/>
            <a:ext cx="812800" cy="38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63" y="2921000"/>
            <a:ext cx="812800" cy="387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Ifet.png"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388" y="61913"/>
            <a:ext cx="2265362" cy="9858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-20283" y="6532562"/>
            <a:ext cx="9139237" cy="325437"/>
          </a:xfrm>
          <a:prstGeom prst="roundRect">
            <a:avLst>
              <a:gd fmla="val 440" name="adj"/>
            </a:avLst>
          </a:prstGeom>
          <a:solidFill>
            <a:srgbClr val="1F9122"/>
          </a:solidFill>
          <a:ln>
            <a:noFill/>
          </a:ln>
        </p:spPr>
        <p:txBody>
          <a:bodyPr anchorCtr="0" anchor="ctr" bIns="41300" lIns="82600" spcFirstLastPara="1" rIns="82600" wrap="square" tIns="41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Prof. Adilso Nunes de Souza e Carmem Vera Scorsatto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732240" y="6196383"/>
            <a:ext cx="2195264" cy="325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/>
        </p:nvSpPr>
        <p:spPr>
          <a:xfrm>
            <a:off x="1354948" y="1241425"/>
            <a:ext cx="7128792" cy="4491831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ALGORITMOS 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Adilso Nunes de Souza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Carmem Vera Scorsatto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t/>
            </a:r>
            <a:endParaRPr b="1" i="0" sz="6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12/05/2022 14:01</a:t>
            </a:r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1875" y="1674532"/>
            <a:ext cx="14287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1184" y="1760240"/>
            <a:ext cx="2457576" cy="685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Variáveis compostas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e manipulação de array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de teste de mesa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ROTEIRO DA AULA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12/05/2022 14:01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construção de algoritmos que manipulam grandes volumes de dados, tendo a necessidade de armazenar cada um desses dados representa um problema significante para ser resolvido com variáveis literais que armazenam uma única informação a cada vez.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VARIÁVEIS COMPOSTAS HOMOGÊNEAS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de um problema: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⮚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Ler a idade de 50 pessoas e mostrar as idades em ordem crescente?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⮚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você resolveria isso?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⮚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o custo operacional (tempo) para construir este algoritmo?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⮚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ampliar o número de pessoas para 5000?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VARIÁVEIS COMPOSTAS HOMOGÊNEAS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resolver este tipo de problema podemos declarar variáveis que manipulam/armazenam mais do que uma informação.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uma variável é composta por vários valores do mesmo tipo primitivo, temos um conjunto homogêneo de dados, ou uma variável composta homogênea.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VARIÁVEIS COMPOSTAS HOMOGÊNEAS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876980" y="1552462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Fazendo uma relação com o mundo real pode-se dizer que uma variável composta é uma alcateia e os valores que ela recebe são os lobos, então uma alcateia é formada por um conjunto de elementos da mesma espécie (os lobos).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VARIÁVEIS COMPOSTAS HOMOGÊNEAS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  <p:pic>
        <p:nvPicPr>
          <p:cNvPr descr="https://encrypted-tbn3.gstatic.com/images?q=tbn:ANd9GcR5auS4jJ-O00F9TTYZNK8cVslbqiuGffT1AaclmnyKBZqsqhaseQ"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9952" y="4563394"/>
            <a:ext cx="2743200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variáveis compostas podem ser: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b="1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Unidimensionais</a:t>
            </a: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variáveis indexadas com uma única dimensão, também conhecidas como </a:t>
            </a:r>
            <a:r>
              <a:rPr b="1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vetores ou array de uma dimensão</a:t>
            </a: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são referenciadas por um único índice.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b="1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Bidimensionais</a:t>
            </a: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variáveis indexadas com duas dimensões, também conhecida como </a:t>
            </a:r>
            <a:r>
              <a:rPr b="1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matrizes ou array de duas dimensões</a:t>
            </a: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são referenciadas por dois índices.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VARIÁVEIS COMPOSTAS HOMOGÊNEAS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chamadas de variáveis indexadas pois o acesso aos elementos é realizado através da utilização de um índice numérico iniciado em zero.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VARIÁVEIS INDEXADAS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  <p:pic>
        <p:nvPicPr>
          <p:cNvPr descr="https://encrypted-tbn1.gstatic.com/images?q=tbn:ANd9GcSFpE6TwvjtsfGi7EjVz3IMB_7Oiu2niHlH_vkToE4U6CPYuzRt" id="154" name="Google Shape;1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8184" y="3626106"/>
            <a:ext cx="2431320" cy="26248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" name="Google Shape;155;p20"/>
          <p:cNvGraphicFramePr/>
          <p:nvPr/>
        </p:nvGraphicFramePr>
        <p:xfrm>
          <a:off x="2627784" y="37170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{94E5B6DF-B5AA-4D8C-8DCA-AF72881C3631}</a:tableStyleId>
              </a:tblPr>
              <a:tblGrid>
                <a:gridCol w="288025"/>
                <a:gridCol w="7200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20"/>
          <p:cNvSpPr/>
          <p:nvPr/>
        </p:nvSpPr>
        <p:spPr>
          <a:xfrm>
            <a:off x="3815657" y="3612458"/>
            <a:ext cx="1188391" cy="302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732" y="60416"/>
                </a:moveTo>
                <a:lnTo>
                  <a:pt x="-37730" y="107917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1153379" y="3763633"/>
            <a:ext cx="1188391" cy="302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55374" y="71249"/>
                </a:moveTo>
                <a:lnTo>
                  <a:pt x="120752" y="48334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867884" y="3501008"/>
            <a:ext cx="4712228" cy="2664296"/>
          </a:xfrm>
          <a:prstGeom prst="bracePai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550082" y="4666784"/>
            <a:ext cx="648072" cy="3600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Sintaxe no portugol: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Declaração: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&lt;identificador&gt; : vetor [&lt;inicio&gt;..&lt;fim&gt;] de &lt; tipo 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vet : vetor [0..9] de inteiro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exemplo acima foi criado um variável dimensionada chamada “vet” com capacidade de armazenar 10 valores do tipo inteiro.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pt-BR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manipular a informação basta utilizar o nome da variável e entre colchetes o índice que deseja utilizar: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vet[0] &lt;- 8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vet[3] &lt;- 5 + 9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leia (vet[0])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escreva(vet[0])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b="1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OBS: o índice será sempre um valor inteiro e poderá ser substituído por uma variável controladora, ou uma operação matemática que tenha como resultado um número inteiro.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pt-BR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 EXEMPLO PORTUGOL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  <p:pic>
        <p:nvPicPr>
          <p:cNvPr id="184" name="Google Shape;1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476" y="1640392"/>
            <a:ext cx="5881772" cy="4601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 EXEMPLO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  <p:pic>
        <p:nvPicPr>
          <p:cNvPr id="193" name="Google Shape;1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884" y="1607045"/>
            <a:ext cx="7843119" cy="4444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 EXEMPLO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  <p:pic>
        <p:nvPicPr>
          <p:cNvPr id="202" name="Google Shape;2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706" y="1629097"/>
            <a:ext cx="6919928" cy="4632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 EXEMPLO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  <p:pic>
        <p:nvPicPr>
          <p:cNvPr id="211" name="Google Shape;2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382" y="1632152"/>
            <a:ext cx="7759696" cy="4265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muitos casos de teste a necessidade de entrada de um grande volume de dados pode ser uma tarefa dispendiosa e cansativa.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 a possibilidade de gerar valores randomicamente para uma variável de qualquer tipo com determinados comandos aceitos pela linguagem C++.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RANDOMICAMENTE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7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rand(): retorna um número inteiro pseudo-aleatório no intervalo entre 0 e RAND_MAX que é uma constante definida em &lt;cstdlib&gt;.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 número é gerado por um algoritmo que retorna uma sequência de números aparentemente não relacionados cada vez que é chamado.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 algoritmo usa uma semente para gerar a série, que deve ser inicializada com algum valor distinto usando a função srand.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 RANDOMICAMENTE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8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4191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RANDOMICAMENTE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9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  <p:pic>
        <p:nvPicPr>
          <p:cNvPr id="236" name="Google Shape;2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952" y="1632152"/>
            <a:ext cx="7097808" cy="4677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/>
          <p:nvPr/>
        </p:nvSpPr>
        <p:spPr>
          <a:xfrm>
            <a:off x="3400746" y="2321960"/>
            <a:ext cx="585627" cy="205483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7998760" y="3844818"/>
            <a:ext cx="585627" cy="205483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maneira de gerar números pseudo-aleatórios em um determinado intervalo usando rand é usar o módulo do valor retornado pelo intervalo: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vet[0] = rand() % 100;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// valor no intervalo de 0 a 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vet[1] = rand() % 100 + 1;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// valor no intervalo de 1 a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vet[2] = rand() % 30 + 1985;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// valor no intervalo 1985-2014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vet[3] = rand() % 4 - 1;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	// valor no intervalo -1 até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0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RANDOMICAMENTE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4191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1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RANDOMICAMENTE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1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  <p:pic>
        <p:nvPicPr>
          <p:cNvPr id="255" name="Google Shape;25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275" y="1642552"/>
            <a:ext cx="5622105" cy="4461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Gerar números float para preencher o vetor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RANDOMICAMENTE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2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  <p:pic>
        <p:nvPicPr>
          <p:cNvPr id="264" name="Google Shape;2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147" y="2164065"/>
            <a:ext cx="7756912" cy="3887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4191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RANDOMICAMENTE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3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22/06/2022 09:12</a:t>
            </a:r>
            <a:endParaRPr/>
          </a:p>
        </p:txBody>
      </p:sp>
      <p:pic>
        <p:nvPicPr>
          <p:cNvPr id="273" name="Google Shape;27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8566" y="1659616"/>
            <a:ext cx="3891337" cy="21315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4" name="Google Shape;274;p33"/>
          <p:cNvGraphicFramePr/>
          <p:nvPr/>
        </p:nvGraphicFramePr>
        <p:xfrm>
          <a:off x="945937" y="1659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{FA6F25CE-408A-408B-9855-758D97F98544}</a:tableStyleId>
              </a:tblPr>
              <a:tblGrid>
                <a:gridCol w="692025"/>
                <a:gridCol w="325100"/>
                <a:gridCol w="782600"/>
                <a:gridCol w="712325"/>
                <a:gridCol w="712325"/>
                <a:gridCol w="712325"/>
                <a:gridCol w="757900"/>
              </a:tblGrid>
              <a:tr h="280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 u="none" cap="none" strike="noStrike"/>
                        <a:t>Linha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 u="none" cap="none" strike="noStrike"/>
                        <a:t>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 u="none" cap="none" strike="noStrike"/>
                        <a:t>I &lt;=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 u="none" cap="none" strike="noStrike"/>
                        <a:t>Vet[0]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 u="none" cap="none" strike="noStrike"/>
                        <a:t>Vet[1]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 u="none" cap="none" strike="noStrike"/>
                        <a:t>Vet[2]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 u="none" cap="none" strike="noStrike"/>
                        <a:t>soma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(5)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(4)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(2)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{11}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/>
          <p:nvPr/>
        </p:nvSpPr>
        <p:spPr>
          <a:xfrm>
            <a:off x="867884" y="1585800"/>
            <a:ext cx="7841671" cy="472352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650" lIns="81300" spcFirstLastPara="1" rIns="81300" wrap="square" tIns="5497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FORBELLONE, André Luiz Villar. Lógica de programação: a construção de algoritmos e estruturas de dados. 3 ed. São Paulo: Prentice Hall, 2005.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VILARIN, Gilvan. Algoritmos Programação para Iniciantes. Editora Ciência Moderna. Rio de Janeiro, 2004.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MORAES, Paulo Sérgio. Curso Básico de Lógica de Programação. Centro de Computação – Unicamp, 2000.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STEINMETZ, Ernesto H. R.; FONTES, Roberto Duarte Cartilha Lógica de Programação. Editora IFB, Brasília - DF, 2013.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4"/>
          <p:cNvSpPr txBox="1"/>
          <p:nvPr/>
        </p:nvSpPr>
        <p:spPr>
          <a:xfrm>
            <a:off x="3347864" y="260648"/>
            <a:ext cx="5338936" cy="11430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4"/>
          <p:cNvSpPr txBox="1"/>
          <p:nvPr>
            <p:ph idx="10" type="dt"/>
          </p:nvPr>
        </p:nvSpPr>
        <p:spPr>
          <a:xfrm>
            <a:off x="7380312" y="6512717"/>
            <a:ext cx="172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12/05/2022 13:59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ala de Cinza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